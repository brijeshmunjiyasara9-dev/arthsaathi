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725"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34747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3429000"/>
            <a:ext cx="12188952" cy="54864"/>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3483864"/>
            <a:ext cx="12188952" cy="36576"/>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502920"/>
            <a:ext cx="10360152" cy="1005840"/>
          </a:xfrm>
          <a:prstGeom prst="rect">
            <a:avLst/>
          </a:prstGeom>
          <a:noFill/>
        </p:spPr>
        <p:txBody>
          <a:bodyPr wrap="square">
            <a:spAutoFit/>
          </a:bodyPr>
          <a:lstStyle/>
          <a:p>
            <a:pPr algn="ctr"/>
            <a:r>
              <a:rPr sz="5200" b="1" i="0">
                <a:solidFill>
                  <a:srgbClr val="FFFFFF"/>
                </a:solidFill>
              </a:rPr>
              <a:t>ArthSaathi</a:t>
            </a:r>
          </a:p>
        </p:txBody>
      </p:sp>
      <p:sp>
        <p:nvSpPr>
          <p:cNvPr id="7" name="TextBox 6"/>
          <p:cNvSpPr txBox="1"/>
          <p:nvPr/>
        </p:nvSpPr>
        <p:spPr>
          <a:xfrm>
            <a:off x="914400" y="1463040"/>
            <a:ext cx="10360152" cy="502920"/>
          </a:xfrm>
          <a:prstGeom prst="rect">
            <a:avLst/>
          </a:prstGeom>
          <a:noFill/>
        </p:spPr>
        <p:txBody>
          <a:bodyPr wrap="square">
            <a:spAutoFit/>
          </a:bodyPr>
          <a:lstStyle/>
          <a:p>
            <a:pPr algn="ctr"/>
            <a:r>
              <a:rPr sz="2000" b="0" i="0">
                <a:solidFill>
                  <a:srgbClr val="B0C8E0"/>
                </a:solidFill>
              </a:rPr>
              <a:t>अर्थसाथी  —  Your Financial Friend</a:t>
            </a:r>
          </a:p>
        </p:txBody>
      </p:sp>
      <p:sp>
        <p:nvSpPr>
          <p:cNvPr id="8" name="TextBox 7"/>
          <p:cNvSpPr txBox="1"/>
          <p:nvPr/>
        </p:nvSpPr>
        <p:spPr>
          <a:xfrm>
            <a:off x="914400" y="2057400"/>
            <a:ext cx="10360152" cy="502920"/>
          </a:xfrm>
          <a:prstGeom prst="rect">
            <a:avLst/>
          </a:prstGeom>
          <a:noFill/>
        </p:spPr>
        <p:txBody>
          <a:bodyPr wrap="square">
            <a:spAutoFit/>
          </a:bodyPr>
          <a:lstStyle/>
          <a:p>
            <a:pPr algn="ctr"/>
            <a:r>
              <a:rPr sz="1700" b="1" i="0">
                <a:solidFill>
                  <a:srgbClr val="FFFFFF"/>
                </a:solidFill>
              </a:rPr>
              <a:t>AI-Driven Financial Stress Analysis for Indian Households</a:t>
            </a:r>
          </a:p>
        </p:txBody>
      </p:sp>
      <p:sp>
        <p:nvSpPr>
          <p:cNvPr id="9" name="Rectangle 8"/>
          <p:cNvSpPr/>
          <p:nvPr/>
        </p:nvSpPr>
        <p:spPr>
          <a:xfrm>
            <a:off x="457200" y="3749039"/>
            <a:ext cx="2560320" cy="1828800"/>
          </a:xfrm>
          <a:prstGeom prst="rect">
            <a:avLst/>
          </a:prstGeom>
          <a:solidFill>
            <a:srgbClr val="FFFFFF"/>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3858768"/>
            <a:ext cx="2377440" cy="347472"/>
          </a:xfrm>
          <a:prstGeom prst="rect">
            <a:avLst/>
          </a:prstGeom>
          <a:noFill/>
        </p:spPr>
        <p:txBody>
          <a:bodyPr wrap="square">
            <a:spAutoFit/>
          </a:bodyPr>
          <a:lstStyle/>
          <a:p>
            <a:pPr algn="ctr"/>
            <a:r>
              <a:rPr sz="1200" b="1" i="0">
                <a:solidFill>
                  <a:srgbClr val="2E86AB"/>
                </a:solidFill>
              </a:rPr>
              <a:t>📊 Dataset</a:t>
            </a:r>
          </a:p>
        </p:txBody>
      </p:sp>
      <p:sp>
        <p:nvSpPr>
          <p:cNvPr id="11" name="TextBox 10"/>
          <p:cNvSpPr txBox="1"/>
          <p:nvPr/>
        </p:nvSpPr>
        <p:spPr>
          <a:xfrm>
            <a:off x="548640" y="4251959"/>
            <a:ext cx="2377440" cy="1188720"/>
          </a:xfrm>
          <a:prstGeom prst="rect">
            <a:avLst/>
          </a:prstGeom>
          <a:noFill/>
        </p:spPr>
        <p:txBody>
          <a:bodyPr wrap="square">
            <a:spAutoFit/>
          </a:bodyPr>
          <a:lstStyle/>
          <a:p>
            <a:pPr algn="ctr"/>
            <a:r>
              <a:rPr sz="1100" b="0" i="0">
                <a:solidFill>
                  <a:srgbClr val="1C1C2E"/>
                </a:solidFill>
              </a:rPr>
              <a:t>CMIE Surveys
2014–2025
~500K Households</a:t>
            </a:r>
          </a:p>
        </p:txBody>
      </p:sp>
      <p:sp>
        <p:nvSpPr>
          <p:cNvPr id="12" name="Rectangle 11"/>
          <p:cNvSpPr/>
          <p:nvPr/>
        </p:nvSpPr>
        <p:spPr>
          <a:xfrm>
            <a:off x="3273552" y="3749039"/>
            <a:ext cx="2560320" cy="1828800"/>
          </a:xfrm>
          <a:prstGeom prst="rect">
            <a:avLst/>
          </a:prstGeom>
          <a:solidFill>
            <a:srgbClr val="FFFFFF"/>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64992" y="3858768"/>
            <a:ext cx="2377440" cy="347472"/>
          </a:xfrm>
          <a:prstGeom prst="rect">
            <a:avLst/>
          </a:prstGeom>
          <a:noFill/>
        </p:spPr>
        <p:txBody>
          <a:bodyPr wrap="square">
            <a:spAutoFit/>
          </a:bodyPr>
          <a:lstStyle/>
          <a:p>
            <a:pPr algn="ctr"/>
            <a:r>
              <a:rPr sz="1200" b="1" i="0">
                <a:solidFill>
                  <a:srgbClr val="2E86AB"/>
                </a:solidFill>
              </a:rPr>
              <a:t>🤖 Models</a:t>
            </a:r>
          </a:p>
        </p:txBody>
      </p:sp>
      <p:sp>
        <p:nvSpPr>
          <p:cNvPr id="14" name="TextBox 13"/>
          <p:cNvSpPr txBox="1"/>
          <p:nvPr/>
        </p:nvSpPr>
        <p:spPr>
          <a:xfrm>
            <a:off x="3364992" y="4251959"/>
            <a:ext cx="2377440" cy="1188720"/>
          </a:xfrm>
          <a:prstGeom prst="rect">
            <a:avLst/>
          </a:prstGeom>
          <a:noFill/>
        </p:spPr>
        <p:txBody>
          <a:bodyPr wrap="square">
            <a:spAutoFit/>
          </a:bodyPr>
          <a:lstStyle/>
          <a:p>
            <a:pPr algn="ctr"/>
            <a:r>
              <a:rPr sz="1100" b="0" i="0">
                <a:solidFill>
                  <a:srgbClr val="1C1C2E"/>
                </a:solidFill>
              </a:rPr>
              <a:t>5 XGBoost
Classifiers
&amp; Regressor</a:t>
            </a:r>
          </a:p>
        </p:txBody>
      </p:sp>
      <p:sp>
        <p:nvSpPr>
          <p:cNvPr id="15" name="Rectangle 14"/>
          <p:cNvSpPr/>
          <p:nvPr/>
        </p:nvSpPr>
        <p:spPr>
          <a:xfrm>
            <a:off x="6089904" y="3749039"/>
            <a:ext cx="2560320" cy="1828800"/>
          </a:xfrm>
          <a:prstGeom prst="rect">
            <a:avLst/>
          </a:prstGeom>
          <a:solidFill>
            <a:srgbClr val="FFFFFF"/>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81344" y="3858768"/>
            <a:ext cx="2377440" cy="347472"/>
          </a:xfrm>
          <a:prstGeom prst="rect">
            <a:avLst/>
          </a:prstGeom>
          <a:noFill/>
        </p:spPr>
        <p:txBody>
          <a:bodyPr wrap="square">
            <a:spAutoFit/>
          </a:bodyPr>
          <a:lstStyle/>
          <a:p>
            <a:pPr algn="ctr"/>
            <a:r>
              <a:rPr sz="1200" b="1" i="0">
                <a:solidFill>
                  <a:srgbClr val="2E86AB"/>
                </a:solidFill>
              </a:rPr>
              <a:t>🌐 Platform</a:t>
            </a:r>
          </a:p>
        </p:txBody>
      </p:sp>
      <p:sp>
        <p:nvSpPr>
          <p:cNvPr id="17" name="TextBox 16"/>
          <p:cNvSpPr txBox="1"/>
          <p:nvPr/>
        </p:nvSpPr>
        <p:spPr>
          <a:xfrm>
            <a:off x="6181344" y="4251959"/>
            <a:ext cx="2377440" cy="1188720"/>
          </a:xfrm>
          <a:prstGeom prst="rect">
            <a:avLst/>
          </a:prstGeom>
          <a:noFill/>
        </p:spPr>
        <p:txBody>
          <a:bodyPr wrap="square">
            <a:spAutoFit/>
          </a:bodyPr>
          <a:lstStyle/>
          <a:p>
            <a:pPr algn="ctr"/>
            <a:r>
              <a:rPr sz="1100" b="0" i="0">
                <a:solidFill>
                  <a:srgbClr val="1C1C2E"/>
                </a:solidFill>
              </a:rPr>
              <a:t>FastAPI + React
GPT-4o-mini
PostgreSQL</a:t>
            </a:r>
          </a:p>
        </p:txBody>
      </p:sp>
      <p:sp>
        <p:nvSpPr>
          <p:cNvPr id="18" name="Rectangle 17"/>
          <p:cNvSpPr/>
          <p:nvPr/>
        </p:nvSpPr>
        <p:spPr>
          <a:xfrm>
            <a:off x="8906256" y="3749039"/>
            <a:ext cx="2560320" cy="1828800"/>
          </a:xfrm>
          <a:prstGeom prst="rect">
            <a:avLst/>
          </a:prstGeom>
          <a:solidFill>
            <a:srgbClr val="FFFFFF"/>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97696" y="3858768"/>
            <a:ext cx="2377440" cy="347472"/>
          </a:xfrm>
          <a:prstGeom prst="rect">
            <a:avLst/>
          </a:prstGeom>
          <a:noFill/>
        </p:spPr>
        <p:txBody>
          <a:bodyPr wrap="square">
            <a:spAutoFit/>
          </a:bodyPr>
          <a:lstStyle/>
          <a:p>
            <a:pPr algn="ctr"/>
            <a:r>
              <a:rPr sz="1200" b="1" i="0">
                <a:solidFill>
                  <a:srgbClr val="2E86AB"/>
                </a:solidFill>
              </a:rPr>
              <a:t>🎯 Target</a:t>
            </a:r>
          </a:p>
        </p:txBody>
      </p:sp>
      <p:sp>
        <p:nvSpPr>
          <p:cNvPr id="20" name="TextBox 19"/>
          <p:cNvSpPr txBox="1"/>
          <p:nvPr/>
        </p:nvSpPr>
        <p:spPr>
          <a:xfrm>
            <a:off x="8997696" y="4251959"/>
            <a:ext cx="2377440" cy="1188720"/>
          </a:xfrm>
          <a:prstGeom prst="rect">
            <a:avLst/>
          </a:prstGeom>
          <a:noFill/>
        </p:spPr>
        <p:txBody>
          <a:bodyPr wrap="square">
            <a:spAutoFit/>
          </a:bodyPr>
          <a:lstStyle/>
          <a:p>
            <a:pPr algn="ctr"/>
            <a:r>
              <a:rPr sz="1100" b="0" i="0">
                <a:solidFill>
                  <a:srgbClr val="1C1C2E"/>
                </a:solidFill>
              </a:rPr>
              <a:t>Financial, Food,
Debt &amp; Health
Stress Prediction</a:t>
            </a:r>
          </a:p>
        </p:txBody>
      </p:sp>
      <p:sp>
        <p:nvSpPr>
          <p:cNvPr id="21" name="TextBox 20"/>
          <p:cNvSpPr txBox="1"/>
          <p:nvPr/>
        </p:nvSpPr>
        <p:spPr>
          <a:xfrm>
            <a:off x="914400" y="6492240"/>
            <a:ext cx="10360152" cy="292608"/>
          </a:xfrm>
          <a:prstGeom prst="rect">
            <a:avLst/>
          </a:prstGeom>
          <a:noFill/>
        </p:spPr>
        <p:txBody>
          <a:bodyPr wrap="square">
            <a:spAutoFit/>
          </a:bodyPr>
          <a:lstStyle/>
          <a:p>
            <a:pPr algn="ctr"/>
            <a:r>
              <a:rPr sz="1000" b="0" i="0">
                <a:solidFill>
                  <a:srgbClr val="5A6A7A"/>
                </a:solidFill>
              </a:rPr>
              <a:t>Presented by: [Your Name]  |  [Institution]  |  April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10972800" cy="685800"/>
          </a:xfrm>
          <a:prstGeom prst="rect">
            <a:avLst/>
          </a:prstGeom>
          <a:noFill/>
        </p:spPr>
        <p:txBody>
          <a:bodyPr wrap="square">
            <a:spAutoFit/>
          </a:bodyPr>
          <a:lstStyle/>
          <a:p>
            <a:pPr algn="l"/>
            <a:r>
              <a:rPr sz="3000" b="1" i="0">
                <a:solidFill>
                  <a:srgbClr val="FFFFFF"/>
                </a:solidFill>
              </a:rPr>
              <a:t>Introduction</a:t>
            </a:r>
          </a:p>
        </p:txBody>
      </p:sp>
      <p:sp>
        <p:nvSpPr>
          <p:cNvPr id="5" name="TextBox 4"/>
          <p:cNvSpPr txBox="1"/>
          <p:nvPr/>
        </p:nvSpPr>
        <p:spPr>
          <a:xfrm>
            <a:off x="320040" y="749808"/>
            <a:ext cx="10972800" cy="347472"/>
          </a:xfrm>
          <a:prstGeom prst="rect">
            <a:avLst/>
          </a:prstGeom>
          <a:noFill/>
        </p:spPr>
        <p:txBody>
          <a:bodyPr wrap="square">
            <a:spAutoFit/>
          </a:bodyPr>
          <a:lstStyle/>
          <a:p>
            <a:pPr algn="l"/>
            <a:r>
              <a:rPr sz="1300" b="0" i="0">
                <a:solidFill>
                  <a:srgbClr val="B0C8E0"/>
                </a:solidFill>
              </a:rPr>
              <a:t>Context &amp; Motivation</a:t>
            </a:r>
          </a:p>
        </p:txBody>
      </p:sp>
      <p:sp>
        <p:nvSpPr>
          <p:cNvPr id="6" name="TextBox 5"/>
          <p:cNvSpPr txBox="1"/>
          <p:nvPr/>
        </p:nvSpPr>
        <p:spPr>
          <a:xfrm>
            <a:off x="11247120" y="6537960"/>
            <a:ext cx="914400" cy="274320"/>
          </a:xfrm>
          <a:prstGeom prst="rect">
            <a:avLst/>
          </a:prstGeom>
          <a:noFill/>
        </p:spPr>
        <p:txBody>
          <a:bodyPr wrap="square">
            <a:spAutoFit/>
          </a:bodyPr>
          <a:lstStyle/>
          <a:p>
            <a:pPr algn="r"/>
            <a:r>
              <a:rPr sz="900" b="0" i="0">
                <a:solidFill>
                  <a:srgbClr val="90A4AE"/>
                </a:solidFill>
              </a:rPr>
              <a:t>2 / 17</a:t>
            </a:r>
          </a:p>
        </p:txBody>
      </p:sp>
      <p:sp>
        <p:nvSpPr>
          <p:cNvPr id="7" name="Rectangle 6"/>
          <p:cNvSpPr/>
          <p:nvPr/>
        </p:nvSpPr>
        <p:spPr>
          <a:xfrm>
            <a:off x="320040" y="1234440"/>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289304"/>
            <a:ext cx="10972800" cy="365760"/>
          </a:xfrm>
          <a:prstGeom prst="rect">
            <a:avLst/>
          </a:prstGeom>
          <a:noFill/>
        </p:spPr>
        <p:txBody>
          <a:bodyPr wrap="square">
            <a:spAutoFit/>
          </a:bodyPr>
          <a:lstStyle/>
          <a:p>
            <a:pPr algn="l"/>
            <a:r>
              <a:rPr sz="1500" b="1" i="0">
                <a:solidFill>
                  <a:srgbClr val="2E86AB"/>
                </a:solidFill>
              </a:rPr>
              <a:t>What is ArthSaathi?</a:t>
            </a:r>
          </a:p>
        </p:txBody>
      </p:sp>
      <p:sp>
        <p:nvSpPr>
          <p:cNvPr id="9" name="TextBox 8"/>
          <p:cNvSpPr txBox="1"/>
          <p:nvPr/>
        </p:nvSpPr>
        <p:spPr>
          <a:xfrm>
            <a:off x="320040" y="1691640"/>
            <a:ext cx="11430000" cy="777240"/>
          </a:xfrm>
          <a:prstGeom prst="rect">
            <a:avLst/>
          </a:prstGeom>
          <a:noFill/>
        </p:spPr>
        <p:txBody>
          <a:bodyPr wrap="square">
            <a:spAutoFit/>
          </a:bodyPr>
          <a:lstStyle/>
          <a:p>
            <a:pPr algn="l"/>
            <a:r>
              <a:rPr sz="1200" b="0" i="0">
                <a:solidFill>
                  <a:srgbClr val="1C1C2E"/>
                </a:solidFill>
              </a:rPr>
              <a:t>ArthSaathi (Arth Saathi) means 'Financial Friend' in Hindi. It is an end-to-end machine-learning system that analyses financial stress in Indian households using longitudinal survey data from CMIE and delivers personalised, AI-generated financial advice through a conversational chatbot.</a:t>
            </a:r>
          </a:p>
        </p:txBody>
      </p:sp>
      <p:sp>
        <p:nvSpPr>
          <p:cNvPr id="10" name="Rectangle 9"/>
          <p:cNvSpPr/>
          <p:nvPr/>
        </p:nvSpPr>
        <p:spPr>
          <a:xfrm>
            <a:off x="320040" y="2514600"/>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2569464"/>
            <a:ext cx="10972800" cy="365760"/>
          </a:xfrm>
          <a:prstGeom prst="rect">
            <a:avLst/>
          </a:prstGeom>
          <a:noFill/>
        </p:spPr>
        <p:txBody>
          <a:bodyPr wrap="square">
            <a:spAutoFit/>
          </a:bodyPr>
          <a:lstStyle/>
          <a:p>
            <a:pPr algn="l"/>
            <a:r>
              <a:rPr sz="1500" b="1" i="0">
                <a:solidFill>
                  <a:srgbClr val="2E86AB"/>
                </a:solidFill>
              </a:rPr>
              <a:t>Why Financial Stress Matters in India</a:t>
            </a:r>
          </a:p>
        </p:txBody>
      </p:sp>
      <p:sp>
        <p:nvSpPr>
          <p:cNvPr id="12" name="TextBox 11"/>
          <p:cNvSpPr txBox="1"/>
          <p:nvPr/>
        </p:nvSpPr>
        <p:spPr>
          <a:xfrm>
            <a:off x="320040" y="2907792"/>
            <a:ext cx="11430000" cy="1131079"/>
          </a:xfrm>
          <a:prstGeom prst="rect">
            <a:avLst/>
          </a:prstGeom>
          <a:noFill/>
        </p:spPr>
        <p:txBody>
          <a:bodyPr wrap="square">
            <a:spAutoFit/>
          </a:bodyPr>
          <a:lstStyle/>
          <a:p>
            <a:pPr>
              <a:spcBef>
                <a:spcPts val="300"/>
              </a:spcBef>
            </a:pPr>
            <a:r>
              <a:rPr sz="1150" dirty="0">
                <a:solidFill>
                  <a:srgbClr val="1C1C2E"/>
                </a:solidFill>
              </a:rPr>
              <a:t>▸  India has 300 million+ households</a:t>
            </a:r>
            <a:r>
              <a:rPr lang="en-IN" sz="1150" dirty="0">
                <a:solidFill>
                  <a:srgbClr val="1C1C2E"/>
                </a:solidFill>
              </a:rPr>
              <a:t>,</a:t>
            </a:r>
            <a:r>
              <a:rPr sz="1150" dirty="0">
                <a:solidFill>
                  <a:srgbClr val="1C1C2E"/>
                </a:solidFill>
              </a:rPr>
              <a:t> majority lack structured financial safety nets.</a:t>
            </a:r>
          </a:p>
          <a:p>
            <a:pPr>
              <a:spcBef>
                <a:spcPts val="300"/>
              </a:spcBef>
            </a:pPr>
            <a:r>
              <a:rPr sz="1150" dirty="0">
                <a:solidFill>
                  <a:srgbClr val="1C1C2E"/>
                </a:solidFill>
              </a:rPr>
              <a:t>▸  Financial stress leads to poor health outcomes, reduced education, and lower productivity.</a:t>
            </a:r>
          </a:p>
          <a:p>
            <a:pPr>
              <a:spcBef>
                <a:spcPts val="300"/>
              </a:spcBef>
            </a:pPr>
            <a:r>
              <a:rPr sz="1150" dirty="0">
                <a:solidFill>
                  <a:srgbClr val="1C1C2E"/>
                </a:solidFill>
              </a:rPr>
              <a:t>▸  Only ~30% of rural households have access to formal banking or financial advisory services.</a:t>
            </a:r>
          </a:p>
          <a:p>
            <a:pPr>
              <a:spcBef>
                <a:spcPts val="300"/>
              </a:spcBef>
            </a:pPr>
            <a:r>
              <a:rPr sz="1150" dirty="0">
                <a:solidFill>
                  <a:srgbClr val="1C1C2E"/>
                </a:solidFill>
              </a:rPr>
              <a:t>▸  CMIE surveys provide unique, large-scale longitudinal data covering income, consumption &amp; health.</a:t>
            </a:r>
          </a:p>
          <a:p>
            <a:pPr>
              <a:spcBef>
                <a:spcPts val="300"/>
              </a:spcBef>
            </a:pPr>
            <a:r>
              <a:rPr sz="1150" dirty="0">
                <a:solidFill>
                  <a:srgbClr val="1C1C2E"/>
                </a:solidFill>
              </a:rPr>
              <a:t>▸  Machine learning can identify stress patterns early enabling timely, targeted intervention.</a:t>
            </a:r>
          </a:p>
        </p:txBody>
      </p:sp>
      <p:sp>
        <p:nvSpPr>
          <p:cNvPr id="13" name="Rectangle 12"/>
          <p:cNvSpPr/>
          <p:nvPr/>
        </p:nvSpPr>
        <p:spPr>
          <a:xfrm>
            <a:off x="320040" y="6053328"/>
            <a:ext cx="2103120" cy="658368"/>
          </a:xfrm>
          <a:prstGeom prst="rect">
            <a:avLst/>
          </a:prstGeom>
          <a:solidFill>
            <a:srgbClr val="E3F2FD"/>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 y="6089904"/>
            <a:ext cx="2103120" cy="347472"/>
          </a:xfrm>
          <a:prstGeom prst="rect">
            <a:avLst/>
          </a:prstGeom>
          <a:noFill/>
        </p:spPr>
        <p:txBody>
          <a:bodyPr wrap="square">
            <a:spAutoFit/>
          </a:bodyPr>
          <a:lstStyle/>
          <a:p>
            <a:pPr algn="ctr"/>
            <a:r>
              <a:rPr sz="1800" b="1" i="0">
                <a:solidFill>
                  <a:srgbClr val="2E86AB"/>
                </a:solidFill>
              </a:rPr>
              <a:t>142</a:t>
            </a:r>
          </a:p>
        </p:txBody>
      </p:sp>
      <p:sp>
        <p:nvSpPr>
          <p:cNvPr id="15" name="TextBox 14"/>
          <p:cNvSpPr txBox="1"/>
          <p:nvPr/>
        </p:nvSpPr>
        <p:spPr>
          <a:xfrm>
            <a:off x="320040" y="6419088"/>
            <a:ext cx="2103120" cy="256032"/>
          </a:xfrm>
          <a:prstGeom prst="rect">
            <a:avLst/>
          </a:prstGeom>
          <a:noFill/>
        </p:spPr>
        <p:txBody>
          <a:bodyPr wrap="square">
            <a:spAutoFit/>
          </a:bodyPr>
          <a:lstStyle/>
          <a:p>
            <a:pPr algn="ctr"/>
            <a:r>
              <a:rPr sz="900" b="0" i="0">
                <a:solidFill>
                  <a:srgbClr val="5A6A7A"/>
                </a:solidFill>
              </a:rPr>
              <a:t>INC files</a:t>
            </a:r>
          </a:p>
        </p:txBody>
      </p:sp>
      <p:sp>
        <p:nvSpPr>
          <p:cNvPr id="16" name="Rectangle 15"/>
          <p:cNvSpPr/>
          <p:nvPr/>
        </p:nvSpPr>
        <p:spPr>
          <a:xfrm>
            <a:off x="2624328" y="6053328"/>
            <a:ext cx="2103120" cy="658368"/>
          </a:xfrm>
          <a:prstGeom prst="rect">
            <a:avLst/>
          </a:prstGeom>
          <a:solidFill>
            <a:srgbClr val="E3F2FD"/>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624328" y="6089904"/>
            <a:ext cx="2103120" cy="347472"/>
          </a:xfrm>
          <a:prstGeom prst="rect">
            <a:avLst/>
          </a:prstGeom>
          <a:noFill/>
        </p:spPr>
        <p:txBody>
          <a:bodyPr wrap="square">
            <a:spAutoFit/>
          </a:bodyPr>
          <a:lstStyle/>
          <a:p>
            <a:pPr algn="ctr"/>
            <a:r>
              <a:rPr sz="1800" b="1" i="0">
                <a:solidFill>
                  <a:srgbClr val="2E86AB"/>
                </a:solidFill>
              </a:rPr>
              <a:t>36</a:t>
            </a:r>
          </a:p>
        </p:txBody>
      </p:sp>
      <p:sp>
        <p:nvSpPr>
          <p:cNvPr id="18" name="TextBox 17"/>
          <p:cNvSpPr txBox="1"/>
          <p:nvPr/>
        </p:nvSpPr>
        <p:spPr>
          <a:xfrm>
            <a:off x="2624328" y="6419088"/>
            <a:ext cx="2103120" cy="256032"/>
          </a:xfrm>
          <a:prstGeom prst="rect">
            <a:avLst/>
          </a:prstGeom>
          <a:noFill/>
        </p:spPr>
        <p:txBody>
          <a:bodyPr wrap="square">
            <a:spAutoFit/>
          </a:bodyPr>
          <a:lstStyle/>
          <a:p>
            <a:pPr algn="ctr"/>
            <a:r>
              <a:rPr sz="900" b="0" i="0">
                <a:solidFill>
                  <a:srgbClr val="5A6A7A"/>
                </a:solidFill>
              </a:rPr>
              <a:t>POI files</a:t>
            </a:r>
          </a:p>
        </p:txBody>
      </p:sp>
      <p:sp>
        <p:nvSpPr>
          <p:cNvPr id="19" name="Rectangle 18"/>
          <p:cNvSpPr/>
          <p:nvPr/>
        </p:nvSpPr>
        <p:spPr>
          <a:xfrm>
            <a:off x="4928616" y="6053328"/>
            <a:ext cx="2103120" cy="658368"/>
          </a:xfrm>
          <a:prstGeom prst="rect">
            <a:avLst/>
          </a:prstGeom>
          <a:solidFill>
            <a:srgbClr val="E3F2FD"/>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928616" y="6089904"/>
            <a:ext cx="2103120" cy="347472"/>
          </a:xfrm>
          <a:prstGeom prst="rect">
            <a:avLst/>
          </a:prstGeom>
          <a:noFill/>
        </p:spPr>
        <p:txBody>
          <a:bodyPr wrap="square">
            <a:spAutoFit/>
          </a:bodyPr>
          <a:lstStyle/>
          <a:p>
            <a:pPr algn="ctr"/>
            <a:r>
              <a:rPr sz="1800" b="1" i="0">
                <a:solidFill>
                  <a:srgbClr val="2E86AB"/>
                </a:solidFill>
              </a:rPr>
              <a:t>140</a:t>
            </a:r>
          </a:p>
        </p:txBody>
      </p:sp>
      <p:sp>
        <p:nvSpPr>
          <p:cNvPr id="21" name="TextBox 20"/>
          <p:cNvSpPr txBox="1"/>
          <p:nvPr/>
        </p:nvSpPr>
        <p:spPr>
          <a:xfrm>
            <a:off x="4928616" y="6419088"/>
            <a:ext cx="2103120" cy="256032"/>
          </a:xfrm>
          <a:prstGeom prst="rect">
            <a:avLst/>
          </a:prstGeom>
          <a:noFill/>
        </p:spPr>
        <p:txBody>
          <a:bodyPr wrap="square">
            <a:spAutoFit/>
          </a:bodyPr>
          <a:lstStyle/>
          <a:p>
            <a:pPr algn="ctr"/>
            <a:r>
              <a:rPr sz="900" b="0" i="0">
                <a:solidFill>
                  <a:srgbClr val="5A6A7A"/>
                </a:solidFill>
              </a:rPr>
              <a:t>CON files</a:t>
            </a:r>
          </a:p>
        </p:txBody>
      </p:sp>
      <p:sp>
        <p:nvSpPr>
          <p:cNvPr id="22" name="Rectangle 21"/>
          <p:cNvSpPr/>
          <p:nvPr/>
        </p:nvSpPr>
        <p:spPr>
          <a:xfrm>
            <a:off x="7232904" y="6053328"/>
            <a:ext cx="2103120" cy="658368"/>
          </a:xfrm>
          <a:prstGeom prst="rect">
            <a:avLst/>
          </a:prstGeom>
          <a:solidFill>
            <a:srgbClr val="E3F2FD"/>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32904" y="6089904"/>
            <a:ext cx="2103120" cy="347472"/>
          </a:xfrm>
          <a:prstGeom prst="rect">
            <a:avLst/>
          </a:prstGeom>
          <a:noFill/>
        </p:spPr>
        <p:txBody>
          <a:bodyPr wrap="square">
            <a:spAutoFit/>
          </a:bodyPr>
          <a:lstStyle/>
          <a:p>
            <a:pPr algn="ctr"/>
            <a:r>
              <a:rPr sz="1800" b="1" i="0">
                <a:solidFill>
                  <a:srgbClr val="2E86AB"/>
                </a:solidFill>
              </a:rPr>
              <a:t>~500K</a:t>
            </a:r>
          </a:p>
        </p:txBody>
      </p:sp>
      <p:sp>
        <p:nvSpPr>
          <p:cNvPr id="24" name="TextBox 23"/>
          <p:cNvSpPr txBox="1"/>
          <p:nvPr/>
        </p:nvSpPr>
        <p:spPr>
          <a:xfrm>
            <a:off x="7232904" y="6419088"/>
            <a:ext cx="2103120" cy="256032"/>
          </a:xfrm>
          <a:prstGeom prst="rect">
            <a:avLst/>
          </a:prstGeom>
          <a:noFill/>
        </p:spPr>
        <p:txBody>
          <a:bodyPr wrap="square">
            <a:spAutoFit/>
          </a:bodyPr>
          <a:lstStyle/>
          <a:p>
            <a:pPr algn="ctr"/>
            <a:r>
              <a:rPr sz="900" b="0" i="0">
                <a:solidFill>
                  <a:srgbClr val="5A6A7A"/>
                </a:solidFill>
              </a:rPr>
              <a:t>Households</a:t>
            </a:r>
          </a:p>
        </p:txBody>
      </p:sp>
      <p:sp>
        <p:nvSpPr>
          <p:cNvPr id="25" name="Rectangle 24"/>
          <p:cNvSpPr/>
          <p:nvPr/>
        </p:nvSpPr>
        <p:spPr>
          <a:xfrm>
            <a:off x="9537192" y="6053328"/>
            <a:ext cx="2103120" cy="658368"/>
          </a:xfrm>
          <a:prstGeom prst="rect">
            <a:avLst/>
          </a:prstGeom>
          <a:solidFill>
            <a:srgbClr val="E3F2FD"/>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537192" y="6089904"/>
            <a:ext cx="2103120" cy="347472"/>
          </a:xfrm>
          <a:prstGeom prst="rect">
            <a:avLst/>
          </a:prstGeom>
          <a:noFill/>
        </p:spPr>
        <p:txBody>
          <a:bodyPr wrap="square">
            <a:spAutoFit/>
          </a:bodyPr>
          <a:lstStyle/>
          <a:p>
            <a:pPr algn="ctr"/>
            <a:r>
              <a:rPr sz="1800" b="1" i="0">
                <a:solidFill>
                  <a:srgbClr val="2E86AB"/>
                </a:solidFill>
              </a:rPr>
              <a:t>2014–2025</a:t>
            </a:r>
          </a:p>
        </p:txBody>
      </p:sp>
      <p:sp>
        <p:nvSpPr>
          <p:cNvPr id="27" name="TextBox 26"/>
          <p:cNvSpPr txBox="1"/>
          <p:nvPr/>
        </p:nvSpPr>
        <p:spPr>
          <a:xfrm>
            <a:off x="9537192" y="6419088"/>
            <a:ext cx="2103120" cy="256032"/>
          </a:xfrm>
          <a:prstGeom prst="rect">
            <a:avLst/>
          </a:prstGeom>
          <a:noFill/>
        </p:spPr>
        <p:txBody>
          <a:bodyPr wrap="square">
            <a:spAutoFit/>
          </a:bodyPr>
          <a:lstStyle/>
          <a:p>
            <a:pPr algn="ctr"/>
            <a:r>
              <a:rPr sz="900" b="0" i="0">
                <a:solidFill>
                  <a:srgbClr val="5A6A7A"/>
                </a:solidFill>
              </a:rPr>
              <a:t>Time Span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10972800" cy="685800"/>
          </a:xfrm>
          <a:prstGeom prst="rect">
            <a:avLst/>
          </a:prstGeom>
          <a:noFill/>
        </p:spPr>
        <p:txBody>
          <a:bodyPr wrap="square">
            <a:spAutoFit/>
          </a:bodyPr>
          <a:lstStyle/>
          <a:p>
            <a:pPr algn="l"/>
            <a:r>
              <a:rPr sz="3000" b="1" i="0">
                <a:solidFill>
                  <a:srgbClr val="FFFFFF"/>
                </a:solidFill>
              </a:rPr>
              <a:t>Problem Statement</a:t>
            </a:r>
          </a:p>
        </p:txBody>
      </p:sp>
      <p:sp>
        <p:nvSpPr>
          <p:cNvPr id="5" name="TextBox 4"/>
          <p:cNvSpPr txBox="1"/>
          <p:nvPr/>
        </p:nvSpPr>
        <p:spPr>
          <a:xfrm>
            <a:off x="320040" y="749808"/>
            <a:ext cx="10972800" cy="347472"/>
          </a:xfrm>
          <a:prstGeom prst="rect">
            <a:avLst/>
          </a:prstGeom>
          <a:noFill/>
        </p:spPr>
        <p:txBody>
          <a:bodyPr wrap="square">
            <a:spAutoFit/>
          </a:bodyPr>
          <a:lstStyle/>
          <a:p>
            <a:pPr algn="l"/>
            <a:r>
              <a:rPr sz="1300" b="0" i="0">
                <a:solidFill>
                  <a:srgbClr val="B0C8E0"/>
                </a:solidFill>
              </a:rPr>
              <a:t>Identifying the Core Challenge</a:t>
            </a:r>
          </a:p>
        </p:txBody>
      </p:sp>
      <p:sp>
        <p:nvSpPr>
          <p:cNvPr id="6" name="TextBox 5"/>
          <p:cNvSpPr txBox="1"/>
          <p:nvPr/>
        </p:nvSpPr>
        <p:spPr>
          <a:xfrm>
            <a:off x="11247120" y="6537960"/>
            <a:ext cx="914400" cy="274320"/>
          </a:xfrm>
          <a:prstGeom prst="rect">
            <a:avLst/>
          </a:prstGeom>
          <a:noFill/>
        </p:spPr>
        <p:txBody>
          <a:bodyPr wrap="square">
            <a:spAutoFit/>
          </a:bodyPr>
          <a:lstStyle/>
          <a:p>
            <a:pPr algn="r"/>
            <a:r>
              <a:rPr sz="900" b="0" i="0">
                <a:solidFill>
                  <a:srgbClr val="90A4AE"/>
                </a:solidFill>
              </a:rPr>
              <a:t>3 / 17</a:t>
            </a:r>
          </a:p>
        </p:txBody>
      </p:sp>
      <p:sp>
        <p:nvSpPr>
          <p:cNvPr id="7" name="Rectangle 6"/>
          <p:cNvSpPr/>
          <p:nvPr/>
        </p:nvSpPr>
        <p:spPr>
          <a:xfrm>
            <a:off x="320040" y="1234440"/>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289304"/>
            <a:ext cx="10972800" cy="365760"/>
          </a:xfrm>
          <a:prstGeom prst="rect">
            <a:avLst/>
          </a:prstGeom>
          <a:noFill/>
        </p:spPr>
        <p:txBody>
          <a:bodyPr wrap="square">
            <a:spAutoFit/>
          </a:bodyPr>
          <a:lstStyle/>
          <a:p>
            <a:pPr algn="l"/>
            <a:r>
              <a:rPr sz="1500" b="1" i="0">
                <a:solidFill>
                  <a:srgbClr val="2E86AB"/>
                </a:solidFill>
              </a:rPr>
              <a:t>The Problem</a:t>
            </a:r>
          </a:p>
        </p:txBody>
      </p:sp>
      <p:sp>
        <p:nvSpPr>
          <p:cNvPr id="9" name="TextBox 8"/>
          <p:cNvSpPr txBox="1"/>
          <p:nvPr/>
        </p:nvSpPr>
        <p:spPr>
          <a:xfrm>
            <a:off x="320040" y="1664208"/>
            <a:ext cx="11430000" cy="731520"/>
          </a:xfrm>
          <a:prstGeom prst="rect">
            <a:avLst/>
          </a:prstGeom>
          <a:noFill/>
        </p:spPr>
        <p:txBody>
          <a:bodyPr wrap="square">
            <a:spAutoFit/>
          </a:bodyPr>
          <a:lstStyle/>
          <a:p>
            <a:pPr algn="l"/>
            <a:r>
              <a:rPr sz="1200" b="0" i="0">
                <a:solidFill>
                  <a:srgbClr val="1C1C2E"/>
                </a:solidFill>
              </a:rPr>
              <a:t>Indian households face multiple, overlapping financial stressors that are rarely detected in time. Traditional surveys are retrospective and lack actionable, individualised guidance. No existing tool aggregates income, consumption, and health data to produce real-time, interpretable stress predictions.</a:t>
            </a:r>
          </a:p>
        </p:txBody>
      </p:sp>
      <p:sp>
        <p:nvSpPr>
          <p:cNvPr id="10" name="Rectangle 9"/>
          <p:cNvSpPr/>
          <p:nvPr/>
        </p:nvSpPr>
        <p:spPr>
          <a:xfrm>
            <a:off x="320040" y="2514600"/>
            <a:ext cx="5486400" cy="1600200"/>
          </a:xfrm>
          <a:prstGeom prst="rect">
            <a:avLst/>
          </a:prstGeom>
          <a:solidFill>
            <a:srgbClr val="FFFFFF"/>
          </a:solidFill>
          <a:ln w="25400">
            <a:solidFill>
              <a:srgbClr val="E53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2514600"/>
            <a:ext cx="5486400" cy="384048"/>
          </a:xfrm>
          <a:prstGeom prst="rect">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2560320"/>
            <a:ext cx="5212080" cy="320040"/>
          </a:xfrm>
          <a:prstGeom prst="rect">
            <a:avLst/>
          </a:prstGeom>
          <a:noFill/>
        </p:spPr>
        <p:txBody>
          <a:bodyPr wrap="square">
            <a:spAutoFit/>
          </a:bodyPr>
          <a:lstStyle/>
          <a:p>
            <a:pPr algn="l"/>
            <a:r>
              <a:rPr sz="1300" b="1" i="0">
                <a:solidFill>
                  <a:srgbClr val="FFFFFF"/>
                </a:solidFill>
              </a:rPr>
              <a:t>Financial Stress</a:t>
            </a:r>
          </a:p>
        </p:txBody>
      </p:sp>
      <p:sp>
        <p:nvSpPr>
          <p:cNvPr id="13" name="TextBox 12"/>
          <p:cNvSpPr txBox="1"/>
          <p:nvPr/>
        </p:nvSpPr>
        <p:spPr>
          <a:xfrm>
            <a:off x="457200" y="2990088"/>
            <a:ext cx="5212080" cy="960120"/>
          </a:xfrm>
          <a:prstGeom prst="rect">
            <a:avLst/>
          </a:prstGeom>
          <a:noFill/>
        </p:spPr>
        <p:txBody>
          <a:bodyPr wrap="square">
            <a:spAutoFit/>
          </a:bodyPr>
          <a:lstStyle/>
          <a:p>
            <a:pPr algn="l"/>
            <a:r>
              <a:rPr sz="1100" b="0" i="0">
                <a:solidFill>
                  <a:srgbClr val="1C1C2E"/>
                </a:solidFill>
              </a:rPr>
              <a:t>Expenditure exceeds income — households spend &gt;110% of earnings, depleting savings.</a:t>
            </a:r>
          </a:p>
        </p:txBody>
      </p:sp>
      <p:sp>
        <p:nvSpPr>
          <p:cNvPr id="14" name="Rectangle 13"/>
          <p:cNvSpPr/>
          <p:nvPr/>
        </p:nvSpPr>
        <p:spPr>
          <a:xfrm>
            <a:off x="6126479" y="2514600"/>
            <a:ext cx="5486400" cy="1600200"/>
          </a:xfrm>
          <a:prstGeom prst="rect">
            <a:avLst/>
          </a:prstGeom>
          <a:solidFill>
            <a:srgbClr val="FFFFFF"/>
          </a:solidFill>
          <a:ln w="2540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26479" y="2514600"/>
            <a:ext cx="5486400" cy="384048"/>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63640" y="2560320"/>
            <a:ext cx="5212080" cy="320040"/>
          </a:xfrm>
          <a:prstGeom prst="rect">
            <a:avLst/>
          </a:prstGeom>
          <a:noFill/>
        </p:spPr>
        <p:txBody>
          <a:bodyPr wrap="square">
            <a:spAutoFit/>
          </a:bodyPr>
          <a:lstStyle/>
          <a:p>
            <a:pPr algn="l"/>
            <a:r>
              <a:rPr sz="1300" b="1" i="0">
                <a:solidFill>
                  <a:srgbClr val="FFFFFF"/>
                </a:solidFill>
              </a:rPr>
              <a:t>Food Stress</a:t>
            </a:r>
          </a:p>
        </p:txBody>
      </p:sp>
      <p:sp>
        <p:nvSpPr>
          <p:cNvPr id="17" name="TextBox 16"/>
          <p:cNvSpPr txBox="1"/>
          <p:nvPr/>
        </p:nvSpPr>
        <p:spPr>
          <a:xfrm>
            <a:off x="6263640" y="2990088"/>
            <a:ext cx="5212080" cy="960120"/>
          </a:xfrm>
          <a:prstGeom prst="rect">
            <a:avLst/>
          </a:prstGeom>
          <a:noFill/>
        </p:spPr>
        <p:txBody>
          <a:bodyPr wrap="square">
            <a:spAutoFit/>
          </a:bodyPr>
          <a:lstStyle/>
          <a:p>
            <a:pPr algn="l"/>
            <a:r>
              <a:rPr sz="1100" b="0" i="0">
                <a:solidFill>
                  <a:srgbClr val="1C1C2E"/>
                </a:solidFill>
              </a:rPr>
              <a:t>Food consumes &gt;50% of total household expenditure — nutrition quality at risk.</a:t>
            </a:r>
          </a:p>
        </p:txBody>
      </p:sp>
      <p:sp>
        <p:nvSpPr>
          <p:cNvPr id="18" name="Rectangle 17"/>
          <p:cNvSpPr/>
          <p:nvPr/>
        </p:nvSpPr>
        <p:spPr>
          <a:xfrm>
            <a:off x="320040" y="4297680"/>
            <a:ext cx="5486400" cy="1600200"/>
          </a:xfrm>
          <a:prstGeom prst="rect">
            <a:avLst/>
          </a:prstGeom>
          <a:solidFill>
            <a:srgbClr val="FFFFFF"/>
          </a:solidFill>
          <a:ln w="25400">
            <a:solidFill>
              <a:srgbClr val="7B1F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0040" y="4297680"/>
            <a:ext cx="5486400" cy="384048"/>
          </a:xfrm>
          <a:prstGeom prst="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4343400"/>
            <a:ext cx="5212080" cy="320040"/>
          </a:xfrm>
          <a:prstGeom prst="rect">
            <a:avLst/>
          </a:prstGeom>
          <a:noFill/>
        </p:spPr>
        <p:txBody>
          <a:bodyPr wrap="square">
            <a:spAutoFit/>
          </a:bodyPr>
          <a:lstStyle/>
          <a:p>
            <a:pPr algn="l"/>
            <a:r>
              <a:rPr sz="1300" b="1" i="0">
                <a:solidFill>
                  <a:srgbClr val="FFFFFF"/>
                </a:solidFill>
              </a:rPr>
              <a:t>Debt Stress</a:t>
            </a:r>
          </a:p>
        </p:txBody>
      </p:sp>
      <p:sp>
        <p:nvSpPr>
          <p:cNvPr id="21" name="TextBox 20"/>
          <p:cNvSpPr txBox="1"/>
          <p:nvPr/>
        </p:nvSpPr>
        <p:spPr>
          <a:xfrm>
            <a:off x="457200" y="4773168"/>
            <a:ext cx="5212080" cy="960120"/>
          </a:xfrm>
          <a:prstGeom prst="rect">
            <a:avLst/>
          </a:prstGeom>
          <a:noFill/>
        </p:spPr>
        <p:txBody>
          <a:bodyPr wrap="square">
            <a:spAutoFit/>
          </a:bodyPr>
          <a:lstStyle/>
          <a:p>
            <a:pPr algn="l"/>
            <a:r>
              <a:rPr sz="1100" b="0" i="0">
                <a:solidFill>
                  <a:srgbClr val="1C1C2E"/>
                </a:solidFill>
              </a:rPr>
              <a:t>EMI burden exceeds 30% of income — households trapped in debt cycles.</a:t>
            </a:r>
          </a:p>
        </p:txBody>
      </p:sp>
      <p:sp>
        <p:nvSpPr>
          <p:cNvPr id="22" name="Rectangle 21"/>
          <p:cNvSpPr/>
          <p:nvPr/>
        </p:nvSpPr>
        <p:spPr>
          <a:xfrm>
            <a:off x="6126479" y="4297680"/>
            <a:ext cx="5486400" cy="1600200"/>
          </a:xfrm>
          <a:prstGeom prst="rect">
            <a:avLst/>
          </a:prstGeom>
          <a:solidFill>
            <a:srgbClr val="FFFFFF"/>
          </a:solidFill>
          <a:ln w="25400">
            <a:solidFill>
              <a:srgbClr val="007B8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26479" y="4297680"/>
            <a:ext cx="5486400" cy="38404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63640" y="4343400"/>
            <a:ext cx="5212080" cy="320040"/>
          </a:xfrm>
          <a:prstGeom prst="rect">
            <a:avLst/>
          </a:prstGeom>
          <a:noFill/>
        </p:spPr>
        <p:txBody>
          <a:bodyPr wrap="square">
            <a:spAutoFit/>
          </a:bodyPr>
          <a:lstStyle/>
          <a:p>
            <a:pPr algn="l"/>
            <a:r>
              <a:rPr sz="1300" b="1" i="0">
                <a:solidFill>
                  <a:srgbClr val="FFFFFF"/>
                </a:solidFill>
              </a:rPr>
              <a:t>Health Stress</a:t>
            </a:r>
          </a:p>
        </p:txBody>
      </p:sp>
      <p:sp>
        <p:nvSpPr>
          <p:cNvPr id="25" name="TextBox 24"/>
          <p:cNvSpPr txBox="1"/>
          <p:nvPr/>
        </p:nvSpPr>
        <p:spPr>
          <a:xfrm>
            <a:off x="6263640" y="4773168"/>
            <a:ext cx="5212080" cy="960120"/>
          </a:xfrm>
          <a:prstGeom prst="rect">
            <a:avLst/>
          </a:prstGeom>
          <a:noFill/>
        </p:spPr>
        <p:txBody>
          <a:bodyPr wrap="square">
            <a:spAutoFit/>
          </a:bodyPr>
          <a:lstStyle/>
          <a:p>
            <a:pPr algn="l"/>
            <a:r>
              <a:rPr sz="1100" b="0" i="0">
                <a:solidFill>
                  <a:srgbClr val="1C1C2E"/>
                </a:solidFill>
              </a:rPr>
              <a:t>Medical events (hospitalisation / long-term medication) strain household finances.</a:t>
            </a:r>
          </a:p>
        </p:txBody>
      </p:sp>
      <p:sp>
        <p:nvSpPr>
          <p:cNvPr id="26" name="Rectangle 25"/>
          <p:cNvSpPr/>
          <p:nvPr/>
        </p:nvSpPr>
        <p:spPr>
          <a:xfrm>
            <a:off x="320040" y="5897880"/>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0040" y="5952744"/>
            <a:ext cx="10972800" cy="365760"/>
          </a:xfrm>
          <a:prstGeom prst="rect">
            <a:avLst/>
          </a:prstGeom>
          <a:noFill/>
        </p:spPr>
        <p:txBody>
          <a:bodyPr wrap="square">
            <a:spAutoFit/>
          </a:bodyPr>
          <a:lstStyle/>
          <a:p>
            <a:pPr algn="l"/>
            <a:r>
              <a:rPr sz="1500" b="1" i="0">
                <a:solidFill>
                  <a:srgbClr val="2E86AB"/>
                </a:solidFill>
              </a:rPr>
              <a:t>Research Gap</a:t>
            </a:r>
          </a:p>
        </p:txBody>
      </p:sp>
      <p:sp>
        <p:nvSpPr>
          <p:cNvPr id="28" name="TextBox 27"/>
          <p:cNvSpPr txBox="1"/>
          <p:nvPr/>
        </p:nvSpPr>
        <p:spPr>
          <a:xfrm>
            <a:off x="320040" y="6281928"/>
            <a:ext cx="11430000" cy="475488"/>
          </a:xfrm>
          <a:prstGeom prst="rect">
            <a:avLst/>
          </a:prstGeom>
          <a:noFill/>
        </p:spPr>
        <p:txBody>
          <a:bodyPr wrap="square">
            <a:spAutoFit/>
          </a:bodyPr>
          <a:lstStyle/>
          <a:p>
            <a:pPr algn="l"/>
            <a:r>
              <a:rPr sz="1100" b="0" i="1">
                <a:solidFill>
                  <a:srgbClr val="5A6A7A"/>
                </a:solidFill>
              </a:rPr>
              <a:t>No unified ML pipeline exists that combines INC + POI + CON survey data to provide real-time, multi-dimensional, GPT-powered financial stress diagnosis for Indian households.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10972800" cy="685800"/>
          </a:xfrm>
          <a:prstGeom prst="rect">
            <a:avLst/>
          </a:prstGeom>
          <a:noFill/>
        </p:spPr>
        <p:txBody>
          <a:bodyPr wrap="square">
            <a:spAutoFit/>
          </a:bodyPr>
          <a:lstStyle/>
          <a:p>
            <a:pPr algn="l"/>
            <a:r>
              <a:rPr sz="3000" b="1" i="0">
                <a:solidFill>
                  <a:srgbClr val="FFFFFF"/>
                </a:solidFill>
              </a:rPr>
              <a:t>Objectives</a:t>
            </a:r>
          </a:p>
        </p:txBody>
      </p:sp>
      <p:sp>
        <p:nvSpPr>
          <p:cNvPr id="5" name="TextBox 4"/>
          <p:cNvSpPr txBox="1"/>
          <p:nvPr/>
        </p:nvSpPr>
        <p:spPr>
          <a:xfrm>
            <a:off x="320040" y="749808"/>
            <a:ext cx="10972800" cy="347472"/>
          </a:xfrm>
          <a:prstGeom prst="rect">
            <a:avLst/>
          </a:prstGeom>
          <a:noFill/>
        </p:spPr>
        <p:txBody>
          <a:bodyPr wrap="square">
            <a:spAutoFit/>
          </a:bodyPr>
          <a:lstStyle/>
          <a:p>
            <a:pPr algn="l"/>
            <a:r>
              <a:rPr sz="1300" b="0" i="0">
                <a:solidFill>
                  <a:srgbClr val="B0C8E0"/>
                </a:solidFill>
              </a:rPr>
              <a:t>What This Project Aims to Achieve</a:t>
            </a:r>
          </a:p>
        </p:txBody>
      </p:sp>
      <p:sp>
        <p:nvSpPr>
          <p:cNvPr id="6" name="TextBox 5"/>
          <p:cNvSpPr txBox="1"/>
          <p:nvPr/>
        </p:nvSpPr>
        <p:spPr>
          <a:xfrm>
            <a:off x="11247120" y="6537960"/>
            <a:ext cx="914400" cy="274320"/>
          </a:xfrm>
          <a:prstGeom prst="rect">
            <a:avLst/>
          </a:prstGeom>
          <a:noFill/>
        </p:spPr>
        <p:txBody>
          <a:bodyPr wrap="square">
            <a:spAutoFit/>
          </a:bodyPr>
          <a:lstStyle/>
          <a:p>
            <a:pPr algn="r"/>
            <a:r>
              <a:rPr sz="900" b="0" i="0">
                <a:solidFill>
                  <a:srgbClr val="90A4AE"/>
                </a:solidFill>
              </a:rPr>
              <a:t>4 / 17</a:t>
            </a:r>
          </a:p>
        </p:txBody>
      </p:sp>
      <p:sp>
        <p:nvSpPr>
          <p:cNvPr id="7" name="Rectangle 6"/>
          <p:cNvSpPr/>
          <p:nvPr/>
        </p:nvSpPr>
        <p:spPr>
          <a:xfrm>
            <a:off x="320040" y="1417320"/>
            <a:ext cx="502920" cy="14173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920240"/>
            <a:ext cx="502920" cy="411480"/>
          </a:xfrm>
          <a:prstGeom prst="rect">
            <a:avLst/>
          </a:prstGeom>
          <a:noFill/>
        </p:spPr>
        <p:txBody>
          <a:bodyPr wrap="square">
            <a:spAutoFit/>
          </a:bodyPr>
          <a:lstStyle/>
          <a:p>
            <a:pPr algn="ctr"/>
            <a:r>
              <a:rPr sz="1200" b="1" i="0">
                <a:solidFill>
                  <a:srgbClr val="FFFFFF"/>
                </a:solidFill>
              </a:rPr>
              <a:t>O1</a:t>
            </a:r>
          </a:p>
        </p:txBody>
      </p:sp>
      <p:sp>
        <p:nvSpPr>
          <p:cNvPr id="9" name="Rectangle 8"/>
          <p:cNvSpPr/>
          <p:nvPr/>
        </p:nvSpPr>
        <p:spPr>
          <a:xfrm>
            <a:off x="822960" y="1417320"/>
            <a:ext cx="5029200" cy="1417320"/>
          </a:xfrm>
          <a:prstGeom prst="rect">
            <a:avLst/>
          </a:prstGeom>
          <a:solidFill>
            <a:srgbClr val="FFFFFF"/>
          </a:solidFill>
          <a:ln w="12700">
            <a:solidFill>
              <a:srgbClr val="BBDE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41832" y="1490472"/>
            <a:ext cx="4754880" cy="347472"/>
          </a:xfrm>
          <a:prstGeom prst="rect">
            <a:avLst/>
          </a:prstGeom>
          <a:noFill/>
        </p:spPr>
        <p:txBody>
          <a:bodyPr wrap="square">
            <a:spAutoFit/>
          </a:bodyPr>
          <a:lstStyle/>
          <a:p>
            <a:pPr algn="l"/>
            <a:r>
              <a:rPr sz="1200" b="1" i="0">
                <a:solidFill>
                  <a:srgbClr val="2E86AB"/>
                </a:solidFill>
              </a:rPr>
              <a:t>Data Integration</a:t>
            </a:r>
          </a:p>
        </p:txBody>
      </p:sp>
      <p:sp>
        <p:nvSpPr>
          <p:cNvPr id="11" name="TextBox 10"/>
          <p:cNvSpPr txBox="1"/>
          <p:nvPr/>
        </p:nvSpPr>
        <p:spPr>
          <a:xfrm>
            <a:off x="941832" y="1874519"/>
            <a:ext cx="4754880" cy="868680"/>
          </a:xfrm>
          <a:prstGeom prst="rect">
            <a:avLst/>
          </a:prstGeom>
          <a:noFill/>
        </p:spPr>
        <p:txBody>
          <a:bodyPr wrap="square">
            <a:spAutoFit/>
          </a:bodyPr>
          <a:lstStyle/>
          <a:p>
            <a:pPr algn="l"/>
            <a:r>
              <a:rPr sz="1050" b="0" i="0">
                <a:solidFill>
                  <a:srgbClr val="1C1C2E"/>
                </a:solidFill>
              </a:rPr>
              <a:t>Ingest, clean, and join three large CMIE surveys (INC + POI + CON) spanning 2014–2025 into a unified household-level dataset.</a:t>
            </a:r>
          </a:p>
        </p:txBody>
      </p:sp>
      <p:sp>
        <p:nvSpPr>
          <p:cNvPr id="12" name="Rectangle 11"/>
          <p:cNvSpPr/>
          <p:nvPr/>
        </p:nvSpPr>
        <p:spPr>
          <a:xfrm>
            <a:off x="6126479" y="1417320"/>
            <a:ext cx="502920" cy="14173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26479" y="1920240"/>
            <a:ext cx="502920" cy="411480"/>
          </a:xfrm>
          <a:prstGeom prst="rect">
            <a:avLst/>
          </a:prstGeom>
          <a:noFill/>
        </p:spPr>
        <p:txBody>
          <a:bodyPr wrap="square">
            <a:spAutoFit/>
          </a:bodyPr>
          <a:lstStyle/>
          <a:p>
            <a:pPr algn="ctr"/>
            <a:r>
              <a:rPr sz="1200" b="1" i="0">
                <a:solidFill>
                  <a:srgbClr val="FFFFFF"/>
                </a:solidFill>
              </a:rPr>
              <a:t>O2</a:t>
            </a:r>
          </a:p>
        </p:txBody>
      </p:sp>
      <p:sp>
        <p:nvSpPr>
          <p:cNvPr id="14" name="Rectangle 13"/>
          <p:cNvSpPr/>
          <p:nvPr/>
        </p:nvSpPr>
        <p:spPr>
          <a:xfrm>
            <a:off x="6629399" y="1417320"/>
            <a:ext cx="5029200" cy="1417320"/>
          </a:xfrm>
          <a:prstGeom prst="rect">
            <a:avLst/>
          </a:prstGeom>
          <a:solidFill>
            <a:srgbClr val="FFFFFF"/>
          </a:solidFill>
          <a:ln w="12700">
            <a:solidFill>
              <a:srgbClr val="BBDE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48271" y="1490472"/>
            <a:ext cx="4754880" cy="347472"/>
          </a:xfrm>
          <a:prstGeom prst="rect">
            <a:avLst/>
          </a:prstGeom>
          <a:noFill/>
        </p:spPr>
        <p:txBody>
          <a:bodyPr wrap="square">
            <a:spAutoFit/>
          </a:bodyPr>
          <a:lstStyle/>
          <a:p>
            <a:pPr algn="l"/>
            <a:r>
              <a:rPr sz="1200" b="1" i="0">
                <a:solidFill>
                  <a:srgbClr val="2E86AB"/>
                </a:solidFill>
              </a:rPr>
              <a:t>Stress Label Engineering</a:t>
            </a:r>
          </a:p>
        </p:txBody>
      </p:sp>
      <p:sp>
        <p:nvSpPr>
          <p:cNvPr id="16" name="TextBox 15"/>
          <p:cNvSpPr txBox="1"/>
          <p:nvPr/>
        </p:nvSpPr>
        <p:spPr>
          <a:xfrm>
            <a:off x="6748271" y="1874519"/>
            <a:ext cx="4754880" cy="868680"/>
          </a:xfrm>
          <a:prstGeom prst="rect">
            <a:avLst/>
          </a:prstGeom>
          <a:noFill/>
        </p:spPr>
        <p:txBody>
          <a:bodyPr wrap="square">
            <a:spAutoFit/>
          </a:bodyPr>
          <a:lstStyle/>
          <a:p>
            <a:pPr algn="l"/>
            <a:r>
              <a:rPr sz="1050" b="0" i="0">
                <a:solidFill>
                  <a:srgbClr val="1C1C2E"/>
                </a:solidFill>
              </a:rPr>
              <a:t>Define and compute four deterministic binary stress labels (financial, food, debt, health) and a composite stress score (0–4).</a:t>
            </a:r>
          </a:p>
        </p:txBody>
      </p:sp>
      <p:sp>
        <p:nvSpPr>
          <p:cNvPr id="17" name="Rectangle 16"/>
          <p:cNvSpPr/>
          <p:nvPr/>
        </p:nvSpPr>
        <p:spPr>
          <a:xfrm>
            <a:off x="320040" y="3081528"/>
            <a:ext cx="502920" cy="14173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0040" y="3584448"/>
            <a:ext cx="502920" cy="411480"/>
          </a:xfrm>
          <a:prstGeom prst="rect">
            <a:avLst/>
          </a:prstGeom>
          <a:noFill/>
        </p:spPr>
        <p:txBody>
          <a:bodyPr wrap="square">
            <a:spAutoFit/>
          </a:bodyPr>
          <a:lstStyle/>
          <a:p>
            <a:pPr algn="ctr"/>
            <a:r>
              <a:rPr sz="1200" b="1" i="0">
                <a:solidFill>
                  <a:srgbClr val="FFFFFF"/>
                </a:solidFill>
              </a:rPr>
              <a:t>O3</a:t>
            </a:r>
          </a:p>
        </p:txBody>
      </p:sp>
      <p:sp>
        <p:nvSpPr>
          <p:cNvPr id="19" name="Rectangle 18"/>
          <p:cNvSpPr/>
          <p:nvPr/>
        </p:nvSpPr>
        <p:spPr>
          <a:xfrm>
            <a:off x="822960" y="3081528"/>
            <a:ext cx="5029200" cy="1417320"/>
          </a:xfrm>
          <a:prstGeom prst="rect">
            <a:avLst/>
          </a:prstGeom>
          <a:solidFill>
            <a:srgbClr val="FFFFFF"/>
          </a:solidFill>
          <a:ln w="12700">
            <a:solidFill>
              <a:srgbClr val="BBDE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1832" y="3154680"/>
            <a:ext cx="4754880" cy="347472"/>
          </a:xfrm>
          <a:prstGeom prst="rect">
            <a:avLst/>
          </a:prstGeom>
          <a:noFill/>
        </p:spPr>
        <p:txBody>
          <a:bodyPr wrap="square">
            <a:spAutoFit/>
          </a:bodyPr>
          <a:lstStyle/>
          <a:p>
            <a:pPr algn="l"/>
            <a:r>
              <a:rPr sz="1200" b="1" i="0">
                <a:solidFill>
                  <a:srgbClr val="2E86AB"/>
                </a:solidFill>
              </a:rPr>
              <a:t>ML Model Development</a:t>
            </a:r>
          </a:p>
        </p:txBody>
      </p:sp>
      <p:sp>
        <p:nvSpPr>
          <p:cNvPr id="21" name="TextBox 20"/>
          <p:cNvSpPr txBox="1"/>
          <p:nvPr/>
        </p:nvSpPr>
        <p:spPr>
          <a:xfrm>
            <a:off x="941832" y="3538728"/>
            <a:ext cx="4754880" cy="868680"/>
          </a:xfrm>
          <a:prstGeom prst="rect">
            <a:avLst/>
          </a:prstGeom>
          <a:noFill/>
        </p:spPr>
        <p:txBody>
          <a:bodyPr wrap="square">
            <a:spAutoFit/>
          </a:bodyPr>
          <a:lstStyle/>
          <a:p>
            <a:pPr algn="l"/>
            <a:r>
              <a:rPr sz="1050" b="0" i="0">
                <a:solidFill>
                  <a:srgbClr val="1C1C2E"/>
                </a:solidFill>
              </a:rPr>
              <a:t>Train five XGBoost models to predict each stress dimension with high accuracy on ~500K household records.</a:t>
            </a:r>
          </a:p>
        </p:txBody>
      </p:sp>
      <p:sp>
        <p:nvSpPr>
          <p:cNvPr id="22" name="Rectangle 21"/>
          <p:cNvSpPr/>
          <p:nvPr/>
        </p:nvSpPr>
        <p:spPr>
          <a:xfrm>
            <a:off x="6126479" y="3081528"/>
            <a:ext cx="502920" cy="14173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26479" y="3584448"/>
            <a:ext cx="502920" cy="411480"/>
          </a:xfrm>
          <a:prstGeom prst="rect">
            <a:avLst/>
          </a:prstGeom>
          <a:noFill/>
        </p:spPr>
        <p:txBody>
          <a:bodyPr wrap="square">
            <a:spAutoFit/>
          </a:bodyPr>
          <a:lstStyle/>
          <a:p>
            <a:pPr algn="ctr"/>
            <a:r>
              <a:rPr sz="1200" b="1" i="0">
                <a:solidFill>
                  <a:srgbClr val="FFFFFF"/>
                </a:solidFill>
              </a:rPr>
              <a:t>O4</a:t>
            </a:r>
          </a:p>
        </p:txBody>
      </p:sp>
      <p:sp>
        <p:nvSpPr>
          <p:cNvPr id="24" name="Rectangle 23"/>
          <p:cNvSpPr/>
          <p:nvPr/>
        </p:nvSpPr>
        <p:spPr>
          <a:xfrm>
            <a:off x="6629399" y="3081528"/>
            <a:ext cx="5029200" cy="1417320"/>
          </a:xfrm>
          <a:prstGeom prst="rect">
            <a:avLst/>
          </a:prstGeom>
          <a:solidFill>
            <a:srgbClr val="FFFFFF"/>
          </a:solidFill>
          <a:ln w="12700">
            <a:solidFill>
              <a:srgbClr val="BBDE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748271" y="3154680"/>
            <a:ext cx="4754880" cy="347472"/>
          </a:xfrm>
          <a:prstGeom prst="rect">
            <a:avLst/>
          </a:prstGeom>
          <a:noFill/>
        </p:spPr>
        <p:txBody>
          <a:bodyPr wrap="square">
            <a:spAutoFit/>
          </a:bodyPr>
          <a:lstStyle/>
          <a:p>
            <a:pPr algn="l"/>
            <a:r>
              <a:rPr sz="1200" b="1" i="0">
                <a:solidFill>
                  <a:srgbClr val="2E86AB"/>
                </a:solidFill>
              </a:rPr>
              <a:t>Explainability</a:t>
            </a:r>
          </a:p>
        </p:txBody>
      </p:sp>
      <p:sp>
        <p:nvSpPr>
          <p:cNvPr id="26" name="TextBox 25"/>
          <p:cNvSpPr txBox="1"/>
          <p:nvPr/>
        </p:nvSpPr>
        <p:spPr>
          <a:xfrm>
            <a:off x="6748271" y="3538728"/>
            <a:ext cx="4754880" cy="868680"/>
          </a:xfrm>
          <a:prstGeom prst="rect">
            <a:avLst/>
          </a:prstGeom>
          <a:noFill/>
        </p:spPr>
        <p:txBody>
          <a:bodyPr wrap="square">
            <a:spAutoFit/>
          </a:bodyPr>
          <a:lstStyle/>
          <a:p>
            <a:pPr algn="l"/>
            <a:r>
              <a:rPr sz="1050" b="0" i="0">
                <a:solidFill>
                  <a:srgbClr val="1C1C2E"/>
                </a:solidFill>
              </a:rPr>
              <a:t>Provide SHAP-based human-readable explanations for every prediction — identifying top-3 contributing factors per stress domain.</a:t>
            </a:r>
          </a:p>
        </p:txBody>
      </p:sp>
      <p:sp>
        <p:nvSpPr>
          <p:cNvPr id="27" name="Rectangle 26"/>
          <p:cNvSpPr/>
          <p:nvPr/>
        </p:nvSpPr>
        <p:spPr>
          <a:xfrm>
            <a:off x="320040" y="4745736"/>
            <a:ext cx="502920" cy="14173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20040" y="5248656"/>
            <a:ext cx="502920" cy="411480"/>
          </a:xfrm>
          <a:prstGeom prst="rect">
            <a:avLst/>
          </a:prstGeom>
          <a:noFill/>
        </p:spPr>
        <p:txBody>
          <a:bodyPr wrap="square">
            <a:spAutoFit/>
          </a:bodyPr>
          <a:lstStyle/>
          <a:p>
            <a:pPr algn="ctr"/>
            <a:r>
              <a:rPr sz="1200" b="1" i="0">
                <a:solidFill>
                  <a:srgbClr val="FFFFFF"/>
                </a:solidFill>
              </a:rPr>
              <a:t>O5</a:t>
            </a:r>
          </a:p>
        </p:txBody>
      </p:sp>
      <p:sp>
        <p:nvSpPr>
          <p:cNvPr id="29" name="Rectangle 28"/>
          <p:cNvSpPr/>
          <p:nvPr/>
        </p:nvSpPr>
        <p:spPr>
          <a:xfrm>
            <a:off x="822960" y="4745736"/>
            <a:ext cx="5029200" cy="1417320"/>
          </a:xfrm>
          <a:prstGeom prst="rect">
            <a:avLst/>
          </a:prstGeom>
          <a:solidFill>
            <a:srgbClr val="FFFFFF"/>
          </a:solidFill>
          <a:ln w="12700">
            <a:solidFill>
              <a:srgbClr val="BBDE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41832" y="4818888"/>
            <a:ext cx="4754880" cy="347472"/>
          </a:xfrm>
          <a:prstGeom prst="rect">
            <a:avLst/>
          </a:prstGeom>
          <a:noFill/>
        </p:spPr>
        <p:txBody>
          <a:bodyPr wrap="square">
            <a:spAutoFit/>
          </a:bodyPr>
          <a:lstStyle/>
          <a:p>
            <a:pPr algn="l"/>
            <a:r>
              <a:rPr sz="1200" b="1" i="0">
                <a:solidFill>
                  <a:srgbClr val="2E86AB"/>
                </a:solidFill>
              </a:rPr>
              <a:t>Conversational Interface</a:t>
            </a:r>
          </a:p>
        </p:txBody>
      </p:sp>
      <p:sp>
        <p:nvSpPr>
          <p:cNvPr id="31" name="TextBox 30"/>
          <p:cNvSpPr txBox="1"/>
          <p:nvPr/>
        </p:nvSpPr>
        <p:spPr>
          <a:xfrm>
            <a:off x="941832" y="5202936"/>
            <a:ext cx="4754880" cy="868680"/>
          </a:xfrm>
          <a:prstGeom prst="rect">
            <a:avLst/>
          </a:prstGeom>
          <a:noFill/>
        </p:spPr>
        <p:txBody>
          <a:bodyPr wrap="square">
            <a:spAutoFit/>
          </a:bodyPr>
          <a:lstStyle/>
          <a:p>
            <a:pPr algn="l"/>
            <a:r>
              <a:rPr sz="1050" b="0" i="0">
                <a:solidFill>
                  <a:srgbClr val="1C1C2E"/>
                </a:solidFill>
              </a:rPr>
              <a:t>Deploy a React + FastAPI chatbot that collects user data via natural conversation and returns ML predictions + GPT-4o-mini advice.</a:t>
            </a:r>
          </a:p>
        </p:txBody>
      </p:sp>
      <p:sp>
        <p:nvSpPr>
          <p:cNvPr id="32" name="Rectangle 31"/>
          <p:cNvSpPr/>
          <p:nvPr/>
        </p:nvSpPr>
        <p:spPr>
          <a:xfrm>
            <a:off x="6126479" y="4745736"/>
            <a:ext cx="502920" cy="14173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126479" y="5248656"/>
            <a:ext cx="502920" cy="411480"/>
          </a:xfrm>
          <a:prstGeom prst="rect">
            <a:avLst/>
          </a:prstGeom>
          <a:noFill/>
        </p:spPr>
        <p:txBody>
          <a:bodyPr wrap="square">
            <a:spAutoFit/>
          </a:bodyPr>
          <a:lstStyle/>
          <a:p>
            <a:pPr algn="ctr"/>
            <a:r>
              <a:rPr sz="1200" b="1" i="0">
                <a:solidFill>
                  <a:srgbClr val="FFFFFF"/>
                </a:solidFill>
              </a:rPr>
              <a:t>O6</a:t>
            </a:r>
          </a:p>
        </p:txBody>
      </p:sp>
      <p:sp>
        <p:nvSpPr>
          <p:cNvPr id="34" name="Rectangle 33"/>
          <p:cNvSpPr/>
          <p:nvPr/>
        </p:nvSpPr>
        <p:spPr>
          <a:xfrm>
            <a:off x="6629399" y="4745736"/>
            <a:ext cx="5029200" cy="1417320"/>
          </a:xfrm>
          <a:prstGeom prst="rect">
            <a:avLst/>
          </a:prstGeom>
          <a:solidFill>
            <a:srgbClr val="FFFFFF"/>
          </a:solidFill>
          <a:ln w="12700">
            <a:solidFill>
              <a:srgbClr val="BBDE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748271" y="4818888"/>
            <a:ext cx="4754880" cy="347472"/>
          </a:xfrm>
          <a:prstGeom prst="rect">
            <a:avLst/>
          </a:prstGeom>
          <a:noFill/>
        </p:spPr>
        <p:txBody>
          <a:bodyPr wrap="square">
            <a:spAutoFit/>
          </a:bodyPr>
          <a:lstStyle/>
          <a:p>
            <a:pPr algn="l"/>
            <a:r>
              <a:rPr sz="1200" b="1" i="0">
                <a:solidFill>
                  <a:srgbClr val="2E86AB"/>
                </a:solidFill>
              </a:rPr>
              <a:t>Production Monitoring</a:t>
            </a:r>
          </a:p>
        </p:txBody>
      </p:sp>
      <p:sp>
        <p:nvSpPr>
          <p:cNvPr id="36" name="TextBox 35"/>
          <p:cNvSpPr txBox="1"/>
          <p:nvPr/>
        </p:nvSpPr>
        <p:spPr>
          <a:xfrm>
            <a:off x="6748271" y="5202936"/>
            <a:ext cx="4754880" cy="868680"/>
          </a:xfrm>
          <a:prstGeom prst="rect">
            <a:avLst/>
          </a:prstGeom>
          <a:noFill/>
        </p:spPr>
        <p:txBody>
          <a:bodyPr wrap="square">
            <a:spAutoFit/>
          </a:bodyPr>
          <a:lstStyle/>
          <a:p>
            <a:pPr algn="l"/>
            <a:r>
              <a:rPr sz="1050" b="0" i="0">
                <a:solidFill>
                  <a:srgbClr val="1C1C2E"/>
                </a:solidFill>
              </a:rPr>
              <a:t>Implement Prometheus metrics, Evidently AI drift detection, and automated retraining triggers for long-term reliability.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10972800" cy="685800"/>
          </a:xfrm>
          <a:prstGeom prst="rect">
            <a:avLst/>
          </a:prstGeom>
          <a:noFill/>
        </p:spPr>
        <p:txBody>
          <a:bodyPr wrap="square">
            <a:spAutoFit/>
          </a:bodyPr>
          <a:lstStyle/>
          <a:p>
            <a:pPr algn="l"/>
            <a:r>
              <a:rPr sz="3000" b="1" i="0">
                <a:solidFill>
                  <a:srgbClr val="FFFFFF"/>
                </a:solidFill>
              </a:rPr>
              <a:t>Literature Review</a:t>
            </a:r>
          </a:p>
        </p:txBody>
      </p:sp>
      <p:sp>
        <p:nvSpPr>
          <p:cNvPr id="5" name="TextBox 4"/>
          <p:cNvSpPr txBox="1"/>
          <p:nvPr/>
        </p:nvSpPr>
        <p:spPr>
          <a:xfrm>
            <a:off x="320040" y="749808"/>
            <a:ext cx="10972800" cy="347472"/>
          </a:xfrm>
          <a:prstGeom prst="rect">
            <a:avLst/>
          </a:prstGeom>
          <a:noFill/>
        </p:spPr>
        <p:txBody>
          <a:bodyPr wrap="square">
            <a:spAutoFit/>
          </a:bodyPr>
          <a:lstStyle/>
          <a:p>
            <a:pPr algn="l"/>
            <a:r>
              <a:rPr sz="1300" b="0" i="0">
                <a:solidFill>
                  <a:srgbClr val="B0C8E0"/>
                </a:solidFill>
              </a:rPr>
              <a:t>Prior Work &amp; Theoretical Foundation</a:t>
            </a:r>
          </a:p>
        </p:txBody>
      </p:sp>
      <p:sp>
        <p:nvSpPr>
          <p:cNvPr id="6" name="TextBox 5"/>
          <p:cNvSpPr txBox="1"/>
          <p:nvPr/>
        </p:nvSpPr>
        <p:spPr>
          <a:xfrm>
            <a:off x="11247120" y="6537960"/>
            <a:ext cx="914400" cy="274320"/>
          </a:xfrm>
          <a:prstGeom prst="rect">
            <a:avLst/>
          </a:prstGeom>
          <a:noFill/>
        </p:spPr>
        <p:txBody>
          <a:bodyPr wrap="square">
            <a:spAutoFit/>
          </a:bodyPr>
          <a:lstStyle/>
          <a:p>
            <a:pPr algn="r"/>
            <a:r>
              <a:rPr sz="900" b="0" i="0">
                <a:solidFill>
                  <a:srgbClr val="90A4AE"/>
                </a:solidFill>
              </a:rPr>
              <a:t>5 / 17</a:t>
            </a:r>
          </a:p>
        </p:txBody>
      </p:sp>
      <p:graphicFrame>
        <p:nvGraphicFramePr>
          <p:cNvPr id="7" name="Table 6"/>
          <p:cNvGraphicFramePr>
            <a:graphicFrameLocks noGrp="1"/>
          </p:cNvGraphicFramePr>
          <p:nvPr/>
        </p:nvGraphicFramePr>
        <p:xfrm>
          <a:off x="320040" y="1325880"/>
          <a:ext cx="11612880" cy="3456432"/>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384048">
                <a:tc>
                  <a:txBody>
                    <a:bodyPr/>
                    <a:lstStyle/>
                    <a:p>
                      <a:pPr algn="ctr"/>
                      <a:r>
                        <a:rPr sz="1100" b="1">
                          <a:solidFill>
                            <a:srgbClr val="FFFFFF"/>
                          </a:solidFill>
                        </a:rPr>
                        <a:t>Area</a:t>
                      </a:r>
                    </a:p>
                  </a:txBody>
                  <a:tcPr>
                    <a:solidFill>
                      <a:srgbClr val="2E86AB"/>
                    </a:solidFill>
                  </a:tcPr>
                </a:tc>
                <a:tc>
                  <a:txBody>
                    <a:bodyPr/>
                    <a:lstStyle/>
                    <a:p>
                      <a:pPr algn="ctr"/>
                      <a:r>
                        <a:rPr sz="1100" b="1">
                          <a:solidFill>
                            <a:srgbClr val="FFFFFF"/>
                          </a:solidFill>
                        </a:rPr>
                        <a:t>Key Work / Reference</a:t>
                      </a:r>
                    </a:p>
                  </a:txBody>
                  <a:tcPr>
                    <a:solidFill>
                      <a:srgbClr val="2E86AB"/>
                    </a:solidFill>
                  </a:tcPr>
                </a:tc>
                <a:tc>
                  <a:txBody>
                    <a:bodyPr/>
                    <a:lstStyle/>
                    <a:p>
                      <a:pPr algn="ctr"/>
                      <a:r>
                        <a:rPr sz="1100" b="1">
                          <a:solidFill>
                            <a:srgbClr val="FFFFFF"/>
                          </a:solidFill>
                        </a:rPr>
                        <a:t>Finding / Relevance</a:t>
                      </a:r>
                    </a:p>
                  </a:txBody>
                  <a:tcPr>
                    <a:solidFill>
                      <a:srgbClr val="2E86AB"/>
                    </a:solidFill>
                  </a:tcPr>
                </a:tc>
                <a:extLst>
                  <a:ext uri="{0D108BD9-81ED-4DB2-BD59-A6C34878D82A}">
                    <a16:rowId xmlns:a16="http://schemas.microsoft.com/office/drawing/2014/main" val="10000"/>
                  </a:ext>
                </a:extLst>
              </a:tr>
              <a:tr h="384048">
                <a:tc>
                  <a:txBody>
                    <a:bodyPr/>
                    <a:lstStyle/>
                    <a:p>
                      <a:pPr algn="l"/>
                      <a:r>
                        <a:rPr sz="950">
                          <a:solidFill>
                            <a:srgbClr val="1C1C2E"/>
                          </a:solidFill>
                        </a:rPr>
                        <a:t>Financial Stress Prediction</a:t>
                      </a:r>
                    </a:p>
                  </a:txBody>
                  <a:tcPr>
                    <a:solidFill>
                      <a:srgbClr val="E8F4F8"/>
                    </a:solidFill>
                  </a:tcPr>
                </a:tc>
                <a:tc>
                  <a:txBody>
                    <a:bodyPr/>
                    <a:lstStyle/>
                    <a:p>
                      <a:pPr algn="ctr"/>
                      <a:r>
                        <a:rPr sz="950">
                          <a:solidFill>
                            <a:srgbClr val="1C1C2E"/>
                          </a:solidFill>
                        </a:rPr>
                        <a:t>Khandani et al. (2010) — Consumer credit</a:t>
                      </a:r>
                    </a:p>
                  </a:txBody>
                  <a:tcPr>
                    <a:solidFill>
                      <a:srgbClr val="E8F4F8"/>
                    </a:solidFill>
                  </a:tcPr>
                </a:tc>
                <a:tc>
                  <a:txBody>
                    <a:bodyPr/>
                    <a:lstStyle/>
                    <a:p>
                      <a:pPr algn="ctr"/>
                      <a:r>
                        <a:rPr sz="950">
                          <a:solidFill>
                            <a:srgbClr val="1C1C2E"/>
                          </a:solidFill>
                        </a:rPr>
                        <a:t>ML outperforms traditional credit scoring; ensemble methods best</a:t>
                      </a:r>
                    </a:p>
                  </a:txBody>
                  <a:tcPr>
                    <a:solidFill>
                      <a:srgbClr val="E8F4F8"/>
                    </a:solidFill>
                  </a:tcPr>
                </a:tc>
                <a:extLst>
                  <a:ext uri="{0D108BD9-81ED-4DB2-BD59-A6C34878D82A}">
                    <a16:rowId xmlns:a16="http://schemas.microsoft.com/office/drawing/2014/main" val="10001"/>
                  </a:ext>
                </a:extLst>
              </a:tr>
              <a:tr h="384048">
                <a:tc>
                  <a:txBody>
                    <a:bodyPr/>
                    <a:lstStyle/>
                    <a:p>
                      <a:pPr algn="l"/>
                      <a:r>
                        <a:rPr sz="950">
                          <a:solidFill>
                            <a:srgbClr val="1C1C2E"/>
                          </a:solidFill>
                        </a:rPr>
                        <a:t>Household Poverty Modelling</a:t>
                      </a:r>
                    </a:p>
                  </a:txBody>
                  <a:tcPr>
                    <a:solidFill>
                      <a:srgbClr val="FFFFFF"/>
                    </a:solidFill>
                  </a:tcPr>
                </a:tc>
                <a:tc>
                  <a:txBody>
                    <a:bodyPr/>
                    <a:lstStyle/>
                    <a:p>
                      <a:pPr algn="ctr"/>
                      <a:r>
                        <a:rPr sz="950">
                          <a:solidFill>
                            <a:srgbClr val="1C1C2E"/>
                          </a:solidFill>
                        </a:rPr>
                        <a:t>Jean et al. (2016) — Satellite + survey fusion</a:t>
                      </a:r>
                    </a:p>
                  </a:txBody>
                  <a:tcPr>
                    <a:solidFill>
                      <a:srgbClr val="FFFFFF"/>
                    </a:solidFill>
                  </a:tcPr>
                </a:tc>
                <a:tc>
                  <a:txBody>
                    <a:bodyPr/>
                    <a:lstStyle/>
                    <a:p>
                      <a:pPr algn="ctr"/>
                      <a:r>
                        <a:rPr sz="950">
                          <a:solidFill>
                            <a:srgbClr val="1C1C2E"/>
                          </a:solidFill>
                        </a:rPr>
                        <a:t>Survey data enriched by auxiliary signals improves accuracy</a:t>
                      </a:r>
                    </a:p>
                  </a:txBody>
                  <a:tcPr>
                    <a:solidFill>
                      <a:srgbClr val="FFFFFF"/>
                    </a:solidFill>
                  </a:tcPr>
                </a:tc>
                <a:extLst>
                  <a:ext uri="{0D108BD9-81ED-4DB2-BD59-A6C34878D82A}">
                    <a16:rowId xmlns:a16="http://schemas.microsoft.com/office/drawing/2014/main" val="10002"/>
                  </a:ext>
                </a:extLst>
              </a:tr>
              <a:tr h="384048">
                <a:tc>
                  <a:txBody>
                    <a:bodyPr/>
                    <a:lstStyle/>
                    <a:p>
                      <a:pPr algn="l"/>
                      <a:r>
                        <a:rPr sz="950">
                          <a:solidFill>
                            <a:srgbClr val="1C1C2E"/>
                          </a:solidFill>
                        </a:rPr>
                        <a:t>Indian Household Finance</a:t>
                      </a:r>
                    </a:p>
                  </a:txBody>
                  <a:tcPr>
                    <a:solidFill>
                      <a:srgbClr val="E8F4F8"/>
                    </a:solidFill>
                  </a:tcPr>
                </a:tc>
                <a:tc>
                  <a:txBody>
                    <a:bodyPr/>
                    <a:lstStyle/>
                    <a:p>
                      <a:pPr algn="ctr"/>
                      <a:r>
                        <a:rPr sz="950">
                          <a:solidFill>
                            <a:srgbClr val="1C1C2E"/>
                          </a:solidFill>
                        </a:rPr>
                        <a:t>CMIE CPHS Reports (2020–2024)</a:t>
                      </a:r>
                    </a:p>
                  </a:txBody>
                  <a:tcPr>
                    <a:solidFill>
                      <a:srgbClr val="E8F4F8"/>
                    </a:solidFill>
                  </a:tcPr>
                </a:tc>
                <a:tc>
                  <a:txBody>
                    <a:bodyPr/>
                    <a:lstStyle/>
                    <a:p>
                      <a:pPr algn="ctr"/>
                      <a:r>
                        <a:rPr sz="950">
                          <a:solidFill>
                            <a:srgbClr val="1C1C2E"/>
                          </a:solidFill>
                        </a:rPr>
                        <a:t>Provides longitudinal panel data across income deciles</a:t>
                      </a:r>
                    </a:p>
                  </a:txBody>
                  <a:tcPr>
                    <a:solidFill>
                      <a:srgbClr val="E8F4F8"/>
                    </a:solidFill>
                  </a:tcPr>
                </a:tc>
                <a:extLst>
                  <a:ext uri="{0D108BD9-81ED-4DB2-BD59-A6C34878D82A}">
                    <a16:rowId xmlns:a16="http://schemas.microsoft.com/office/drawing/2014/main" val="10003"/>
                  </a:ext>
                </a:extLst>
              </a:tr>
              <a:tr h="384048">
                <a:tc>
                  <a:txBody>
                    <a:bodyPr/>
                    <a:lstStyle/>
                    <a:p>
                      <a:pPr algn="l"/>
                      <a:r>
                        <a:rPr sz="950">
                          <a:solidFill>
                            <a:srgbClr val="1C1C2E"/>
                          </a:solidFill>
                        </a:rPr>
                        <a:t>XGBoost for Tabular Data</a:t>
                      </a:r>
                    </a:p>
                  </a:txBody>
                  <a:tcPr>
                    <a:solidFill>
                      <a:srgbClr val="FFFFFF"/>
                    </a:solidFill>
                  </a:tcPr>
                </a:tc>
                <a:tc>
                  <a:txBody>
                    <a:bodyPr/>
                    <a:lstStyle/>
                    <a:p>
                      <a:pPr algn="ctr"/>
                      <a:r>
                        <a:rPr sz="950">
                          <a:solidFill>
                            <a:srgbClr val="1C1C2E"/>
                          </a:solidFill>
                        </a:rPr>
                        <a:t>Chen &amp; Guestrin (2016)</a:t>
                      </a:r>
                    </a:p>
                  </a:txBody>
                  <a:tcPr>
                    <a:solidFill>
                      <a:srgbClr val="FFFFFF"/>
                    </a:solidFill>
                  </a:tcPr>
                </a:tc>
                <a:tc>
                  <a:txBody>
                    <a:bodyPr/>
                    <a:lstStyle/>
                    <a:p>
                      <a:pPr algn="ctr"/>
                      <a:r>
                        <a:rPr sz="950">
                          <a:solidFill>
                            <a:srgbClr val="1C1C2E"/>
                          </a:solidFill>
                        </a:rPr>
                        <a:t>Gradient boosting outperforms deep learning on structured data</a:t>
                      </a:r>
                    </a:p>
                  </a:txBody>
                  <a:tcPr>
                    <a:solidFill>
                      <a:srgbClr val="FFFFFF"/>
                    </a:solidFill>
                  </a:tcPr>
                </a:tc>
                <a:extLst>
                  <a:ext uri="{0D108BD9-81ED-4DB2-BD59-A6C34878D82A}">
                    <a16:rowId xmlns:a16="http://schemas.microsoft.com/office/drawing/2014/main" val="10004"/>
                  </a:ext>
                </a:extLst>
              </a:tr>
              <a:tr h="384048">
                <a:tc>
                  <a:txBody>
                    <a:bodyPr/>
                    <a:lstStyle/>
                    <a:p>
                      <a:pPr algn="l"/>
                      <a:r>
                        <a:rPr sz="950">
                          <a:solidFill>
                            <a:srgbClr val="1C1C2E"/>
                          </a:solidFill>
                        </a:rPr>
                        <a:t>Class Imbalance Handling</a:t>
                      </a:r>
                    </a:p>
                  </a:txBody>
                  <a:tcPr>
                    <a:solidFill>
                      <a:srgbClr val="E8F4F8"/>
                    </a:solidFill>
                  </a:tcPr>
                </a:tc>
                <a:tc>
                  <a:txBody>
                    <a:bodyPr/>
                    <a:lstStyle/>
                    <a:p>
                      <a:pPr algn="ctr"/>
                      <a:r>
                        <a:rPr sz="950">
                          <a:solidFill>
                            <a:srgbClr val="1C1C2E"/>
                          </a:solidFill>
                        </a:rPr>
                        <a:t>Chawla et al. (SMOTE, 2002)</a:t>
                      </a:r>
                    </a:p>
                  </a:txBody>
                  <a:tcPr>
                    <a:solidFill>
                      <a:srgbClr val="E8F4F8"/>
                    </a:solidFill>
                  </a:tcPr>
                </a:tc>
                <a:tc>
                  <a:txBody>
                    <a:bodyPr/>
                    <a:lstStyle/>
                    <a:p>
                      <a:pPr algn="ctr"/>
                      <a:r>
                        <a:rPr sz="950">
                          <a:solidFill>
                            <a:srgbClr val="1C1C2E"/>
                          </a:solidFill>
                        </a:rPr>
                        <a:t>Synthetic oversampling improves minority class recall</a:t>
                      </a:r>
                    </a:p>
                  </a:txBody>
                  <a:tcPr>
                    <a:solidFill>
                      <a:srgbClr val="E8F4F8"/>
                    </a:solidFill>
                  </a:tcPr>
                </a:tc>
                <a:extLst>
                  <a:ext uri="{0D108BD9-81ED-4DB2-BD59-A6C34878D82A}">
                    <a16:rowId xmlns:a16="http://schemas.microsoft.com/office/drawing/2014/main" val="10005"/>
                  </a:ext>
                </a:extLst>
              </a:tr>
              <a:tr h="384048">
                <a:tc>
                  <a:txBody>
                    <a:bodyPr/>
                    <a:lstStyle/>
                    <a:p>
                      <a:pPr algn="l"/>
                      <a:r>
                        <a:rPr sz="950">
                          <a:solidFill>
                            <a:srgbClr val="1C1C2E"/>
                          </a:solidFill>
                        </a:rPr>
                        <a:t>SHAP Explanations</a:t>
                      </a:r>
                    </a:p>
                  </a:txBody>
                  <a:tcPr>
                    <a:solidFill>
                      <a:srgbClr val="FFFFFF"/>
                    </a:solidFill>
                  </a:tcPr>
                </a:tc>
                <a:tc>
                  <a:txBody>
                    <a:bodyPr/>
                    <a:lstStyle/>
                    <a:p>
                      <a:pPr algn="ctr"/>
                      <a:r>
                        <a:rPr sz="950">
                          <a:solidFill>
                            <a:srgbClr val="1C1C2E"/>
                          </a:solidFill>
                        </a:rPr>
                        <a:t>Lundberg &amp; Lee (2017)</a:t>
                      </a:r>
                    </a:p>
                  </a:txBody>
                  <a:tcPr>
                    <a:solidFill>
                      <a:srgbClr val="FFFFFF"/>
                    </a:solidFill>
                  </a:tcPr>
                </a:tc>
                <a:tc>
                  <a:txBody>
                    <a:bodyPr/>
                    <a:lstStyle/>
                    <a:p>
                      <a:pPr algn="ctr"/>
                      <a:r>
                        <a:rPr sz="950">
                          <a:solidFill>
                            <a:srgbClr val="1C1C2E"/>
                          </a:solidFill>
                        </a:rPr>
                        <a:t>TreeSHAP provides fast, exact feature attributions for trees</a:t>
                      </a:r>
                    </a:p>
                  </a:txBody>
                  <a:tcPr>
                    <a:solidFill>
                      <a:srgbClr val="FFFFFF"/>
                    </a:solidFill>
                  </a:tcPr>
                </a:tc>
                <a:extLst>
                  <a:ext uri="{0D108BD9-81ED-4DB2-BD59-A6C34878D82A}">
                    <a16:rowId xmlns:a16="http://schemas.microsoft.com/office/drawing/2014/main" val="10006"/>
                  </a:ext>
                </a:extLst>
              </a:tr>
              <a:tr h="384048">
                <a:tc>
                  <a:txBody>
                    <a:bodyPr/>
                    <a:lstStyle/>
                    <a:p>
                      <a:pPr algn="l"/>
                      <a:r>
                        <a:rPr sz="950">
                          <a:solidFill>
                            <a:srgbClr val="1C1C2E"/>
                          </a:solidFill>
                        </a:rPr>
                        <a:t>LLM-based Financial Advice</a:t>
                      </a:r>
                    </a:p>
                  </a:txBody>
                  <a:tcPr>
                    <a:solidFill>
                      <a:srgbClr val="E8F4F8"/>
                    </a:solidFill>
                  </a:tcPr>
                </a:tc>
                <a:tc>
                  <a:txBody>
                    <a:bodyPr/>
                    <a:lstStyle/>
                    <a:p>
                      <a:pPr algn="ctr"/>
                      <a:r>
                        <a:rPr sz="950">
                          <a:solidFill>
                            <a:srgbClr val="1C1C2E"/>
                          </a:solidFill>
                        </a:rPr>
                        <a:t>OpenAI GPT-4 Technical Report (2023)</a:t>
                      </a:r>
                    </a:p>
                  </a:txBody>
                  <a:tcPr>
                    <a:solidFill>
                      <a:srgbClr val="E8F4F8"/>
                    </a:solidFill>
                  </a:tcPr>
                </a:tc>
                <a:tc>
                  <a:txBody>
                    <a:bodyPr/>
                    <a:lstStyle/>
                    <a:p>
                      <a:pPr algn="ctr"/>
                      <a:r>
                        <a:rPr sz="950">
                          <a:solidFill>
                            <a:srgbClr val="1C1C2E"/>
                          </a:solidFill>
                        </a:rPr>
                        <a:t>GPT generates contextualised advice from structured prompts</a:t>
                      </a:r>
                    </a:p>
                  </a:txBody>
                  <a:tcPr>
                    <a:solidFill>
                      <a:srgbClr val="E8F4F8"/>
                    </a:solidFill>
                  </a:tcPr>
                </a:tc>
                <a:extLst>
                  <a:ext uri="{0D108BD9-81ED-4DB2-BD59-A6C34878D82A}">
                    <a16:rowId xmlns:a16="http://schemas.microsoft.com/office/drawing/2014/main" val="10007"/>
                  </a:ext>
                </a:extLst>
              </a:tr>
              <a:tr h="384048">
                <a:tc>
                  <a:txBody>
                    <a:bodyPr/>
                    <a:lstStyle/>
                    <a:p>
                      <a:pPr algn="l"/>
                      <a:r>
                        <a:rPr sz="950">
                          <a:solidFill>
                            <a:srgbClr val="1C1C2E"/>
                          </a:solidFill>
                        </a:rPr>
                        <a:t>Drift Detection</a:t>
                      </a:r>
                    </a:p>
                  </a:txBody>
                  <a:tcPr>
                    <a:solidFill>
                      <a:srgbClr val="FFFFFF"/>
                    </a:solidFill>
                  </a:tcPr>
                </a:tc>
                <a:tc>
                  <a:txBody>
                    <a:bodyPr/>
                    <a:lstStyle/>
                    <a:p>
                      <a:pPr algn="ctr"/>
                      <a:r>
                        <a:rPr sz="950">
                          <a:solidFill>
                            <a:srgbClr val="1C1C2E"/>
                          </a:solidFill>
                        </a:rPr>
                        <a:t>Evidently AI (2023)</a:t>
                      </a:r>
                    </a:p>
                  </a:txBody>
                  <a:tcPr>
                    <a:solidFill>
                      <a:srgbClr val="FFFFFF"/>
                    </a:solidFill>
                  </a:tcPr>
                </a:tc>
                <a:tc>
                  <a:txBody>
                    <a:bodyPr/>
                    <a:lstStyle/>
                    <a:p>
                      <a:pPr algn="ctr"/>
                      <a:r>
                        <a:rPr sz="950">
                          <a:solidFill>
                            <a:srgbClr val="1C1C2E"/>
                          </a:solidFill>
                        </a:rPr>
                        <a:t>Statistical tests detect feature/target distribution shift post-deployment</a:t>
                      </a:r>
                    </a:p>
                  </a:txBody>
                  <a:tcPr>
                    <a:solidFill>
                      <a:srgbClr val="FFFFFF"/>
                    </a:solidFill>
                  </a:tcPr>
                </a:tc>
                <a:extLst>
                  <a:ext uri="{0D108BD9-81ED-4DB2-BD59-A6C34878D82A}">
                    <a16:rowId xmlns:a16="http://schemas.microsoft.com/office/drawing/2014/main" val="10008"/>
                  </a:ext>
                </a:extLst>
              </a:tr>
            </a:tbl>
          </a:graphicData>
        </a:graphic>
      </p:graphicFrame>
      <p:sp>
        <p:nvSpPr>
          <p:cNvPr id="8" name="Rectangle 7"/>
          <p:cNvSpPr/>
          <p:nvPr/>
        </p:nvSpPr>
        <p:spPr>
          <a:xfrm>
            <a:off x="320040" y="6126480"/>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6181344"/>
            <a:ext cx="10972800" cy="365760"/>
          </a:xfrm>
          <a:prstGeom prst="rect">
            <a:avLst/>
          </a:prstGeom>
          <a:noFill/>
        </p:spPr>
        <p:txBody>
          <a:bodyPr wrap="square">
            <a:spAutoFit/>
          </a:bodyPr>
          <a:lstStyle/>
          <a:p>
            <a:pPr algn="l"/>
            <a:r>
              <a:rPr sz="1500" b="1" i="0">
                <a:solidFill>
                  <a:srgbClr val="2E86AB"/>
                </a:solidFill>
              </a:rPr>
              <a:t>Research Gap Addressed</a:t>
            </a:r>
          </a:p>
        </p:txBody>
      </p:sp>
      <p:sp>
        <p:nvSpPr>
          <p:cNvPr id="10" name="TextBox 9"/>
          <p:cNvSpPr txBox="1"/>
          <p:nvPr/>
        </p:nvSpPr>
        <p:spPr>
          <a:xfrm>
            <a:off x="320040" y="6473952"/>
            <a:ext cx="11430000" cy="347472"/>
          </a:xfrm>
          <a:prstGeom prst="rect">
            <a:avLst/>
          </a:prstGeom>
          <a:noFill/>
        </p:spPr>
        <p:txBody>
          <a:bodyPr wrap="square">
            <a:spAutoFit/>
          </a:bodyPr>
          <a:lstStyle/>
          <a:p>
            <a:pPr algn="l"/>
            <a:r>
              <a:rPr sz="1050" b="0" i="1">
                <a:solidFill>
                  <a:srgbClr val="5A6A7A"/>
                </a:solidFill>
              </a:rPr>
              <a:t>No prior work combines all three CMIE surveys (INC + POI + CON) with XGBoost + GPT into a real-time, multi-dimensional financial stress advisory system for Indian households.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10972800" cy="685800"/>
          </a:xfrm>
          <a:prstGeom prst="rect">
            <a:avLst/>
          </a:prstGeom>
          <a:noFill/>
        </p:spPr>
        <p:txBody>
          <a:bodyPr wrap="square">
            <a:spAutoFit/>
          </a:bodyPr>
          <a:lstStyle/>
          <a:p>
            <a:pPr algn="l"/>
            <a:r>
              <a:rPr sz="3000" b="1" i="0">
                <a:solidFill>
                  <a:srgbClr val="FFFFFF"/>
                </a:solidFill>
              </a:rPr>
              <a:t>Dataset Description</a:t>
            </a:r>
          </a:p>
        </p:txBody>
      </p:sp>
      <p:sp>
        <p:nvSpPr>
          <p:cNvPr id="5" name="TextBox 4"/>
          <p:cNvSpPr txBox="1"/>
          <p:nvPr/>
        </p:nvSpPr>
        <p:spPr>
          <a:xfrm>
            <a:off x="320040" y="749808"/>
            <a:ext cx="10972800" cy="347472"/>
          </a:xfrm>
          <a:prstGeom prst="rect">
            <a:avLst/>
          </a:prstGeom>
          <a:noFill/>
        </p:spPr>
        <p:txBody>
          <a:bodyPr wrap="square">
            <a:spAutoFit/>
          </a:bodyPr>
          <a:lstStyle/>
          <a:p>
            <a:pPr algn="l"/>
            <a:r>
              <a:rPr sz="1300" b="0" i="0">
                <a:solidFill>
                  <a:srgbClr val="B0C8E0"/>
                </a:solidFill>
              </a:rPr>
              <a:t>CMIE Consumer Pyramids Household Survey</a:t>
            </a:r>
          </a:p>
        </p:txBody>
      </p:sp>
      <p:sp>
        <p:nvSpPr>
          <p:cNvPr id="6" name="TextBox 5"/>
          <p:cNvSpPr txBox="1"/>
          <p:nvPr/>
        </p:nvSpPr>
        <p:spPr>
          <a:xfrm>
            <a:off x="11247120" y="6537960"/>
            <a:ext cx="914400" cy="274320"/>
          </a:xfrm>
          <a:prstGeom prst="rect">
            <a:avLst/>
          </a:prstGeom>
          <a:noFill/>
        </p:spPr>
        <p:txBody>
          <a:bodyPr wrap="square">
            <a:spAutoFit/>
          </a:bodyPr>
          <a:lstStyle/>
          <a:p>
            <a:pPr algn="r"/>
            <a:r>
              <a:rPr sz="900" b="0" i="0">
                <a:solidFill>
                  <a:srgbClr val="90A4AE"/>
                </a:solidFill>
              </a:rPr>
              <a:t>6 / 17</a:t>
            </a:r>
          </a:p>
        </p:txBody>
      </p:sp>
      <p:sp>
        <p:nvSpPr>
          <p:cNvPr id="7" name="Rectangle 6"/>
          <p:cNvSpPr/>
          <p:nvPr/>
        </p:nvSpPr>
        <p:spPr>
          <a:xfrm>
            <a:off x="320040" y="1261872"/>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316736"/>
            <a:ext cx="10972800" cy="365760"/>
          </a:xfrm>
          <a:prstGeom prst="rect">
            <a:avLst/>
          </a:prstGeom>
          <a:noFill/>
        </p:spPr>
        <p:txBody>
          <a:bodyPr wrap="square">
            <a:spAutoFit/>
          </a:bodyPr>
          <a:lstStyle/>
          <a:p>
            <a:pPr algn="l"/>
            <a:r>
              <a:rPr sz="1500" b="1" i="0">
                <a:solidFill>
                  <a:srgbClr val="2E86AB"/>
                </a:solidFill>
              </a:rPr>
              <a:t>Three Interlocked CMIE Surveys</a:t>
            </a:r>
          </a:p>
        </p:txBody>
      </p:sp>
      <p:graphicFrame>
        <p:nvGraphicFramePr>
          <p:cNvPr id="9" name="Table 8"/>
          <p:cNvGraphicFramePr>
            <a:graphicFrameLocks noGrp="1"/>
          </p:cNvGraphicFramePr>
          <p:nvPr/>
        </p:nvGraphicFramePr>
        <p:xfrm>
          <a:off x="320040" y="1664208"/>
          <a:ext cx="11795760" cy="1901952"/>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3474720">
                  <a:extLst>
                    <a:ext uri="{9D8B030D-6E8A-4147-A177-3AD203B41FA5}">
                      <a16:colId xmlns:a16="http://schemas.microsoft.com/office/drawing/2014/main" val="20005"/>
                    </a:ext>
                  </a:extLst>
                </a:gridCol>
              </a:tblGrid>
              <a:tr h="475488">
                <a:tc>
                  <a:txBody>
                    <a:bodyPr/>
                    <a:lstStyle/>
                    <a:p>
                      <a:pPr algn="ctr"/>
                      <a:r>
                        <a:rPr sz="1050" b="1">
                          <a:solidFill>
                            <a:srgbClr val="FFFFFF"/>
                          </a:solidFill>
                        </a:rPr>
                        <a:t>Survey</a:t>
                      </a:r>
                    </a:p>
                  </a:txBody>
                  <a:tcPr>
                    <a:solidFill>
                      <a:srgbClr val="2E86AB"/>
                    </a:solidFill>
                  </a:tcPr>
                </a:tc>
                <a:tc>
                  <a:txBody>
                    <a:bodyPr/>
                    <a:lstStyle/>
                    <a:p>
                      <a:pPr algn="ctr"/>
                      <a:r>
                        <a:rPr sz="1050" b="1">
                          <a:solidFill>
                            <a:srgbClr val="FFFFFF"/>
                          </a:solidFill>
                        </a:rPr>
                        <a:t>Full Name</a:t>
                      </a:r>
                    </a:p>
                  </a:txBody>
                  <a:tcPr>
                    <a:solidFill>
                      <a:srgbClr val="2E86AB"/>
                    </a:solidFill>
                  </a:tcPr>
                </a:tc>
                <a:tc>
                  <a:txBody>
                    <a:bodyPr/>
                    <a:lstStyle/>
                    <a:p>
                      <a:pPr algn="ctr"/>
                      <a:r>
                        <a:rPr sz="1050" b="1">
                          <a:solidFill>
                            <a:srgbClr val="FFFFFF"/>
                          </a:solidFill>
                        </a:rPr>
                        <a:t>Granularity</a:t>
                      </a:r>
                    </a:p>
                  </a:txBody>
                  <a:tcPr>
                    <a:solidFill>
                      <a:srgbClr val="2E86AB"/>
                    </a:solidFill>
                  </a:tcPr>
                </a:tc>
                <a:tc>
                  <a:txBody>
                    <a:bodyPr/>
                    <a:lstStyle/>
                    <a:p>
                      <a:pPr algn="ctr"/>
                      <a:r>
                        <a:rPr sz="1050" b="1">
                          <a:solidFill>
                            <a:srgbClr val="FFFFFF"/>
                          </a:solidFill>
                        </a:rPr>
                        <a:t>Period</a:t>
                      </a:r>
                    </a:p>
                  </a:txBody>
                  <a:tcPr>
                    <a:solidFill>
                      <a:srgbClr val="2E86AB"/>
                    </a:solidFill>
                  </a:tcPr>
                </a:tc>
                <a:tc>
                  <a:txBody>
                    <a:bodyPr/>
                    <a:lstStyle/>
                    <a:p>
                      <a:pPr algn="ctr"/>
                      <a:r>
                        <a:rPr sz="1050" b="1">
                          <a:solidFill>
                            <a:srgbClr val="FFFFFF"/>
                          </a:solidFill>
                        </a:rPr>
                        <a:t>Files</a:t>
                      </a:r>
                    </a:p>
                  </a:txBody>
                  <a:tcPr>
                    <a:solidFill>
                      <a:srgbClr val="2E86AB"/>
                    </a:solidFill>
                  </a:tcPr>
                </a:tc>
                <a:tc>
                  <a:txBody>
                    <a:bodyPr/>
                    <a:lstStyle/>
                    <a:p>
                      <a:pPr algn="ctr"/>
                      <a:r>
                        <a:rPr sz="1050" b="1">
                          <a:solidFill>
                            <a:srgbClr val="FFFFFF"/>
                          </a:solidFill>
                        </a:rPr>
                        <a:t>Key Columns</a:t>
                      </a:r>
                    </a:p>
                  </a:txBody>
                  <a:tcPr>
                    <a:solidFill>
                      <a:srgbClr val="2E86AB"/>
                    </a:solidFill>
                  </a:tcPr>
                </a:tc>
                <a:extLst>
                  <a:ext uri="{0D108BD9-81ED-4DB2-BD59-A6C34878D82A}">
                    <a16:rowId xmlns:a16="http://schemas.microsoft.com/office/drawing/2014/main" val="10000"/>
                  </a:ext>
                </a:extLst>
              </a:tr>
              <a:tr h="475488">
                <a:tc>
                  <a:txBody>
                    <a:bodyPr/>
                    <a:lstStyle/>
                    <a:p>
                      <a:pPr algn="l"/>
                      <a:r>
                        <a:rPr sz="1000">
                          <a:solidFill>
                            <a:srgbClr val="1C1C2E"/>
                          </a:solidFill>
                        </a:rPr>
                        <a:t>INC</a:t>
                      </a:r>
                    </a:p>
                  </a:txBody>
                  <a:tcPr>
                    <a:solidFill>
                      <a:srgbClr val="E8F4F8"/>
                    </a:solidFill>
                  </a:tcPr>
                </a:tc>
                <a:tc>
                  <a:txBody>
                    <a:bodyPr/>
                    <a:lstStyle/>
                    <a:p>
                      <a:pPr algn="ctr"/>
                      <a:r>
                        <a:rPr sz="1000">
                          <a:solidFill>
                            <a:srgbClr val="1C1C2E"/>
                          </a:solidFill>
                        </a:rPr>
                        <a:t>Income Pyramid</a:t>
                      </a:r>
                    </a:p>
                  </a:txBody>
                  <a:tcPr>
                    <a:solidFill>
                      <a:srgbClr val="E8F4F8"/>
                    </a:solidFill>
                  </a:tcPr>
                </a:tc>
                <a:tc>
                  <a:txBody>
                    <a:bodyPr/>
                    <a:lstStyle/>
                    <a:p>
                      <a:pPr algn="ctr"/>
                      <a:r>
                        <a:rPr sz="1000">
                          <a:solidFill>
                            <a:srgbClr val="1C1C2E"/>
                          </a:solidFill>
                        </a:rPr>
                        <a:t>Household × Month</a:t>
                      </a:r>
                    </a:p>
                  </a:txBody>
                  <a:tcPr>
                    <a:solidFill>
                      <a:srgbClr val="E8F4F8"/>
                    </a:solidFill>
                  </a:tcPr>
                </a:tc>
                <a:tc>
                  <a:txBody>
                    <a:bodyPr/>
                    <a:lstStyle/>
                    <a:p>
                      <a:pPr algn="ctr"/>
                      <a:r>
                        <a:rPr sz="1000">
                          <a:solidFill>
                            <a:srgbClr val="1C1C2E"/>
                          </a:solidFill>
                        </a:rPr>
                        <a:t>Jan 2014 – Oct 2025</a:t>
                      </a:r>
                    </a:p>
                  </a:txBody>
                  <a:tcPr>
                    <a:solidFill>
                      <a:srgbClr val="E8F4F8"/>
                    </a:solidFill>
                  </a:tcPr>
                </a:tc>
                <a:tc>
                  <a:txBody>
                    <a:bodyPr/>
                    <a:lstStyle/>
                    <a:p>
                      <a:pPr algn="ctr"/>
                      <a:r>
                        <a:rPr sz="1000">
                          <a:solidFill>
                            <a:srgbClr val="1C1C2E"/>
                          </a:solidFill>
                        </a:rPr>
                        <a:t>142 parquet</a:t>
                      </a:r>
                    </a:p>
                  </a:txBody>
                  <a:tcPr>
                    <a:solidFill>
                      <a:srgbClr val="E8F4F8"/>
                    </a:solidFill>
                  </a:tcPr>
                </a:tc>
                <a:tc>
                  <a:txBody>
                    <a:bodyPr/>
                    <a:lstStyle/>
                    <a:p>
                      <a:pPr algn="ctr"/>
                      <a:r>
                        <a:rPr sz="1000">
                          <a:solidFill>
                            <a:srgbClr val="1C1C2E"/>
                          </a:solidFill>
                        </a:rPr>
                        <a:t>household_id, state, total_income, 5 income sources</a:t>
                      </a:r>
                    </a:p>
                  </a:txBody>
                  <a:tcPr>
                    <a:solidFill>
                      <a:srgbClr val="E8F4F8"/>
                    </a:solidFill>
                  </a:tcPr>
                </a:tc>
                <a:extLst>
                  <a:ext uri="{0D108BD9-81ED-4DB2-BD59-A6C34878D82A}">
                    <a16:rowId xmlns:a16="http://schemas.microsoft.com/office/drawing/2014/main" val="10001"/>
                  </a:ext>
                </a:extLst>
              </a:tr>
              <a:tr h="475488">
                <a:tc>
                  <a:txBody>
                    <a:bodyPr/>
                    <a:lstStyle/>
                    <a:p>
                      <a:pPr algn="l"/>
                      <a:r>
                        <a:rPr sz="1000">
                          <a:solidFill>
                            <a:srgbClr val="1C1C2E"/>
                          </a:solidFill>
                        </a:rPr>
                        <a:t>POI</a:t>
                      </a:r>
                    </a:p>
                  </a:txBody>
                  <a:tcPr>
                    <a:solidFill>
                      <a:srgbClr val="FFFFFF"/>
                    </a:solidFill>
                  </a:tcPr>
                </a:tc>
                <a:tc>
                  <a:txBody>
                    <a:bodyPr/>
                    <a:lstStyle/>
                    <a:p>
                      <a:pPr algn="ctr"/>
                      <a:r>
                        <a:rPr sz="1000">
                          <a:solidFill>
                            <a:srgbClr val="1C1C2E"/>
                          </a:solidFill>
                        </a:rPr>
                        <a:t>People of India</a:t>
                      </a:r>
                    </a:p>
                  </a:txBody>
                  <a:tcPr>
                    <a:solidFill>
                      <a:srgbClr val="FFFFFF"/>
                    </a:solidFill>
                  </a:tcPr>
                </a:tc>
                <a:tc>
                  <a:txBody>
                    <a:bodyPr/>
                    <a:lstStyle/>
                    <a:p>
                      <a:pPr algn="ctr"/>
                      <a:r>
                        <a:rPr sz="1000">
                          <a:solidFill>
                            <a:srgbClr val="1C1C2E"/>
                          </a:solidFill>
                        </a:rPr>
                        <a:t>Person × Quarter</a:t>
                      </a:r>
                    </a:p>
                  </a:txBody>
                  <a:tcPr>
                    <a:solidFill>
                      <a:srgbClr val="FFFFFF"/>
                    </a:solidFill>
                  </a:tcPr>
                </a:tc>
                <a:tc>
                  <a:txBody>
                    <a:bodyPr/>
                    <a:lstStyle/>
                    <a:p>
                      <a:pPr algn="ctr"/>
                      <a:r>
                        <a:rPr sz="1000">
                          <a:solidFill>
                            <a:srgbClr val="1C1C2E"/>
                          </a:solidFill>
                        </a:rPr>
                        <a:t>Q1 2014 – Q4 2025</a:t>
                      </a:r>
                    </a:p>
                  </a:txBody>
                  <a:tcPr>
                    <a:solidFill>
                      <a:srgbClr val="FFFFFF"/>
                    </a:solidFill>
                  </a:tcPr>
                </a:tc>
                <a:tc>
                  <a:txBody>
                    <a:bodyPr/>
                    <a:lstStyle/>
                    <a:p>
                      <a:pPr algn="ctr"/>
                      <a:r>
                        <a:rPr sz="1000">
                          <a:solidFill>
                            <a:srgbClr val="1C1C2E"/>
                          </a:solidFill>
                        </a:rPr>
                        <a:t>36 parquet</a:t>
                      </a:r>
                    </a:p>
                  </a:txBody>
                  <a:tcPr>
                    <a:solidFill>
                      <a:srgbClr val="FFFFFF"/>
                    </a:solidFill>
                  </a:tcPr>
                </a:tc>
                <a:tc>
                  <a:txBody>
                    <a:bodyPr/>
                    <a:lstStyle/>
                    <a:p>
                      <a:pPr algn="ctr"/>
                      <a:r>
                        <a:rPr sz="1000">
                          <a:solidFill>
                            <a:srgbClr val="1C1C2E"/>
                          </a:solidFill>
                        </a:rPr>
                        <a:t>member_id, age, gender, education, health flags</a:t>
                      </a:r>
                    </a:p>
                  </a:txBody>
                  <a:tcPr>
                    <a:solidFill>
                      <a:srgbClr val="FFFFFF"/>
                    </a:solidFill>
                  </a:tcPr>
                </a:tc>
                <a:extLst>
                  <a:ext uri="{0D108BD9-81ED-4DB2-BD59-A6C34878D82A}">
                    <a16:rowId xmlns:a16="http://schemas.microsoft.com/office/drawing/2014/main" val="10002"/>
                  </a:ext>
                </a:extLst>
              </a:tr>
              <a:tr h="475488">
                <a:tc>
                  <a:txBody>
                    <a:bodyPr/>
                    <a:lstStyle/>
                    <a:p>
                      <a:pPr algn="l"/>
                      <a:r>
                        <a:rPr sz="1000">
                          <a:solidFill>
                            <a:srgbClr val="1C1C2E"/>
                          </a:solidFill>
                        </a:rPr>
                        <a:t>CON</a:t>
                      </a:r>
                    </a:p>
                  </a:txBody>
                  <a:tcPr>
                    <a:solidFill>
                      <a:srgbClr val="E8F4F8"/>
                    </a:solidFill>
                  </a:tcPr>
                </a:tc>
                <a:tc>
                  <a:txBody>
                    <a:bodyPr/>
                    <a:lstStyle/>
                    <a:p>
                      <a:pPr algn="ctr"/>
                      <a:r>
                        <a:rPr sz="1000">
                          <a:solidFill>
                            <a:srgbClr val="1C1C2E"/>
                          </a:solidFill>
                        </a:rPr>
                        <a:t>Consumption Pyramid</a:t>
                      </a:r>
                    </a:p>
                  </a:txBody>
                  <a:tcPr>
                    <a:solidFill>
                      <a:srgbClr val="E8F4F8"/>
                    </a:solidFill>
                  </a:tcPr>
                </a:tc>
                <a:tc>
                  <a:txBody>
                    <a:bodyPr/>
                    <a:lstStyle/>
                    <a:p>
                      <a:pPr algn="ctr"/>
                      <a:r>
                        <a:rPr sz="1000">
                          <a:solidFill>
                            <a:srgbClr val="1C1C2E"/>
                          </a:solidFill>
                        </a:rPr>
                        <a:t>Household × Month</a:t>
                      </a:r>
                    </a:p>
                  </a:txBody>
                  <a:tcPr>
                    <a:solidFill>
                      <a:srgbClr val="E8F4F8"/>
                    </a:solidFill>
                  </a:tcPr>
                </a:tc>
                <a:tc>
                  <a:txBody>
                    <a:bodyPr/>
                    <a:lstStyle/>
                    <a:p>
                      <a:pPr algn="ctr"/>
                      <a:r>
                        <a:rPr sz="1000">
                          <a:solidFill>
                            <a:srgbClr val="1C1C2E"/>
                          </a:solidFill>
                        </a:rPr>
                        <a:t>Jan 2014 – Aug 2025</a:t>
                      </a:r>
                    </a:p>
                  </a:txBody>
                  <a:tcPr>
                    <a:solidFill>
                      <a:srgbClr val="E8F4F8"/>
                    </a:solidFill>
                  </a:tcPr>
                </a:tc>
                <a:tc>
                  <a:txBody>
                    <a:bodyPr/>
                    <a:lstStyle/>
                    <a:p>
                      <a:pPr algn="ctr"/>
                      <a:r>
                        <a:rPr sz="1000">
                          <a:solidFill>
                            <a:srgbClr val="1C1C2E"/>
                          </a:solidFill>
                        </a:rPr>
                        <a:t>140 parquet</a:t>
                      </a:r>
                    </a:p>
                  </a:txBody>
                  <a:tcPr>
                    <a:solidFill>
                      <a:srgbClr val="E8F4F8"/>
                    </a:solidFill>
                  </a:tcPr>
                </a:tc>
                <a:tc>
                  <a:txBody>
                    <a:bodyPr/>
                    <a:lstStyle/>
                    <a:p>
                      <a:pPr algn="ctr"/>
                      <a:r>
                        <a:rPr sz="1000">
                          <a:solidFill>
                            <a:srgbClr val="1C1C2E"/>
                          </a:solidFill>
                        </a:rPr>
                        <a:t>household_id, 80+ expenditure columns (ADJ_M_EXP_*)</a:t>
                      </a:r>
                    </a:p>
                  </a:txBody>
                  <a:tcPr>
                    <a:solidFill>
                      <a:srgbClr val="E8F4F8"/>
                    </a:solidFill>
                  </a:tcPr>
                </a:tc>
                <a:extLst>
                  <a:ext uri="{0D108BD9-81ED-4DB2-BD59-A6C34878D82A}">
                    <a16:rowId xmlns:a16="http://schemas.microsoft.com/office/drawing/2014/main" val="10003"/>
                  </a:ext>
                </a:extLst>
              </a:tr>
            </a:tbl>
          </a:graphicData>
        </a:graphic>
      </p:graphicFrame>
      <p:sp>
        <p:nvSpPr>
          <p:cNvPr id="10" name="Rectangle 9"/>
          <p:cNvSpPr/>
          <p:nvPr/>
        </p:nvSpPr>
        <p:spPr>
          <a:xfrm>
            <a:off x="320040" y="3310128"/>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3364992"/>
            <a:ext cx="10972800" cy="365760"/>
          </a:xfrm>
          <a:prstGeom prst="rect">
            <a:avLst/>
          </a:prstGeom>
          <a:noFill/>
        </p:spPr>
        <p:txBody>
          <a:bodyPr wrap="square">
            <a:spAutoFit/>
          </a:bodyPr>
          <a:lstStyle/>
          <a:p>
            <a:pPr algn="l"/>
            <a:r>
              <a:rPr sz="1500" b="1" i="0">
                <a:solidFill>
                  <a:srgbClr val="2E86AB"/>
                </a:solidFill>
              </a:rPr>
              <a:t>Dataset Scale &amp; After Join</a:t>
            </a:r>
          </a:p>
        </p:txBody>
      </p:sp>
      <p:sp>
        <p:nvSpPr>
          <p:cNvPr id="12" name="Rectangle 11"/>
          <p:cNvSpPr/>
          <p:nvPr/>
        </p:nvSpPr>
        <p:spPr>
          <a:xfrm>
            <a:off x="320040" y="3657600"/>
            <a:ext cx="1783080" cy="1005840"/>
          </a:xfrm>
          <a:prstGeom prst="rect">
            <a:avLst/>
          </a:prstGeom>
          <a:solidFill>
            <a:srgbClr val="E3F2FD"/>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0040" y="3703320"/>
            <a:ext cx="1783080" cy="475488"/>
          </a:xfrm>
          <a:prstGeom prst="rect">
            <a:avLst/>
          </a:prstGeom>
          <a:noFill/>
        </p:spPr>
        <p:txBody>
          <a:bodyPr wrap="square">
            <a:spAutoFit/>
          </a:bodyPr>
          <a:lstStyle/>
          <a:p>
            <a:pPr algn="ctr"/>
            <a:r>
              <a:rPr sz="2000" b="1" i="0">
                <a:solidFill>
                  <a:srgbClr val="2E86AB"/>
                </a:solidFill>
              </a:rPr>
              <a:t>~500K</a:t>
            </a:r>
          </a:p>
        </p:txBody>
      </p:sp>
      <p:sp>
        <p:nvSpPr>
          <p:cNvPr id="14" name="TextBox 13"/>
          <p:cNvSpPr txBox="1"/>
          <p:nvPr/>
        </p:nvSpPr>
        <p:spPr>
          <a:xfrm>
            <a:off x="320040" y="4160520"/>
            <a:ext cx="1783080" cy="457200"/>
          </a:xfrm>
          <a:prstGeom prst="rect">
            <a:avLst/>
          </a:prstGeom>
          <a:noFill/>
        </p:spPr>
        <p:txBody>
          <a:bodyPr wrap="square">
            <a:spAutoFit/>
          </a:bodyPr>
          <a:lstStyle/>
          <a:p>
            <a:pPr algn="ctr"/>
            <a:r>
              <a:rPr sz="900" b="0" i="0">
                <a:solidFill>
                  <a:srgbClr val="5A6A7A"/>
                </a:solidFill>
              </a:rPr>
              <a:t>Household-Month
Observations</a:t>
            </a:r>
          </a:p>
        </p:txBody>
      </p:sp>
      <p:sp>
        <p:nvSpPr>
          <p:cNvPr id="15" name="Rectangle 14"/>
          <p:cNvSpPr/>
          <p:nvPr/>
        </p:nvSpPr>
        <p:spPr>
          <a:xfrm>
            <a:off x="2258568" y="3657600"/>
            <a:ext cx="1783080" cy="1005840"/>
          </a:xfrm>
          <a:prstGeom prst="rect">
            <a:avLst/>
          </a:prstGeom>
          <a:solidFill>
            <a:srgbClr val="E3F2FD"/>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258568" y="3703320"/>
            <a:ext cx="1783080" cy="400110"/>
          </a:xfrm>
          <a:prstGeom prst="rect">
            <a:avLst/>
          </a:prstGeom>
          <a:noFill/>
        </p:spPr>
        <p:txBody>
          <a:bodyPr wrap="square">
            <a:spAutoFit/>
          </a:bodyPr>
          <a:lstStyle/>
          <a:p>
            <a:pPr algn="ctr"/>
            <a:r>
              <a:rPr lang="en-IN" sz="2000" b="1" dirty="0">
                <a:solidFill>
                  <a:srgbClr val="2E86AB"/>
                </a:solidFill>
              </a:rPr>
              <a:t>999,880 </a:t>
            </a:r>
            <a:endParaRPr sz="2000" b="1" i="0" dirty="0">
              <a:solidFill>
                <a:srgbClr val="2E86AB"/>
              </a:solidFill>
            </a:endParaRPr>
          </a:p>
        </p:txBody>
      </p:sp>
      <p:sp>
        <p:nvSpPr>
          <p:cNvPr id="17" name="TextBox 16"/>
          <p:cNvSpPr txBox="1"/>
          <p:nvPr/>
        </p:nvSpPr>
        <p:spPr>
          <a:xfrm>
            <a:off x="2258568" y="4160520"/>
            <a:ext cx="1783080" cy="230832"/>
          </a:xfrm>
          <a:prstGeom prst="rect">
            <a:avLst/>
          </a:prstGeom>
          <a:noFill/>
        </p:spPr>
        <p:txBody>
          <a:bodyPr wrap="square">
            <a:spAutoFit/>
          </a:bodyPr>
          <a:lstStyle/>
          <a:p>
            <a:pPr algn="ctr"/>
            <a:r>
              <a:rPr lang="en-IN" sz="900" b="0" i="0" dirty="0">
                <a:solidFill>
                  <a:srgbClr val="5A6A7A"/>
                </a:solidFill>
              </a:rPr>
              <a:t>Data Samples for each 4 stress</a:t>
            </a:r>
          </a:p>
        </p:txBody>
      </p:sp>
      <p:sp>
        <p:nvSpPr>
          <p:cNvPr id="18" name="Rectangle 17"/>
          <p:cNvSpPr/>
          <p:nvPr/>
        </p:nvSpPr>
        <p:spPr>
          <a:xfrm>
            <a:off x="4197096" y="3657600"/>
            <a:ext cx="1783080" cy="1005840"/>
          </a:xfrm>
          <a:prstGeom prst="rect">
            <a:avLst/>
          </a:prstGeom>
          <a:solidFill>
            <a:srgbClr val="E3F2FD"/>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97096" y="3703320"/>
            <a:ext cx="1783080" cy="475488"/>
          </a:xfrm>
          <a:prstGeom prst="rect">
            <a:avLst/>
          </a:prstGeom>
          <a:noFill/>
        </p:spPr>
        <p:txBody>
          <a:bodyPr wrap="square">
            <a:spAutoFit/>
          </a:bodyPr>
          <a:lstStyle/>
          <a:p>
            <a:pPr algn="ctr"/>
            <a:r>
              <a:rPr sz="2000" b="1" i="0">
                <a:solidFill>
                  <a:srgbClr val="2E86AB"/>
                </a:solidFill>
              </a:rPr>
              <a:t>~50</a:t>
            </a:r>
          </a:p>
        </p:txBody>
      </p:sp>
      <p:sp>
        <p:nvSpPr>
          <p:cNvPr id="20" name="TextBox 19"/>
          <p:cNvSpPr txBox="1"/>
          <p:nvPr/>
        </p:nvSpPr>
        <p:spPr>
          <a:xfrm>
            <a:off x="4197096" y="4160520"/>
            <a:ext cx="1783080" cy="457200"/>
          </a:xfrm>
          <a:prstGeom prst="rect">
            <a:avLst/>
          </a:prstGeom>
          <a:noFill/>
        </p:spPr>
        <p:txBody>
          <a:bodyPr wrap="square">
            <a:spAutoFit/>
          </a:bodyPr>
          <a:lstStyle/>
          <a:p>
            <a:pPr algn="ctr"/>
            <a:r>
              <a:rPr sz="900" b="0" i="0" dirty="0">
                <a:solidFill>
                  <a:srgbClr val="5A6A7A"/>
                </a:solidFill>
              </a:rPr>
              <a:t>Feature Columns
After Join</a:t>
            </a:r>
          </a:p>
        </p:txBody>
      </p:sp>
      <p:sp>
        <p:nvSpPr>
          <p:cNvPr id="21" name="Rectangle 20"/>
          <p:cNvSpPr/>
          <p:nvPr/>
        </p:nvSpPr>
        <p:spPr>
          <a:xfrm>
            <a:off x="6135624" y="3657600"/>
            <a:ext cx="1783080" cy="1005840"/>
          </a:xfrm>
          <a:prstGeom prst="rect">
            <a:avLst/>
          </a:prstGeom>
          <a:solidFill>
            <a:srgbClr val="E3F2FD"/>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35624" y="3703320"/>
            <a:ext cx="1783080" cy="475488"/>
          </a:xfrm>
          <a:prstGeom prst="rect">
            <a:avLst/>
          </a:prstGeom>
          <a:noFill/>
        </p:spPr>
        <p:txBody>
          <a:bodyPr wrap="square">
            <a:spAutoFit/>
          </a:bodyPr>
          <a:lstStyle/>
          <a:p>
            <a:pPr algn="ctr"/>
            <a:r>
              <a:rPr sz="2000" b="1" i="0">
                <a:solidFill>
                  <a:srgbClr val="2E86AB"/>
                </a:solidFill>
              </a:rPr>
              <a:t>11 Years</a:t>
            </a:r>
          </a:p>
        </p:txBody>
      </p:sp>
      <p:sp>
        <p:nvSpPr>
          <p:cNvPr id="23" name="TextBox 22"/>
          <p:cNvSpPr txBox="1"/>
          <p:nvPr/>
        </p:nvSpPr>
        <p:spPr>
          <a:xfrm>
            <a:off x="6135624" y="4160520"/>
            <a:ext cx="1783080" cy="457200"/>
          </a:xfrm>
          <a:prstGeom prst="rect">
            <a:avLst/>
          </a:prstGeom>
          <a:noFill/>
        </p:spPr>
        <p:txBody>
          <a:bodyPr wrap="square">
            <a:spAutoFit/>
          </a:bodyPr>
          <a:lstStyle/>
          <a:p>
            <a:pPr algn="ctr"/>
            <a:r>
              <a:rPr sz="900" b="0" i="0" dirty="0">
                <a:solidFill>
                  <a:srgbClr val="5A6A7A"/>
                </a:solidFill>
              </a:rPr>
              <a:t>Longitudinal
Coverage</a:t>
            </a:r>
          </a:p>
        </p:txBody>
      </p:sp>
      <p:sp>
        <p:nvSpPr>
          <p:cNvPr id="24" name="Rectangle 23"/>
          <p:cNvSpPr/>
          <p:nvPr/>
        </p:nvSpPr>
        <p:spPr>
          <a:xfrm>
            <a:off x="8074152" y="3657600"/>
            <a:ext cx="1783080" cy="1005840"/>
          </a:xfrm>
          <a:prstGeom prst="rect">
            <a:avLst/>
          </a:prstGeom>
          <a:solidFill>
            <a:srgbClr val="E3F2FD"/>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74152" y="3703320"/>
            <a:ext cx="1783080" cy="475488"/>
          </a:xfrm>
          <a:prstGeom prst="rect">
            <a:avLst/>
          </a:prstGeom>
          <a:noFill/>
        </p:spPr>
        <p:txBody>
          <a:bodyPr wrap="square">
            <a:spAutoFit/>
          </a:bodyPr>
          <a:lstStyle/>
          <a:p>
            <a:pPr algn="ctr"/>
            <a:r>
              <a:rPr sz="2000" b="1" i="0">
                <a:solidFill>
                  <a:srgbClr val="2E86AB"/>
                </a:solidFill>
              </a:rPr>
              <a:t>28+</a:t>
            </a:r>
          </a:p>
        </p:txBody>
      </p:sp>
      <p:sp>
        <p:nvSpPr>
          <p:cNvPr id="26" name="TextBox 25"/>
          <p:cNvSpPr txBox="1"/>
          <p:nvPr/>
        </p:nvSpPr>
        <p:spPr>
          <a:xfrm>
            <a:off x="8074152" y="4160520"/>
            <a:ext cx="1783080" cy="457200"/>
          </a:xfrm>
          <a:prstGeom prst="rect">
            <a:avLst/>
          </a:prstGeom>
          <a:noFill/>
        </p:spPr>
        <p:txBody>
          <a:bodyPr wrap="square">
            <a:spAutoFit/>
          </a:bodyPr>
          <a:lstStyle/>
          <a:p>
            <a:pPr algn="ctr"/>
            <a:r>
              <a:rPr sz="900" b="0" i="0">
                <a:solidFill>
                  <a:srgbClr val="5A6A7A"/>
                </a:solidFill>
              </a:rPr>
              <a:t>States/UTs
Represented</a:t>
            </a:r>
          </a:p>
        </p:txBody>
      </p:sp>
      <p:sp>
        <p:nvSpPr>
          <p:cNvPr id="27" name="Rectangle 26"/>
          <p:cNvSpPr/>
          <p:nvPr/>
        </p:nvSpPr>
        <p:spPr>
          <a:xfrm>
            <a:off x="10012680" y="3657600"/>
            <a:ext cx="1783080" cy="1005840"/>
          </a:xfrm>
          <a:prstGeom prst="rect">
            <a:avLst/>
          </a:prstGeom>
          <a:solidFill>
            <a:srgbClr val="E3F2FD"/>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012680" y="3703320"/>
            <a:ext cx="1783080" cy="475488"/>
          </a:xfrm>
          <a:prstGeom prst="rect">
            <a:avLst/>
          </a:prstGeom>
          <a:noFill/>
        </p:spPr>
        <p:txBody>
          <a:bodyPr wrap="square">
            <a:spAutoFit/>
          </a:bodyPr>
          <a:lstStyle/>
          <a:p>
            <a:pPr algn="ctr"/>
            <a:r>
              <a:rPr sz="2000" b="1" i="0">
                <a:solidFill>
                  <a:srgbClr val="2E86AB"/>
                </a:solidFill>
              </a:rPr>
              <a:t>4</a:t>
            </a:r>
          </a:p>
        </p:txBody>
      </p:sp>
      <p:sp>
        <p:nvSpPr>
          <p:cNvPr id="29" name="TextBox 28"/>
          <p:cNvSpPr txBox="1"/>
          <p:nvPr/>
        </p:nvSpPr>
        <p:spPr>
          <a:xfrm>
            <a:off x="10012680" y="4160520"/>
            <a:ext cx="1783080" cy="457200"/>
          </a:xfrm>
          <a:prstGeom prst="rect">
            <a:avLst/>
          </a:prstGeom>
          <a:noFill/>
        </p:spPr>
        <p:txBody>
          <a:bodyPr wrap="square">
            <a:spAutoFit/>
          </a:bodyPr>
          <a:lstStyle/>
          <a:p>
            <a:pPr algn="ctr"/>
            <a:r>
              <a:rPr sz="900" b="0" i="0">
                <a:solidFill>
                  <a:srgbClr val="5A6A7A"/>
                </a:solidFill>
              </a:rPr>
              <a:t>Stress Labels
(Binary Targets)</a:t>
            </a:r>
          </a:p>
        </p:txBody>
      </p:sp>
      <p:sp>
        <p:nvSpPr>
          <p:cNvPr id="30" name="Rectangle 29"/>
          <p:cNvSpPr/>
          <p:nvPr/>
        </p:nvSpPr>
        <p:spPr>
          <a:xfrm>
            <a:off x="320040" y="4846320"/>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20040" y="4901183"/>
            <a:ext cx="10972800" cy="365760"/>
          </a:xfrm>
          <a:prstGeom prst="rect">
            <a:avLst/>
          </a:prstGeom>
          <a:noFill/>
        </p:spPr>
        <p:txBody>
          <a:bodyPr wrap="square">
            <a:spAutoFit/>
          </a:bodyPr>
          <a:lstStyle/>
          <a:p>
            <a:pPr algn="l"/>
            <a:r>
              <a:rPr sz="1500" b="1" i="0">
                <a:solidFill>
                  <a:srgbClr val="2E86AB"/>
                </a:solidFill>
              </a:rPr>
              <a:t>Sentinel Values &amp; Data Quality</a:t>
            </a:r>
          </a:p>
        </p:txBody>
      </p:sp>
      <p:sp>
        <p:nvSpPr>
          <p:cNvPr id="32" name="Rectangle 31"/>
          <p:cNvSpPr/>
          <p:nvPr/>
        </p:nvSpPr>
        <p:spPr>
          <a:xfrm>
            <a:off x="320040" y="5193792"/>
            <a:ext cx="11430000" cy="1572768"/>
          </a:xfrm>
          <a:prstGeom prst="rect">
            <a:avLst/>
          </a:prstGeom>
          <a:solidFill>
            <a:srgbClr val="E3F2FD"/>
          </a:solidFill>
          <a:ln w="1524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29768" y="5266944"/>
            <a:ext cx="11210544" cy="1435608"/>
          </a:xfrm>
          <a:prstGeom prst="rect">
            <a:avLst/>
          </a:prstGeom>
          <a:noFill/>
        </p:spPr>
        <p:txBody>
          <a:bodyPr wrap="square">
            <a:spAutoFit/>
          </a:bodyPr>
          <a:lstStyle/>
          <a:p>
            <a:pPr>
              <a:spcBef>
                <a:spcPts val="200"/>
              </a:spcBef>
            </a:pPr>
            <a:r>
              <a:rPr sz="1050">
                <a:solidFill>
                  <a:srgbClr val="1C1C2E"/>
                </a:solidFill>
              </a:rPr>
              <a:t>• INC / CON: Sentinel −99 → replaced with NaN during cleaning</a:t>
            </a:r>
          </a:p>
          <a:p>
            <a:pPr>
              <a:spcBef>
                <a:spcPts val="200"/>
              </a:spcBef>
            </a:pPr>
            <a:r>
              <a:rPr sz="1050">
                <a:solidFill>
                  <a:srgbClr val="1C1C2E"/>
                </a:solidFill>
              </a:rPr>
              <a:t>• POI: Sentinel −100 for age_years → replaced with NaN</a:t>
            </a:r>
          </a:p>
          <a:p>
            <a:pPr>
              <a:spcBef>
                <a:spcPts val="200"/>
              </a:spcBef>
            </a:pPr>
            <a:r>
              <a:rPr sz="1050">
                <a:solidFill>
                  <a:srgbClr val="1C1C2E"/>
                </a:solidFill>
              </a:rPr>
              <a:t>• String nulls: 'Data Not Available', 'DK', 'Not Applicable' → NaN</a:t>
            </a:r>
          </a:p>
          <a:p>
            <a:pPr>
              <a:spcBef>
                <a:spcPts val="200"/>
              </a:spcBef>
            </a:pPr>
            <a:r>
              <a:rPr sz="1050">
                <a:solidFill>
                  <a:srgbClr val="1C1C2E"/>
                </a:solidFill>
              </a:rPr>
              <a:t>• Only rows with response_status == 'Accepted' are retained (~80–90% of raw rows)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10972800" cy="685800"/>
          </a:xfrm>
          <a:prstGeom prst="rect">
            <a:avLst/>
          </a:prstGeom>
          <a:noFill/>
        </p:spPr>
        <p:txBody>
          <a:bodyPr wrap="square">
            <a:spAutoFit/>
          </a:bodyPr>
          <a:lstStyle/>
          <a:p>
            <a:pPr algn="l"/>
            <a:r>
              <a:rPr sz="3000" b="1" i="0">
                <a:solidFill>
                  <a:srgbClr val="FFFFFF"/>
                </a:solidFill>
              </a:rPr>
              <a:t>Data Preprocessing</a:t>
            </a:r>
          </a:p>
        </p:txBody>
      </p:sp>
      <p:sp>
        <p:nvSpPr>
          <p:cNvPr id="5" name="TextBox 4"/>
          <p:cNvSpPr txBox="1"/>
          <p:nvPr/>
        </p:nvSpPr>
        <p:spPr>
          <a:xfrm>
            <a:off x="320040" y="749808"/>
            <a:ext cx="10972800" cy="347472"/>
          </a:xfrm>
          <a:prstGeom prst="rect">
            <a:avLst/>
          </a:prstGeom>
          <a:noFill/>
        </p:spPr>
        <p:txBody>
          <a:bodyPr wrap="square">
            <a:spAutoFit/>
          </a:bodyPr>
          <a:lstStyle/>
          <a:p>
            <a:pPr algn="l"/>
            <a:r>
              <a:rPr sz="1300" b="0" i="0">
                <a:solidFill>
                  <a:srgbClr val="B0C8E0"/>
                </a:solidFill>
              </a:rPr>
              <a:t>From Raw CMIE Parquets to Clean Joined Dataset</a:t>
            </a:r>
          </a:p>
        </p:txBody>
      </p:sp>
      <p:sp>
        <p:nvSpPr>
          <p:cNvPr id="6" name="TextBox 5"/>
          <p:cNvSpPr txBox="1"/>
          <p:nvPr/>
        </p:nvSpPr>
        <p:spPr>
          <a:xfrm>
            <a:off x="11247120" y="6537960"/>
            <a:ext cx="914400" cy="274320"/>
          </a:xfrm>
          <a:prstGeom prst="rect">
            <a:avLst/>
          </a:prstGeom>
          <a:noFill/>
        </p:spPr>
        <p:txBody>
          <a:bodyPr wrap="square">
            <a:spAutoFit/>
          </a:bodyPr>
          <a:lstStyle/>
          <a:p>
            <a:pPr algn="r"/>
            <a:r>
              <a:rPr sz="900" b="0" i="0">
                <a:solidFill>
                  <a:srgbClr val="90A4AE"/>
                </a:solidFill>
              </a:rPr>
              <a:t>7 / 17</a:t>
            </a:r>
          </a:p>
        </p:txBody>
      </p:sp>
      <p:sp>
        <p:nvSpPr>
          <p:cNvPr id="7" name="Rectangle 6"/>
          <p:cNvSpPr/>
          <p:nvPr/>
        </p:nvSpPr>
        <p:spPr>
          <a:xfrm>
            <a:off x="320040" y="1261872"/>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316736"/>
            <a:ext cx="10972800" cy="365760"/>
          </a:xfrm>
          <a:prstGeom prst="rect">
            <a:avLst/>
          </a:prstGeom>
          <a:noFill/>
        </p:spPr>
        <p:txBody>
          <a:bodyPr wrap="square">
            <a:spAutoFit/>
          </a:bodyPr>
          <a:lstStyle/>
          <a:p>
            <a:pPr algn="l"/>
            <a:r>
              <a:rPr sz="1500" b="1" i="0">
                <a:solidFill>
                  <a:srgbClr val="2E86AB"/>
                </a:solidFill>
              </a:rPr>
              <a:t>Step-by-Step Pipeline</a:t>
            </a:r>
          </a:p>
        </p:txBody>
      </p:sp>
      <p:sp>
        <p:nvSpPr>
          <p:cNvPr id="9" name="Rectangle 8"/>
          <p:cNvSpPr/>
          <p:nvPr/>
        </p:nvSpPr>
        <p:spPr>
          <a:xfrm>
            <a:off x="320040" y="1664208"/>
            <a:ext cx="5486400" cy="43891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79" y="1682496"/>
            <a:ext cx="5303520" cy="411480"/>
          </a:xfrm>
          <a:prstGeom prst="rect">
            <a:avLst/>
          </a:prstGeom>
          <a:noFill/>
        </p:spPr>
        <p:txBody>
          <a:bodyPr wrap="square">
            <a:spAutoFit/>
          </a:bodyPr>
          <a:lstStyle/>
          <a:p>
            <a:pPr algn="l"/>
            <a:r>
              <a:rPr sz="1200" b="1" i="0">
                <a:solidFill>
                  <a:srgbClr val="FFFFFF"/>
                </a:solidFill>
              </a:rPr>
              <a:t>Step 1
01_clean_data.py</a:t>
            </a:r>
          </a:p>
        </p:txBody>
      </p:sp>
      <p:sp>
        <p:nvSpPr>
          <p:cNvPr id="11" name="Rectangle 10"/>
          <p:cNvSpPr/>
          <p:nvPr/>
        </p:nvSpPr>
        <p:spPr>
          <a:xfrm>
            <a:off x="411479" y="2176272"/>
            <a:ext cx="228600" cy="2286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2157984"/>
            <a:ext cx="5029200" cy="457200"/>
          </a:xfrm>
          <a:prstGeom prst="rect">
            <a:avLst/>
          </a:prstGeom>
          <a:noFill/>
        </p:spPr>
        <p:txBody>
          <a:bodyPr wrap="square">
            <a:spAutoFit/>
          </a:bodyPr>
          <a:lstStyle/>
          <a:p>
            <a:pPr algn="l"/>
            <a:r>
              <a:rPr sz="1050" b="0" i="0">
                <a:solidFill>
                  <a:srgbClr val="1C1C2E"/>
                </a:solidFill>
              </a:rPr>
              <a:t>Filter: keep only Accepted responses</a:t>
            </a:r>
          </a:p>
        </p:txBody>
      </p:sp>
      <p:sp>
        <p:nvSpPr>
          <p:cNvPr id="13" name="Rectangle 12"/>
          <p:cNvSpPr/>
          <p:nvPr/>
        </p:nvSpPr>
        <p:spPr>
          <a:xfrm>
            <a:off x="411479" y="2679191"/>
            <a:ext cx="228600" cy="228600"/>
          </a:xfrm>
          <a:prstGeom prst="rect">
            <a:avLst/>
          </a:prstGeom>
          <a:solidFill>
            <a:srgbClr val="90C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2660904"/>
            <a:ext cx="5029200" cy="457200"/>
          </a:xfrm>
          <a:prstGeom prst="rect">
            <a:avLst/>
          </a:prstGeom>
          <a:noFill/>
        </p:spPr>
        <p:txBody>
          <a:bodyPr wrap="square">
            <a:spAutoFit/>
          </a:bodyPr>
          <a:lstStyle/>
          <a:p>
            <a:pPr algn="l"/>
            <a:r>
              <a:rPr sz="1050" b="0" i="0">
                <a:solidFill>
                  <a:srgbClr val="1C1C2E"/>
                </a:solidFill>
              </a:rPr>
              <a:t>Replace sentinels (-99/-100) → NaN</a:t>
            </a:r>
          </a:p>
        </p:txBody>
      </p:sp>
      <p:sp>
        <p:nvSpPr>
          <p:cNvPr id="15" name="Rectangle 14"/>
          <p:cNvSpPr/>
          <p:nvPr/>
        </p:nvSpPr>
        <p:spPr>
          <a:xfrm>
            <a:off x="411479" y="3182112"/>
            <a:ext cx="228600" cy="2286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163824"/>
            <a:ext cx="5029200" cy="457200"/>
          </a:xfrm>
          <a:prstGeom prst="rect">
            <a:avLst/>
          </a:prstGeom>
          <a:noFill/>
        </p:spPr>
        <p:txBody>
          <a:bodyPr wrap="square">
            <a:spAutoFit/>
          </a:bodyPr>
          <a:lstStyle/>
          <a:p>
            <a:pPr algn="l"/>
            <a:r>
              <a:rPr sz="1050" b="0" i="0">
                <a:solidFill>
                  <a:srgbClr val="1C1C2E"/>
                </a:solidFill>
              </a:rPr>
              <a:t>Binary encode Y/N columns → Int64</a:t>
            </a:r>
          </a:p>
        </p:txBody>
      </p:sp>
      <p:sp>
        <p:nvSpPr>
          <p:cNvPr id="17" name="Rectangle 16"/>
          <p:cNvSpPr/>
          <p:nvPr/>
        </p:nvSpPr>
        <p:spPr>
          <a:xfrm>
            <a:off x="411479" y="3685032"/>
            <a:ext cx="228600" cy="228600"/>
          </a:xfrm>
          <a:prstGeom prst="rect">
            <a:avLst/>
          </a:prstGeom>
          <a:solidFill>
            <a:srgbClr val="90C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3666744"/>
            <a:ext cx="5029200" cy="457200"/>
          </a:xfrm>
          <a:prstGeom prst="rect">
            <a:avLst/>
          </a:prstGeom>
          <a:noFill/>
        </p:spPr>
        <p:txBody>
          <a:bodyPr wrap="square">
            <a:spAutoFit/>
          </a:bodyPr>
          <a:lstStyle/>
          <a:p>
            <a:pPr algn="l"/>
            <a:r>
              <a:rPr sz="1050" b="0" i="0">
                <a:solidFill>
                  <a:srgbClr val="1C1C2E"/>
                </a:solidFill>
              </a:rPr>
              <a:t>Parse month_slot → datetime64</a:t>
            </a:r>
          </a:p>
        </p:txBody>
      </p:sp>
      <p:sp>
        <p:nvSpPr>
          <p:cNvPr id="19" name="Rectangle 18"/>
          <p:cNvSpPr/>
          <p:nvPr/>
        </p:nvSpPr>
        <p:spPr>
          <a:xfrm>
            <a:off x="411479" y="4187952"/>
            <a:ext cx="228600" cy="2286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4169664"/>
            <a:ext cx="5029200" cy="457200"/>
          </a:xfrm>
          <a:prstGeom prst="rect">
            <a:avLst/>
          </a:prstGeom>
          <a:noFill/>
        </p:spPr>
        <p:txBody>
          <a:bodyPr wrap="square">
            <a:spAutoFit/>
          </a:bodyPr>
          <a:lstStyle/>
          <a:p>
            <a:pPr algn="l"/>
            <a:r>
              <a:rPr sz="1050" b="0" i="0">
                <a:solidFill>
                  <a:srgbClr val="1C1C2E"/>
                </a:solidFill>
              </a:rPr>
              <a:t>Rename CON columns to readable names</a:t>
            </a:r>
          </a:p>
        </p:txBody>
      </p:sp>
      <p:sp>
        <p:nvSpPr>
          <p:cNvPr id="21" name="Rectangle 20"/>
          <p:cNvSpPr/>
          <p:nvPr/>
        </p:nvSpPr>
        <p:spPr>
          <a:xfrm>
            <a:off x="411479" y="4690872"/>
            <a:ext cx="228600" cy="228600"/>
          </a:xfrm>
          <a:prstGeom prst="rect">
            <a:avLst/>
          </a:prstGeom>
          <a:solidFill>
            <a:srgbClr val="90C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4672583"/>
            <a:ext cx="5029200" cy="457200"/>
          </a:xfrm>
          <a:prstGeom prst="rect">
            <a:avLst/>
          </a:prstGeom>
          <a:noFill/>
        </p:spPr>
        <p:txBody>
          <a:bodyPr wrap="square">
            <a:spAutoFit/>
          </a:bodyPr>
          <a:lstStyle/>
          <a:p>
            <a:pPr algn="l"/>
            <a:r>
              <a:rPr sz="1050" b="0" i="0">
                <a:solidFill>
                  <a:srgbClr val="1C1C2E"/>
                </a:solidFill>
              </a:rPr>
              <a:t>Drop admin/weight columns</a:t>
            </a:r>
          </a:p>
        </p:txBody>
      </p:sp>
      <p:sp>
        <p:nvSpPr>
          <p:cNvPr id="23" name="Rectangle 22"/>
          <p:cNvSpPr/>
          <p:nvPr/>
        </p:nvSpPr>
        <p:spPr>
          <a:xfrm>
            <a:off x="6126479" y="1664208"/>
            <a:ext cx="5486400" cy="43891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17919" y="1682496"/>
            <a:ext cx="5303520" cy="411480"/>
          </a:xfrm>
          <a:prstGeom prst="rect">
            <a:avLst/>
          </a:prstGeom>
          <a:noFill/>
        </p:spPr>
        <p:txBody>
          <a:bodyPr wrap="square">
            <a:spAutoFit/>
          </a:bodyPr>
          <a:lstStyle/>
          <a:p>
            <a:pPr algn="l"/>
            <a:r>
              <a:rPr sz="1200" b="1" i="0">
                <a:solidFill>
                  <a:srgbClr val="FFFFFF"/>
                </a:solidFill>
              </a:rPr>
              <a:t>Step 2
02_build_household.py</a:t>
            </a:r>
          </a:p>
        </p:txBody>
      </p:sp>
      <p:sp>
        <p:nvSpPr>
          <p:cNvPr id="25" name="Rectangle 24"/>
          <p:cNvSpPr/>
          <p:nvPr/>
        </p:nvSpPr>
        <p:spPr>
          <a:xfrm>
            <a:off x="6217919" y="2176272"/>
            <a:ext cx="228600" cy="2286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37959" y="2157984"/>
            <a:ext cx="5029200" cy="457200"/>
          </a:xfrm>
          <a:prstGeom prst="rect">
            <a:avLst/>
          </a:prstGeom>
          <a:noFill/>
        </p:spPr>
        <p:txBody>
          <a:bodyPr wrap="square">
            <a:spAutoFit/>
          </a:bodyPr>
          <a:lstStyle/>
          <a:p>
            <a:pPr algn="l"/>
            <a:r>
              <a:rPr sz="1050" b="0" i="0">
                <a:solidFill>
                  <a:srgbClr val="1C1C2E"/>
                </a:solidFill>
              </a:rPr>
              <a:t>Aggregate POI person→household level</a:t>
            </a:r>
          </a:p>
        </p:txBody>
      </p:sp>
      <p:sp>
        <p:nvSpPr>
          <p:cNvPr id="27" name="Rectangle 26"/>
          <p:cNvSpPr/>
          <p:nvPr/>
        </p:nvSpPr>
        <p:spPr>
          <a:xfrm>
            <a:off x="6217919" y="2679191"/>
            <a:ext cx="228600" cy="228600"/>
          </a:xfrm>
          <a:prstGeom prst="rect">
            <a:avLst/>
          </a:prstGeom>
          <a:solidFill>
            <a:srgbClr val="90C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37959" y="2660904"/>
            <a:ext cx="5029200" cy="457200"/>
          </a:xfrm>
          <a:prstGeom prst="rect">
            <a:avLst/>
          </a:prstGeom>
          <a:noFill/>
        </p:spPr>
        <p:txBody>
          <a:bodyPr wrap="square">
            <a:spAutoFit/>
          </a:bodyPr>
          <a:lstStyle/>
          <a:p>
            <a:pPr algn="l"/>
            <a:r>
              <a:rPr sz="1050" b="0" i="0">
                <a:solidFill>
                  <a:srgbClr val="1C1C2E"/>
                </a:solidFill>
              </a:rPr>
              <a:t>Inner join INC × CON on HH+month</a:t>
            </a:r>
          </a:p>
        </p:txBody>
      </p:sp>
      <p:sp>
        <p:nvSpPr>
          <p:cNvPr id="29" name="Rectangle 28"/>
          <p:cNvSpPr/>
          <p:nvPr/>
        </p:nvSpPr>
        <p:spPr>
          <a:xfrm>
            <a:off x="6217919" y="3182112"/>
            <a:ext cx="228600" cy="2286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37959" y="3163824"/>
            <a:ext cx="5029200" cy="457200"/>
          </a:xfrm>
          <a:prstGeom prst="rect">
            <a:avLst/>
          </a:prstGeom>
          <a:noFill/>
        </p:spPr>
        <p:txBody>
          <a:bodyPr wrap="square">
            <a:spAutoFit/>
          </a:bodyPr>
          <a:lstStyle/>
          <a:p>
            <a:pPr algn="l"/>
            <a:r>
              <a:rPr sz="1050" b="0" i="0">
                <a:solidFill>
                  <a:srgbClr val="1C1C2E"/>
                </a:solidFill>
              </a:rPr>
              <a:t>Left join with POI aggregated data</a:t>
            </a:r>
          </a:p>
        </p:txBody>
      </p:sp>
      <p:sp>
        <p:nvSpPr>
          <p:cNvPr id="31" name="Rectangle 30"/>
          <p:cNvSpPr/>
          <p:nvPr/>
        </p:nvSpPr>
        <p:spPr>
          <a:xfrm>
            <a:off x="6217919" y="3685032"/>
            <a:ext cx="228600" cy="228600"/>
          </a:xfrm>
          <a:prstGeom prst="rect">
            <a:avLst/>
          </a:prstGeom>
          <a:solidFill>
            <a:srgbClr val="90C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37959" y="3666744"/>
            <a:ext cx="5029200" cy="457200"/>
          </a:xfrm>
          <a:prstGeom prst="rect">
            <a:avLst/>
          </a:prstGeom>
          <a:noFill/>
        </p:spPr>
        <p:txBody>
          <a:bodyPr wrap="square">
            <a:spAutoFit/>
          </a:bodyPr>
          <a:lstStyle/>
          <a:p>
            <a:pPr algn="l"/>
            <a:r>
              <a:rPr sz="1050" b="0" i="0">
                <a:solidFill>
                  <a:srgbClr val="1C1C2E"/>
                </a:solidFill>
              </a:rPr>
              <a:t>Compute 4 stress labels</a:t>
            </a:r>
          </a:p>
        </p:txBody>
      </p:sp>
      <p:sp>
        <p:nvSpPr>
          <p:cNvPr id="33" name="Rectangle 32"/>
          <p:cNvSpPr/>
          <p:nvPr/>
        </p:nvSpPr>
        <p:spPr>
          <a:xfrm>
            <a:off x="6217919" y="4187952"/>
            <a:ext cx="228600" cy="2286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37959" y="4169664"/>
            <a:ext cx="5029200" cy="457200"/>
          </a:xfrm>
          <a:prstGeom prst="rect">
            <a:avLst/>
          </a:prstGeom>
          <a:noFill/>
        </p:spPr>
        <p:txBody>
          <a:bodyPr wrap="square">
            <a:spAutoFit/>
          </a:bodyPr>
          <a:lstStyle/>
          <a:p>
            <a:pPr algn="l"/>
            <a:r>
              <a:rPr sz="1050" b="0" i="0">
                <a:solidFill>
                  <a:srgbClr val="1C1C2E"/>
                </a:solidFill>
              </a:rPr>
              <a:t>Engineer 7 ratio features</a:t>
            </a:r>
          </a:p>
        </p:txBody>
      </p:sp>
      <p:sp>
        <p:nvSpPr>
          <p:cNvPr id="35" name="Rectangle 34"/>
          <p:cNvSpPr/>
          <p:nvPr/>
        </p:nvSpPr>
        <p:spPr>
          <a:xfrm>
            <a:off x="6217919" y="4690872"/>
            <a:ext cx="228600" cy="228600"/>
          </a:xfrm>
          <a:prstGeom prst="rect">
            <a:avLst/>
          </a:prstGeom>
          <a:solidFill>
            <a:srgbClr val="90C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37959" y="4672583"/>
            <a:ext cx="5029200" cy="457200"/>
          </a:xfrm>
          <a:prstGeom prst="rect">
            <a:avLst/>
          </a:prstGeom>
          <a:noFill/>
        </p:spPr>
        <p:txBody>
          <a:bodyPr wrap="square">
            <a:spAutoFit/>
          </a:bodyPr>
          <a:lstStyle/>
          <a:p>
            <a:pPr algn="l"/>
            <a:r>
              <a:rPr sz="1050" b="0" i="0">
                <a:solidFill>
                  <a:srgbClr val="1C1C2E"/>
                </a:solidFill>
              </a:rPr>
              <a:t>Drop leakage columns (total_income, total_exp)</a:t>
            </a:r>
          </a:p>
        </p:txBody>
      </p:sp>
      <p:sp>
        <p:nvSpPr>
          <p:cNvPr id="37" name="Rectangle 36"/>
          <p:cNvSpPr/>
          <p:nvPr/>
        </p:nvSpPr>
        <p:spPr>
          <a:xfrm>
            <a:off x="320040" y="5230368"/>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20040" y="5285231"/>
            <a:ext cx="10972800" cy="365760"/>
          </a:xfrm>
          <a:prstGeom prst="rect">
            <a:avLst/>
          </a:prstGeom>
          <a:noFill/>
        </p:spPr>
        <p:txBody>
          <a:bodyPr wrap="square">
            <a:spAutoFit/>
          </a:bodyPr>
          <a:lstStyle/>
          <a:p>
            <a:pPr algn="l"/>
            <a:r>
              <a:rPr sz="1500" b="1" i="0">
                <a:solidFill>
                  <a:srgbClr val="2E86AB"/>
                </a:solidFill>
              </a:rPr>
              <a:t>Raw vs Processed Data Comparison</a:t>
            </a:r>
          </a:p>
        </p:txBody>
      </p:sp>
      <p:graphicFrame>
        <p:nvGraphicFramePr>
          <p:cNvPr id="39" name="Table 38"/>
          <p:cNvGraphicFramePr>
            <a:graphicFrameLocks noGrp="1"/>
          </p:cNvGraphicFramePr>
          <p:nvPr/>
        </p:nvGraphicFramePr>
        <p:xfrm>
          <a:off x="320040" y="5559552"/>
          <a:ext cx="11567160" cy="2304288"/>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892040">
                  <a:extLst>
                    <a:ext uri="{9D8B030D-6E8A-4147-A177-3AD203B41FA5}">
                      <a16:colId xmlns:a16="http://schemas.microsoft.com/office/drawing/2014/main" val="20002"/>
                    </a:ext>
                  </a:extLst>
                </a:gridCol>
              </a:tblGrid>
              <a:tr h="329184">
                <a:tc>
                  <a:txBody>
                    <a:bodyPr/>
                    <a:lstStyle/>
                    <a:p>
                      <a:pPr algn="ctr"/>
                      <a:r>
                        <a:rPr sz="1000" b="1">
                          <a:solidFill>
                            <a:srgbClr val="FFFFFF"/>
                          </a:solidFill>
                        </a:rPr>
                        <a:t>Aspect</a:t>
                      </a:r>
                    </a:p>
                  </a:txBody>
                  <a:tcPr>
                    <a:solidFill>
                      <a:srgbClr val="2E86AB"/>
                    </a:solidFill>
                  </a:tcPr>
                </a:tc>
                <a:tc>
                  <a:txBody>
                    <a:bodyPr/>
                    <a:lstStyle/>
                    <a:p>
                      <a:pPr algn="ctr"/>
                      <a:r>
                        <a:rPr sz="1000" b="1">
                          <a:solidFill>
                            <a:srgbClr val="FFFFFF"/>
                          </a:solidFill>
                        </a:rPr>
                        <a:t>Raw Data</a:t>
                      </a:r>
                    </a:p>
                  </a:txBody>
                  <a:tcPr>
                    <a:solidFill>
                      <a:srgbClr val="2E86AB"/>
                    </a:solidFill>
                  </a:tcPr>
                </a:tc>
                <a:tc>
                  <a:txBody>
                    <a:bodyPr/>
                    <a:lstStyle/>
                    <a:p>
                      <a:pPr algn="ctr"/>
                      <a:r>
                        <a:rPr sz="1000" b="1">
                          <a:solidFill>
                            <a:srgbClr val="FFFFFF"/>
                          </a:solidFill>
                        </a:rPr>
                        <a:t>Processed (Step 1)</a:t>
                      </a:r>
                    </a:p>
                  </a:txBody>
                  <a:tcPr>
                    <a:solidFill>
                      <a:srgbClr val="2E86AB"/>
                    </a:solidFill>
                  </a:tcPr>
                </a:tc>
                <a:extLst>
                  <a:ext uri="{0D108BD9-81ED-4DB2-BD59-A6C34878D82A}">
                    <a16:rowId xmlns:a16="http://schemas.microsoft.com/office/drawing/2014/main" val="10000"/>
                  </a:ext>
                </a:extLst>
              </a:tr>
              <a:tr h="329184">
                <a:tc>
                  <a:txBody>
                    <a:bodyPr/>
                    <a:lstStyle/>
                    <a:p>
                      <a:pPr algn="l"/>
                      <a:r>
                        <a:rPr sz="950">
                          <a:solidFill>
                            <a:srgbClr val="1C1C2E"/>
                          </a:solidFill>
                        </a:rPr>
                        <a:t>Row Count</a:t>
                      </a:r>
                    </a:p>
                  </a:txBody>
                  <a:tcPr>
                    <a:solidFill>
                      <a:srgbClr val="E8F4F8"/>
                    </a:solidFill>
                  </a:tcPr>
                </a:tc>
                <a:tc>
                  <a:txBody>
                    <a:bodyPr/>
                    <a:lstStyle/>
                    <a:p>
                      <a:pPr algn="ctr"/>
                      <a:r>
                        <a:rPr sz="950">
                          <a:solidFill>
                            <a:srgbClr val="1C1C2E"/>
                          </a:solidFill>
                        </a:rPr>
                        <a:t>All responses</a:t>
                      </a:r>
                    </a:p>
                  </a:txBody>
                  <a:tcPr>
                    <a:solidFill>
                      <a:srgbClr val="E8F4F8"/>
                    </a:solidFill>
                  </a:tcPr>
                </a:tc>
                <a:tc>
                  <a:txBody>
                    <a:bodyPr/>
                    <a:lstStyle/>
                    <a:p>
                      <a:pPr algn="ctr"/>
                      <a:r>
                        <a:rPr sz="950">
                          <a:solidFill>
                            <a:srgbClr val="1C1C2E"/>
                          </a:solidFill>
                        </a:rPr>
                        <a:t>~80-90% (Accepted only)</a:t>
                      </a:r>
                    </a:p>
                  </a:txBody>
                  <a:tcPr>
                    <a:solidFill>
                      <a:srgbClr val="E8F4F8"/>
                    </a:solidFill>
                  </a:tcPr>
                </a:tc>
                <a:extLst>
                  <a:ext uri="{0D108BD9-81ED-4DB2-BD59-A6C34878D82A}">
                    <a16:rowId xmlns:a16="http://schemas.microsoft.com/office/drawing/2014/main" val="10001"/>
                  </a:ext>
                </a:extLst>
              </a:tr>
              <a:tr h="329184">
                <a:tc>
                  <a:txBody>
                    <a:bodyPr/>
                    <a:lstStyle/>
                    <a:p>
                      <a:pPr algn="l"/>
                      <a:r>
                        <a:rPr sz="950">
                          <a:solidFill>
                            <a:srgbClr val="1C1C2E"/>
                          </a:solidFill>
                        </a:rPr>
                        <a:t>Missing Values</a:t>
                      </a:r>
                    </a:p>
                  </a:txBody>
                  <a:tcPr>
                    <a:solidFill>
                      <a:srgbClr val="FFFFFF"/>
                    </a:solidFill>
                  </a:tcPr>
                </a:tc>
                <a:tc>
                  <a:txBody>
                    <a:bodyPr/>
                    <a:lstStyle/>
                    <a:p>
                      <a:pPr algn="ctr"/>
                      <a:r>
                        <a:rPr sz="950">
                          <a:solidFill>
                            <a:srgbClr val="1C1C2E"/>
                          </a:solidFill>
                        </a:rPr>
                        <a:t>Sentinel -99 / -100</a:t>
                      </a:r>
                    </a:p>
                  </a:txBody>
                  <a:tcPr>
                    <a:solidFill>
                      <a:srgbClr val="FFFFFF"/>
                    </a:solidFill>
                  </a:tcPr>
                </a:tc>
                <a:tc>
                  <a:txBody>
                    <a:bodyPr/>
                    <a:lstStyle/>
                    <a:p>
                      <a:pPr algn="ctr"/>
                      <a:r>
                        <a:rPr sz="950">
                          <a:solidFill>
                            <a:srgbClr val="1C1C2E"/>
                          </a:solidFill>
                        </a:rPr>
                        <a:t>Replaced with NaN</a:t>
                      </a:r>
                    </a:p>
                  </a:txBody>
                  <a:tcPr>
                    <a:solidFill>
                      <a:srgbClr val="FFFFFF"/>
                    </a:solidFill>
                  </a:tcPr>
                </a:tc>
                <a:extLst>
                  <a:ext uri="{0D108BD9-81ED-4DB2-BD59-A6C34878D82A}">
                    <a16:rowId xmlns:a16="http://schemas.microsoft.com/office/drawing/2014/main" val="10002"/>
                  </a:ext>
                </a:extLst>
              </a:tr>
              <a:tr h="329184">
                <a:tc>
                  <a:txBody>
                    <a:bodyPr/>
                    <a:lstStyle/>
                    <a:p>
                      <a:pPr algn="l"/>
                      <a:r>
                        <a:rPr sz="950">
                          <a:solidFill>
                            <a:srgbClr val="1C1C2E"/>
                          </a:solidFill>
                        </a:rPr>
                        <a:t>Binary Columns</a:t>
                      </a:r>
                    </a:p>
                  </a:txBody>
                  <a:tcPr>
                    <a:solidFill>
                      <a:srgbClr val="E8F4F8"/>
                    </a:solidFill>
                  </a:tcPr>
                </a:tc>
                <a:tc>
                  <a:txBody>
                    <a:bodyPr/>
                    <a:lstStyle/>
                    <a:p>
                      <a:pPr algn="ctr"/>
                      <a:r>
                        <a:rPr sz="950">
                          <a:solidFill>
                            <a:srgbClr val="1C1C2E"/>
                          </a:solidFill>
                        </a:rPr>
                        <a:t>'Y' / 'N' strings</a:t>
                      </a:r>
                    </a:p>
                  </a:txBody>
                  <a:tcPr>
                    <a:solidFill>
                      <a:srgbClr val="E8F4F8"/>
                    </a:solidFill>
                  </a:tcPr>
                </a:tc>
                <a:tc>
                  <a:txBody>
                    <a:bodyPr/>
                    <a:lstStyle/>
                    <a:p>
                      <a:pPr algn="ctr"/>
                      <a:r>
                        <a:rPr sz="950">
                          <a:solidFill>
                            <a:srgbClr val="1C1C2E"/>
                          </a:solidFill>
                        </a:rPr>
                        <a:t>1 / 0 (nullable Int64)</a:t>
                      </a:r>
                    </a:p>
                  </a:txBody>
                  <a:tcPr>
                    <a:solidFill>
                      <a:srgbClr val="E8F4F8"/>
                    </a:solidFill>
                  </a:tcPr>
                </a:tc>
                <a:extLst>
                  <a:ext uri="{0D108BD9-81ED-4DB2-BD59-A6C34878D82A}">
                    <a16:rowId xmlns:a16="http://schemas.microsoft.com/office/drawing/2014/main" val="10003"/>
                  </a:ext>
                </a:extLst>
              </a:tr>
              <a:tr h="329184">
                <a:tc>
                  <a:txBody>
                    <a:bodyPr/>
                    <a:lstStyle/>
                    <a:p>
                      <a:pPr algn="l"/>
                      <a:r>
                        <a:rPr sz="950">
                          <a:solidFill>
                            <a:srgbClr val="1C1C2E"/>
                          </a:solidFill>
                        </a:rPr>
                        <a:t>Date Columns</a:t>
                      </a:r>
                    </a:p>
                  </a:txBody>
                  <a:tcPr>
                    <a:solidFill>
                      <a:srgbClr val="FFFFFF"/>
                    </a:solidFill>
                  </a:tcPr>
                </a:tc>
                <a:tc>
                  <a:txBody>
                    <a:bodyPr/>
                    <a:lstStyle/>
                    <a:p>
                      <a:pPr algn="ctr"/>
                      <a:r>
                        <a:rPr sz="950">
                          <a:solidFill>
                            <a:srgbClr val="1C1C2E"/>
                          </a:solidFill>
                        </a:rPr>
                        <a:t>String 'Jan 2014'</a:t>
                      </a:r>
                    </a:p>
                  </a:txBody>
                  <a:tcPr>
                    <a:solidFill>
                      <a:srgbClr val="FFFFFF"/>
                    </a:solidFill>
                  </a:tcPr>
                </a:tc>
                <a:tc>
                  <a:txBody>
                    <a:bodyPr/>
                    <a:lstStyle/>
                    <a:p>
                      <a:pPr algn="ctr"/>
                      <a:r>
                        <a:rPr sz="950">
                          <a:solidFill>
                            <a:srgbClr val="1C1C2E"/>
                          </a:solidFill>
                        </a:rPr>
                        <a:t>datetime64 objects</a:t>
                      </a:r>
                    </a:p>
                  </a:txBody>
                  <a:tcPr>
                    <a:solidFill>
                      <a:srgbClr val="FFFFFF"/>
                    </a:solidFill>
                  </a:tcPr>
                </a:tc>
                <a:extLst>
                  <a:ext uri="{0D108BD9-81ED-4DB2-BD59-A6C34878D82A}">
                    <a16:rowId xmlns:a16="http://schemas.microsoft.com/office/drawing/2014/main" val="10004"/>
                  </a:ext>
                </a:extLst>
              </a:tr>
              <a:tr h="329184">
                <a:tc>
                  <a:txBody>
                    <a:bodyPr/>
                    <a:lstStyle/>
                    <a:p>
                      <a:pPr algn="l"/>
                      <a:r>
                        <a:rPr sz="950">
                          <a:solidFill>
                            <a:srgbClr val="1C1C2E"/>
                          </a:solidFill>
                        </a:rPr>
                        <a:t>Column Count</a:t>
                      </a:r>
                    </a:p>
                  </a:txBody>
                  <a:tcPr>
                    <a:solidFill>
                      <a:srgbClr val="E8F4F8"/>
                    </a:solidFill>
                  </a:tcPr>
                </a:tc>
                <a:tc>
                  <a:txBody>
                    <a:bodyPr/>
                    <a:lstStyle/>
                    <a:p>
                      <a:pPr algn="ctr"/>
                      <a:r>
                        <a:rPr sz="950">
                          <a:solidFill>
                            <a:srgbClr val="1C1C2E"/>
                          </a:solidFill>
                        </a:rPr>
                        <a:t>50–200+ per file</a:t>
                      </a:r>
                    </a:p>
                  </a:txBody>
                  <a:tcPr>
                    <a:solidFill>
                      <a:srgbClr val="E8F4F8"/>
                    </a:solidFill>
                  </a:tcPr>
                </a:tc>
                <a:tc>
                  <a:txBody>
                    <a:bodyPr/>
                    <a:lstStyle/>
                    <a:p>
                      <a:pPr algn="ctr"/>
                      <a:r>
                        <a:rPr sz="950">
                          <a:solidFill>
                            <a:srgbClr val="1C1C2E"/>
                          </a:solidFill>
                        </a:rPr>
                        <a:t>~15–80 (relevant only)</a:t>
                      </a:r>
                    </a:p>
                  </a:txBody>
                  <a:tcPr>
                    <a:solidFill>
                      <a:srgbClr val="E8F4F8"/>
                    </a:solidFill>
                  </a:tcPr>
                </a:tc>
                <a:extLst>
                  <a:ext uri="{0D108BD9-81ED-4DB2-BD59-A6C34878D82A}">
                    <a16:rowId xmlns:a16="http://schemas.microsoft.com/office/drawing/2014/main" val="10005"/>
                  </a:ext>
                </a:extLst>
              </a:tr>
              <a:tr h="329184">
                <a:tc>
                  <a:txBody>
                    <a:bodyPr/>
                    <a:lstStyle/>
                    <a:p>
                      <a:pPr algn="l"/>
                      <a:r>
                        <a:rPr sz="950">
                          <a:solidFill>
                            <a:srgbClr val="1C1C2E"/>
                          </a:solidFill>
                        </a:rPr>
                        <a:t>File Size</a:t>
                      </a:r>
                    </a:p>
                  </a:txBody>
                  <a:tcPr>
                    <a:solidFill>
                      <a:srgbClr val="FFFFFF"/>
                    </a:solidFill>
                  </a:tcPr>
                </a:tc>
                <a:tc>
                  <a:txBody>
                    <a:bodyPr/>
                    <a:lstStyle/>
                    <a:p>
                      <a:pPr algn="ctr"/>
                      <a:r>
                        <a:rPr sz="950">
                          <a:solidFill>
                            <a:srgbClr val="1C1C2E"/>
                          </a:solidFill>
                        </a:rPr>
                        <a:t>Baseline</a:t>
                      </a:r>
                    </a:p>
                  </a:txBody>
                  <a:tcPr>
                    <a:solidFill>
                      <a:srgbClr val="FFFFFF"/>
                    </a:solidFill>
                  </a:tcPr>
                </a:tc>
                <a:tc>
                  <a:txBody>
                    <a:bodyPr/>
                    <a:lstStyle/>
                    <a:p>
                      <a:pPr algn="ctr"/>
                      <a:r>
                        <a:rPr sz="950">
                          <a:solidFill>
                            <a:srgbClr val="1C1C2E"/>
                          </a:solidFill>
                        </a:rPr>
                        <a:t>~30–40% smaller</a:t>
                      </a:r>
                    </a:p>
                  </a:txBody>
                  <a:tcP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10972800" cy="685800"/>
          </a:xfrm>
          <a:prstGeom prst="rect">
            <a:avLst/>
          </a:prstGeom>
          <a:noFill/>
        </p:spPr>
        <p:txBody>
          <a:bodyPr wrap="square">
            <a:spAutoFit/>
          </a:bodyPr>
          <a:lstStyle/>
          <a:p>
            <a:pPr algn="l"/>
            <a:r>
              <a:rPr sz="3000" b="1" i="0">
                <a:solidFill>
                  <a:srgbClr val="FFFFFF"/>
                </a:solidFill>
              </a:rPr>
              <a:t>Methodology</a:t>
            </a:r>
          </a:p>
        </p:txBody>
      </p:sp>
      <p:sp>
        <p:nvSpPr>
          <p:cNvPr id="5" name="TextBox 4"/>
          <p:cNvSpPr txBox="1"/>
          <p:nvPr/>
        </p:nvSpPr>
        <p:spPr>
          <a:xfrm>
            <a:off x="320040" y="749808"/>
            <a:ext cx="10972800" cy="347472"/>
          </a:xfrm>
          <a:prstGeom prst="rect">
            <a:avLst/>
          </a:prstGeom>
          <a:noFill/>
        </p:spPr>
        <p:txBody>
          <a:bodyPr wrap="square">
            <a:spAutoFit/>
          </a:bodyPr>
          <a:lstStyle/>
          <a:p>
            <a:pPr algn="l"/>
            <a:r>
              <a:rPr sz="1300" b="0" i="0">
                <a:solidFill>
                  <a:srgbClr val="B0C8E0"/>
                </a:solidFill>
              </a:rPr>
              <a:t>End-to-End System Design</a:t>
            </a:r>
          </a:p>
        </p:txBody>
      </p:sp>
      <p:sp>
        <p:nvSpPr>
          <p:cNvPr id="6" name="TextBox 5"/>
          <p:cNvSpPr txBox="1"/>
          <p:nvPr/>
        </p:nvSpPr>
        <p:spPr>
          <a:xfrm>
            <a:off x="11247120" y="6537960"/>
            <a:ext cx="914400" cy="274320"/>
          </a:xfrm>
          <a:prstGeom prst="rect">
            <a:avLst/>
          </a:prstGeom>
          <a:noFill/>
        </p:spPr>
        <p:txBody>
          <a:bodyPr wrap="square">
            <a:spAutoFit/>
          </a:bodyPr>
          <a:lstStyle/>
          <a:p>
            <a:pPr algn="r"/>
            <a:r>
              <a:rPr sz="900" b="0" i="0">
                <a:solidFill>
                  <a:srgbClr val="90A4AE"/>
                </a:solidFill>
              </a:rPr>
              <a:t>8 / 17</a:t>
            </a:r>
          </a:p>
        </p:txBody>
      </p:sp>
      <p:sp>
        <p:nvSpPr>
          <p:cNvPr id="7" name="Rectangle 6"/>
          <p:cNvSpPr/>
          <p:nvPr/>
        </p:nvSpPr>
        <p:spPr>
          <a:xfrm>
            <a:off x="320040" y="1261872"/>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316736"/>
            <a:ext cx="10972800" cy="365760"/>
          </a:xfrm>
          <a:prstGeom prst="rect">
            <a:avLst/>
          </a:prstGeom>
          <a:noFill/>
        </p:spPr>
        <p:txBody>
          <a:bodyPr wrap="square">
            <a:spAutoFit/>
          </a:bodyPr>
          <a:lstStyle/>
          <a:p>
            <a:pPr algn="l"/>
            <a:r>
              <a:rPr sz="1500" b="1" i="0">
                <a:solidFill>
                  <a:srgbClr val="2E86AB"/>
                </a:solidFill>
              </a:rPr>
              <a:t>System Architecture — Two-Layer Design</a:t>
            </a:r>
          </a:p>
        </p:txBody>
      </p:sp>
      <p:sp>
        <p:nvSpPr>
          <p:cNvPr id="9" name="Rectangle 8"/>
          <p:cNvSpPr/>
          <p:nvPr/>
        </p:nvSpPr>
        <p:spPr>
          <a:xfrm>
            <a:off x="320040" y="1664208"/>
            <a:ext cx="11521440" cy="2148840"/>
          </a:xfrm>
          <a:prstGeom prst="rect">
            <a:avLst/>
          </a:prstGeom>
          <a:solidFill>
            <a:srgbClr val="E8F5E9"/>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700784"/>
            <a:ext cx="4572000" cy="320040"/>
          </a:xfrm>
          <a:prstGeom prst="rect">
            <a:avLst/>
          </a:prstGeom>
          <a:noFill/>
        </p:spPr>
        <p:txBody>
          <a:bodyPr wrap="square">
            <a:spAutoFit/>
          </a:bodyPr>
          <a:lstStyle/>
          <a:p>
            <a:pPr algn="l"/>
            <a:r>
              <a:rPr sz="1100" b="1" i="0">
                <a:solidFill>
                  <a:srgbClr val="4CAF50"/>
                </a:solidFill>
              </a:rPr>
              <a:t>OFFLINE DATA PIPELINE</a:t>
            </a:r>
          </a:p>
        </p:txBody>
      </p:sp>
      <p:sp>
        <p:nvSpPr>
          <p:cNvPr id="11" name="Rectangle 10"/>
          <p:cNvSpPr/>
          <p:nvPr/>
        </p:nvSpPr>
        <p:spPr>
          <a:xfrm>
            <a:off x="457200" y="2084831"/>
            <a:ext cx="1828800" cy="1508760"/>
          </a:xfrm>
          <a:prstGeom prst="rect">
            <a:avLst/>
          </a:prstGeom>
          <a:solidFill>
            <a:srgbClr val="FFFFF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2240280"/>
            <a:ext cx="1737360" cy="1234440"/>
          </a:xfrm>
          <a:prstGeom prst="rect">
            <a:avLst/>
          </a:prstGeom>
          <a:noFill/>
        </p:spPr>
        <p:txBody>
          <a:bodyPr wrap="square">
            <a:spAutoFit/>
          </a:bodyPr>
          <a:lstStyle/>
          <a:p>
            <a:pPr algn="ctr"/>
            <a:r>
              <a:rPr sz="950" b="0" i="0">
                <a:solidFill>
                  <a:srgbClr val="1C1C2E"/>
                </a:solidFill>
              </a:rPr>
              <a:t>Raw Parquets
(INC/POI/CON)</a:t>
            </a:r>
          </a:p>
        </p:txBody>
      </p:sp>
      <p:sp>
        <p:nvSpPr>
          <p:cNvPr id="13" name="TextBox 12"/>
          <p:cNvSpPr txBox="1"/>
          <p:nvPr/>
        </p:nvSpPr>
        <p:spPr>
          <a:xfrm>
            <a:off x="2286000" y="2606040"/>
            <a:ext cx="320040" cy="411480"/>
          </a:xfrm>
          <a:prstGeom prst="rect">
            <a:avLst/>
          </a:prstGeom>
          <a:noFill/>
        </p:spPr>
        <p:txBody>
          <a:bodyPr wrap="square">
            <a:spAutoFit/>
          </a:bodyPr>
          <a:lstStyle/>
          <a:p>
            <a:pPr algn="ctr"/>
            <a:r>
              <a:rPr sz="1800" b="1" i="0">
                <a:solidFill>
                  <a:srgbClr val="4CAF50"/>
                </a:solidFill>
              </a:rPr>
              <a:t>→</a:t>
            </a:r>
          </a:p>
        </p:txBody>
      </p:sp>
      <p:sp>
        <p:nvSpPr>
          <p:cNvPr id="14" name="Rectangle 13"/>
          <p:cNvSpPr/>
          <p:nvPr/>
        </p:nvSpPr>
        <p:spPr>
          <a:xfrm>
            <a:off x="2514600" y="2084831"/>
            <a:ext cx="1828800" cy="1508760"/>
          </a:xfrm>
          <a:prstGeom prst="rect">
            <a:avLst/>
          </a:prstGeom>
          <a:solidFill>
            <a:srgbClr val="FFFFF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60320" y="2240280"/>
            <a:ext cx="1737360" cy="1234440"/>
          </a:xfrm>
          <a:prstGeom prst="rect">
            <a:avLst/>
          </a:prstGeom>
          <a:noFill/>
        </p:spPr>
        <p:txBody>
          <a:bodyPr wrap="square">
            <a:spAutoFit/>
          </a:bodyPr>
          <a:lstStyle/>
          <a:p>
            <a:pPr algn="ctr"/>
            <a:r>
              <a:rPr sz="950" b="0" i="0">
                <a:solidFill>
                  <a:srgbClr val="1C1C2E"/>
                </a:solidFill>
              </a:rPr>
              <a:t>01_clean_data.py
Clean &amp; Filter</a:t>
            </a:r>
          </a:p>
        </p:txBody>
      </p:sp>
      <p:sp>
        <p:nvSpPr>
          <p:cNvPr id="16" name="TextBox 15"/>
          <p:cNvSpPr txBox="1"/>
          <p:nvPr/>
        </p:nvSpPr>
        <p:spPr>
          <a:xfrm>
            <a:off x="4343400" y="2606040"/>
            <a:ext cx="320040" cy="411480"/>
          </a:xfrm>
          <a:prstGeom prst="rect">
            <a:avLst/>
          </a:prstGeom>
          <a:noFill/>
        </p:spPr>
        <p:txBody>
          <a:bodyPr wrap="square">
            <a:spAutoFit/>
          </a:bodyPr>
          <a:lstStyle/>
          <a:p>
            <a:pPr algn="ctr"/>
            <a:r>
              <a:rPr sz="1800" b="1" i="0">
                <a:solidFill>
                  <a:srgbClr val="4CAF50"/>
                </a:solidFill>
              </a:rPr>
              <a:t>→</a:t>
            </a:r>
          </a:p>
        </p:txBody>
      </p:sp>
      <p:sp>
        <p:nvSpPr>
          <p:cNvPr id="17" name="Rectangle 16"/>
          <p:cNvSpPr/>
          <p:nvPr/>
        </p:nvSpPr>
        <p:spPr>
          <a:xfrm>
            <a:off x="4572000" y="2084831"/>
            <a:ext cx="1828800" cy="1508760"/>
          </a:xfrm>
          <a:prstGeom prst="rect">
            <a:avLst/>
          </a:prstGeom>
          <a:solidFill>
            <a:srgbClr val="FFFFF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240280"/>
            <a:ext cx="1737360" cy="1234440"/>
          </a:xfrm>
          <a:prstGeom prst="rect">
            <a:avLst/>
          </a:prstGeom>
          <a:noFill/>
        </p:spPr>
        <p:txBody>
          <a:bodyPr wrap="square">
            <a:spAutoFit/>
          </a:bodyPr>
          <a:lstStyle/>
          <a:p>
            <a:pPr algn="ctr"/>
            <a:r>
              <a:rPr sz="950" b="0" i="0">
                <a:solidFill>
                  <a:srgbClr val="1C1C2E"/>
                </a:solidFill>
              </a:rPr>
              <a:t>02_build_household.py
Join + Labels + Features</a:t>
            </a:r>
          </a:p>
        </p:txBody>
      </p:sp>
      <p:sp>
        <p:nvSpPr>
          <p:cNvPr id="19" name="TextBox 18"/>
          <p:cNvSpPr txBox="1"/>
          <p:nvPr/>
        </p:nvSpPr>
        <p:spPr>
          <a:xfrm>
            <a:off x="6400800" y="2606040"/>
            <a:ext cx="320040" cy="411480"/>
          </a:xfrm>
          <a:prstGeom prst="rect">
            <a:avLst/>
          </a:prstGeom>
          <a:noFill/>
        </p:spPr>
        <p:txBody>
          <a:bodyPr wrap="square">
            <a:spAutoFit/>
          </a:bodyPr>
          <a:lstStyle/>
          <a:p>
            <a:pPr algn="ctr"/>
            <a:r>
              <a:rPr sz="1800" b="1" i="0">
                <a:solidFill>
                  <a:srgbClr val="4CAF50"/>
                </a:solidFill>
              </a:rPr>
              <a:t>→</a:t>
            </a:r>
          </a:p>
        </p:txBody>
      </p:sp>
      <p:sp>
        <p:nvSpPr>
          <p:cNvPr id="20" name="Rectangle 19"/>
          <p:cNvSpPr/>
          <p:nvPr/>
        </p:nvSpPr>
        <p:spPr>
          <a:xfrm>
            <a:off x="6903720" y="2084831"/>
            <a:ext cx="1828800" cy="1508760"/>
          </a:xfrm>
          <a:prstGeom prst="rect">
            <a:avLst/>
          </a:prstGeom>
          <a:solidFill>
            <a:srgbClr val="FFFFF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49440" y="2240280"/>
            <a:ext cx="1737360" cy="1234440"/>
          </a:xfrm>
          <a:prstGeom prst="rect">
            <a:avLst/>
          </a:prstGeom>
          <a:noFill/>
        </p:spPr>
        <p:txBody>
          <a:bodyPr wrap="square">
            <a:spAutoFit/>
          </a:bodyPr>
          <a:lstStyle/>
          <a:p>
            <a:pPr algn="ctr"/>
            <a:r>
              <a:rPr sz="950" b="0" i="0">
                <a:solidFill>
                  <a:srgbClr val="1C1C2E"/>
                </a:solidFill>
              </a:rPr>
              <a:t>03_train_models.py
5 XGBoost Models</a:t>
            </a:r>
          </a:p>
        </p:txBody>
      </p:sp>
      <p:sp>
        <p:nvSpPr>
          <p:cNvPr id="22" name="TextBox 21"/>
          <p:cNvSpPr txBox="1"/>
          <p:nvPr/>
        </p:nvSpPr>
        <p:spPr>
          <a:xfrm>
            <a:off x="8732520" y="2606040"/>
            <a:ext cx="320040" cy="411480"/>
          </a:xfrm>
          <a:prstGeom prst="rect">
            <a:avLst/>
          </a:prstGeom>
          <a:noFill/>
        </p:spPr>
        <p:txBody>
          <a:bodyPr wrap="square">
            <a:spAutoFit/>
          </a:bodyPr>
          <a:lstStyle/>
          <a:p>
            <a:pPr algn="ctr"/>
            <a:r>
              <a:rPr sz="1800" b="1" i="0">
                <a:solidFill>
                  <a:srgbClr val="4CAF50"/>
                </a:solidFill>
              </a:rPr>
              <a:t>→</a:t>
            </a:r>
          </a:p>
        </p:txBody>
      </p:sp>
      <p:sp>
        <p:nvSpPr>
          <p:cNvPr id="23" name="Rectangle 22"/>
          <p:cNvSpPr/>
          <p:nvPr/>
        </p:nvSpPr>
        <p:spPr>
          <a:xfrm>
            <a:off x="9235440" y="2084831"/>
            <a:ext cx="1828800" cy="1508760"/>
          </a:xfrm>
          <a:prstGeom prst="rect">
            <a:avLst/>
          </a:prstGeom>
          <a:solidFill>
            <a:srgbClr val="FFFFFF"/>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81160" y="2240280"/>
            <a:ext cx="1737360" cy="1234440"/>
          </a:xfrm>
          <a:prstGeom prst="rect">
            <a:avLst/>
          </a:prstGeom>
          <a:noFill/>
        </p:spPr>
        <p:txBody>
          <a:bodyPr wrap="square">
            <a:spAutoFit/>
          </a:bodyPr>
          <a:lstStyle/>
          <a:p>
            <a:pPr algn="ctr"/>
            <a:r>
              <a:rPr sz="950" b="0" i="0">
                <a:solidFill>
                  <a:srgbClr val="1C1C2E"/>
                </a:solidFill>
              </a:rPr>
              <a:t>04_evaluate.py
Evaluation Report</a:t>
            </a:r>
          </a:p>
        </p:txBody>
      </p:sp>
      <p:sp>
        <p:nvSpPr>
          <p:cNvPr id="25" name="Rectangle 24"/>
          <p:cNvSpPr/>
          <p:nvPr/>
        </p:nvSpPr>
        <p:spPr>
          <a:xfrm>
            <a:off x="320040" y="3950208"/>
            <a:ext cx="11521440" cy="2148840"/>
          </a:xfrm>
          <a:prstGeom prst="rect">
            <a:avLst/>
          </a:prstGeom>
          <a:solidFill>
            <a:srgbClr val="E3F2FD"/>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3986784"/>
            <a:ext cx="4572000" cy="320040"/>
          </a:xfrm>
          <a:prstGeom prst="rect">
            <a:avLst/>
          </a:prstGeom>
          <a:noFill/>
        </p:spPr>
        <p:txBody>
          <a:bodyPr wrap="square">
            <a:spAutoFit/>
          </a:bodyPr>
          <a:lstStyle/>
          <a:p>
            <a:pPr algn="l"/>
            <a:r>
              <a:rPr sz="1100" b="1" i="0">
                <a:solidFill>
                  <a:srgbClr val="2E86AB"/>
                </a:solidFill>
              </a:rPr>
              <a:t>ONLINE WEB APPLICATION</a:t>
            </a:r>
          </a:p>
        </p:txBody>
      </p:sp>
      <p:sp>
        <p:nvSpPr>
          <p:cNvPr id="27" name="Rectangle 26"/>
          <p:cNvSpPr/>
          <p:nvPr/>
        </p:nvSpPr>
        <p:spPr>
          <a:xfrm>
            <a:off x="457200" y="4343400"/>
            <a:ext cx="2057400" cy="1572768"/>
          </a:xfrm>
          <a:prstGeom prst="rect">
            <a:avLst/>
          </a:prstGeom>
          <a:solidFill>
            <a:srgbClr val="FFFFFF"/>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7200" y="4343400"/>
            <a:ext cx="2057400" cy="3474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920" y="4361688"/>
            <a:ext cx="1965960" cy="320040"/>
          </a:xfrm>
          <a:prstGeom prst="rect">
            <a:avLst/>
          </a:prstGeom>
          <a:noFill/>
        </p:spPr>
        <p:txBody>
          <a:bodyPr wrap="square">
            <a:spAutoFit/>
          </a:bodyPr>
          <a:lstStyle/>
          <a:p>
            <a:pPr algn="ctr"/>
            <a:r>
              <a:rPr sz="1000" b="1" i="0">
                <a:solidFill>
                  <a:srgbClr val="FFFFFF"/>
                </a:solidFill>
              </a:rPr>
              <a:t>React Frontend</a:t>
            </a:r>
          </a:p>
        </p:txBody>
      </p:sp>
      <p:sp>
        <p:nvSpPr>
          <p:cNvPr id="30" name="TextBox 29"/>
          <p:cNvSpPr txBox="1"/>
          <p:nvPr/>
        </p:nvSpPr>
        <p:spPr>
          <a:xfrm>
            <a:off x="502920" y="4736592"/>
            <a:ext cx="1965960" cy="1097280"/>
          </a:xfrm>
          <a:prstGeom prst="rect">
            <a:avLst/>
          </a:prstGeom>
          <a:noFill/>
        </p:spPr>
        <p:txBody>
          <a:bodyPr wrap="square">
            <a:spAutoFit/>
          </a:bodyPr>
          <a:lstStyle/>
          <a:p>
            <a:pPr algn="ctr"/>
            <a:r>
              <a:rPr sz="950" b="0" i="0">
                <a:solidFill>
                  <a:srgbClr val="1C1C2E"/>
                </a:solidFill>
              </a:rPr>
              <a:t>Chat UI
(Vite + JSX)</a:t>
            </a:r>
          </a:p>
        </p:txBody>
      </p:sp>
      <p:sp>
        <p:nvSpPr>
          <p:cNvPr id="31" name="Rectangle 30"/>
          <p:cNvSpPr/>
          <p:nvPr/>
        </p:nvSpPr>
        <p:spPr>
          <a:xfrm>
            <a:off x="2761488" y="4343400"/>
            <a:ext cx="2057400" cy="1572768"/>
          </a:xfrm>
          <a:prstGeom prst="rect">
            <a:avLst/>
          </a:prstGeom>
          <a:solidFill>
            <a:srgbClr val="FFFFFF"/>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761488" y="4343400"/>
            <a:ext cx="2057400" cy="34747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807208" y="4361688"/>
            <a:ext cx="1965960" cy="320040"/>
          </a:xfrm>
          <a:prstGeom prst="rect">
            <a:avLst/>
          </a:prstGeom>
          <a:noFill/>
        </p:spPr>
        <p:txBody>
          <a:bodyPr wrap="square">
            <a:spAutoFit/>
          </a:bodyPr>
          <a:lstStyle/>
          <a:p>
            <a:pPr algn="ctr"/>
            <a:r>
              <a:rPr sz="1000" b="1" i="0">
                <a:solidFill>
                  <a:srgbClr val="FFFFFF"/>
                </a:solidFill>
              </a:rPr>
              <a:t>FastAPI Backend</a:t>
            </a:r>
          </a:p>
        </p:txBody>
      </p:sp>
      <p:sp>
        <p:nvSpPr>
          <p:cNvPr id="34" name="TextBox 33"/>
          <p:cNvSpPr txBox="1"/>
          <p:nvPr/>
        </p:nvSpPr>
        <p:spPr>
          <a:xfrm>
            <a:off x="2807208" y="4736592"/>
            <a:ext cx="1965960" cy="1097280"/>
          </a:xfrm>
          <a:prstGeom prst="rect">
            <a:avLst/>
          </a:prstGeom>
          <a:noFill/>
        </p:spPr>
        <p:txBody>
          <a:bodyPr wrap="square">
            <a:spAutoFit/>
          </a:bodyPr>
          <a:lstStyle/>
          <a:p>
            <a:pPr algn="ctr"/>
            <a:r>
              <a:rPr sz="950" b="0" i="0">
                <a:solidFill>
                  <a:srgbClr val="1C1C2E"/>
                </a:solidFill>
              </a:rPr>
              <a:t>REST API
Python</a:t>
            </a:r>
          </a:p>
        </p:txBody>
      </p:sp>
      <p:sp>
        <p:nvSpPr>
          <p:cNvPr id="35" name="Rectangle 34"/>
          <p:cNvSpPr/>
          <p:nvPr/>
        </p:nvSpPr>
        <p:spPr>
          <a:xfrm>
            <a:off x="5065776" y="4343400"/>
            <a:ext cx="2057400" cy="1572768"/>
          </a:xfrm>
          <a:prstGeom prst="rect">
            <a:avLst/>
          </a:prstGeom>
          <a:solidFill>
            <a:srgbClr val="FFFFFF"/>
          </a:solidFill>
          <a:ln w="1905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065776" y="4343400"/>
            <a:ext cx="2057400" cy="34747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111496" y="4361688"/>
            <a:ext cx="1965960" cy="320040"/>
          </a:xfrm>
          <a:prstGeom prst="rect">
            <a:avLst/>
          </a:prstGeom>
          <a:noFill/>
        </p:spPr>
        <p:txBody>
          <a:bodyPr wrap="square">
            <a:spAutoFit/>
          </a:bodyPr>
          <a:lstStyle/>
          <a:p>
            <a:pPr algn="ctr"/>
            <a:r>
              <a:rPr sz="1000" b="1" i="0">
                <a:solidFill>
                  <a:srgbClr val="FFFFFF"/>
                </a:solidFill>
              </a:rPr>
              <a:t>ML Models</a:t>
            </a:r>
          </a:p>
        </p:txBody>
      </p:sp>
      <p:sp>
        <p:nvSpPr>
          <p:cNvPr id="38" name="TextBox 37"/>
          <p:cNvSpPr txBox="1"/>
          <p:nvPr/>
        </p:nvSpPr>
        <p:spPr>
          <a:xfrm>
            <a:off x="5111496" y="4736592"/>
            <a:ext cx="1965960" cy="1097280"/>
          </a:xfrm>
          <a:prstGeom prst="rect">
            <a:avLst/>
          </a:prstGeom>
          <a:noFill/>
        </p:spPr>
        <p:txBody>
          <a:bodyPr wrap="square">
            <a:spAutoFit/>
          </a:bodyPr>
          <a:lstStyle/>
          <a:p>
            <a:pPr algn="ctr"/>
            <a:r>
              <a:rPr sz="950" b="0" i="0">
                <a:solidFill>
                  <a:srgbClr val="1C1C2E"/>
                </a:solidFill>
              </a:rPr>
              <a:t>5 XGBoost
.pkl files</a:t>
            </a:r>
          </a:p>
        </p:txBody>
      </p:sp>
      <p:sp>
        <p:nvSpPr>
          <p:cNvPr id="39" name="Rectangle 38"/>
          <p:cNvSpPr/>
          <p:nvPr/>
        </p:nvSpPr>
        <p:spPr>
          <a:xfrm>
            <a:off x="7370064" y="4343400"/>
            <a:ext cx="2057400" cy="1572768"/>
          </a:xfrm>
          <a:prstGeom prst="rect">
            <a:avLst/>
          </a:prstGeom>
          <a:solidFill>
            <a:srgbClr val="FFFFFF"/>
          </a:solidFill>
          <a:ln w="1905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7370064" y="4343400"/>
            <a:ext cx="2057400" cy="347472"/>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415784" y="4361688"/>
            <a:ext cx="1965960" cy="320040"/>
          </a:xfrm>
          <a:prstGeom prst="rect">
            <a:avLst/>
          </a:prstGeom>
          <a:noFill/>
        </p:spPr>
        <p:txBody>
          <a:bodyPr wrap="square">
            <a:spAutoFit/>
          </a:bodyPr>
          <a:lstStyle/>
          <a:p>
            <a:pPr algn="ctr"/>
            <a:r>
              <a:rPr sz="1000" b="1" i="0">
                <a:solidFill>
                  <a:srgbClr val="FFFFFF"/>
                </a:solidFill>
              </a:rPr>
              <a:t>GPT-4o-mini</a:t>
            </a:r>
          </a:p>
        </p:txBody>
      </p:sp>
      <p:sp>
        <p:nvSpPr>
          <p:cNvPr id="42" name="TextBox 41"/>
          <p:cNvSpPr txBox="1"/>
          <p:nvPr/>
        </p:nvSpPr>
        <p:spPr>
          <a:xfrm>
            <a:off x="7415784" y="4736592"/>
            <a:ext cx="1965960" cy="1097280"/>
          </a:xfrm>
          <a:prstGeom prst="rect">
            <a:avLst/>
          </a:prstGeom>
          <a:noFill/>
        </p:spPr>
        <p:txBody>
          <a:bodyPr wrap="square">
            <a:spAutoFit/>
          </a:bodyPr>
          <a:lstStyle/>
          <a:p>
            <a:pPr algn="ctr"/>
            <a:r>
              <a:rPr sz="950" b="0" i="0">
                <a:solidFill>
                  <a:srgbClr val="1C1C2E"/>
                </a:solidFill>
              </a:rPr>
              <a:t>Advice
Generation</a:t>
            </a:r>
          </a:p>
        </p:txBody>
      </p:sp>
      <p:sp>
        <p:nvSpPr>
          <p:cNvPr id="43" name="Rectangle 42"/>
          <p:cNvSpPr/>
          <p:nvPr/>
        </p:nvSpPr>
        <p:spPr>
          <a:xfrm>
            <a:off x="9674352" y="4343400"/>
            <a:ext cx="2057400" cy="1572768"/>
          </a:xfrm>
          <a:prstGeom prst="rect">
            <a:avLst/>
          </a:prstGeom>
          <a:solidFill>
            <a:srgbClr val="FFFFFF"/>
          </a:solidFill>
          <a:ln w="1905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9674352" y="4343400"/>
            <a:ext cx="2057400" cy="347472"/>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720072" y="4361688"/>
            <a:ext cx="1965960" cy="320040"/>
          </a:xfrm>
          <a:prstGeom prst="rect">
            <a:avLst/>
          </a:prstGeom>
          <a:noFill/>
        </p:spPr>
        <p:txBody>
          <a:bodyPr wrap="square">
            <a:spAutoFit/>
          </a:bodyPr>
          <a:lstStyle/>
          <a:p>
            <a:pPr algn="ctr"/>
            <a:r>
              <a:rPr sz="1000" b="1" i="0">
                <a:solidFill>
                  <a:srgbClr val="FFFFFF"/>
                </a:solidFill>
              </a:rPr>
              <a:t>PostgreSQL</a:t>
            </a:r>
          </a:p>
        </p:txBody>
      </p:sp>
      <p:sp>
        <p:nvSpPr>
          <p:cNvPr id="46" name="TextBox 45"/>
          <p:cNvSpPr txBox="1"/>
          <p:nvPr/>
        </p:nvSpPr>
        <p:spPr>
          <a:xfrm>
            <a:off x="9720072" y="4736592"/>
            <a:ext cx="1965960" cy="1097280"/>
          </a:xfrm>
          <a:prstGeom prst="rect">
            <a:avLst/>
          </a:prstGeom>
          <a:noFill/>
        </p:spPr>
        <p:txBody>
          <a:bodyPr wrap="square">
            <a:spAutoFit/>
          </a:bodyPr>
          <a:lstStyle/>
          <a:p>
            <a:pPr algn="ctr"/>
            <a:r>
              <a:rPr sz="950" b="0" i="0">
                <a:solidFill>
                  <a:srgbClr val="1C1C2E"/>
                </a:solidFill>
              </a:rPr>
              <a:t>Sessions
&amp; History</a:t>
            </a:r>
          </a:p>
        </p:txBody>
      </p:sp>
      <p:sp>
        <p:nvSpPr>
          <p:cNvPr id="47" name="TextBox 46"/>
          <p:cNvSpPr txBox="1"/>
          <p:nvPr/>
        </p:nvSpPr>
        <p:spPr>
          <a:xfrm>
            <a:off x="2404840" y="5147781"/>
            <a:ext cx="466408" cy="307777"/>
          </a:xfrm>
          <a:prstGeom prst="rect">
            <a:avLst/>
          </a:prstGeom>
          <a:noFill/>
        </p:spPr>
        <p:txBody>
          <a:bodyPr wrap="square">
            <a:spAutoFit/>
          </a:bodyPr>
          <a:lstStyle/>
          <a:p>
            <a:pPr algn="ctr"/>
            <a:r>
              <a:rPr sz="1400" b="0" i="0" dirty="0">
                <a:solidFill>
                  <a:srgbClr val="2E86AB"/>
                </a:solidFill>
              </a:rPr>
              <a:t>↔</a:t>
            </a:r>
          </a:p>
        </p:txBody>
      </p:sp>
      <p:sp>
        <p:nvSpPr>
          <p:cNvPr id="48" name="TextBox 47">
            <a:extLst>
              <a:ext uri="{FF2B5EF4-FFF2-40B4-BE49-F238E27FC236}">
                <a16:creationId xmlns:a16="http://schemas.microsoft.com/office/drawing/2014/main" id="{E94B8619-D9AD-4035-60CA-34F25A512B87}"/>
              </a:ext>
            </a:extLst>
          </p:cNvPr>
          <p:cNvSpPr txBox="1"/>
          <p:nvPr/>
        </p:nvSpPr>
        <p:spPr>
          <a:xfrm>
            <a:off x="4709128" y="5146292"/>
            <a:ext cx="466408" cy="307777"/>
          </a:xfrm>
          <a:prstGeom prst="rect">
            <a:avLst/>
          </a:prstGeom>
          <a:noFill/>
        </p:spPr>
        <p:txBody>
          <a:bodyPr wrap="square">
            <a:spAutoFit/>
          </a:bodyPr>
          <a:lstStyle/>
          <a:p>
            <a:pPr algn="ctr"/>
            <a:r>
              <a:rPr sz="1400" b="0" i="0" dirty="0">
                <a:solidFill>
                  <a:srgbClr val="2E86AB"/>
                </a:solidFill>
              </a:rPr>
              <a:t>↔</a:t>
            </a:r>
          </a:p>
        </p:txBody>
      </p:sp>
      <p:sp>
        <p:nvSpPr>
          <p:cNvPr id="49" name="TextBox 48">
            <a:extLst>
              <a:ext uri="{FF2B5EF4-FFF2-40B4-BE49-F238E27FC236}">
                <a16:creationId xmlns:a16="http://schemas.microsoft.com/office/drawing/2014/main" id="{046D7662-EEEE-8DC5-4F20-A86E5CB43C46}"/>
              </a:ext>
            </a:extLst>
          </p:cNvPr>
          <p:cNvSpPr txBox="1"/>
          <p:nvPr/>
        </p:nvSpPr>
        <p:spPr>
          <a:xfrm>
            <a:off x="7013290" y="5147781"/>
            <a:ext cx="466408" cy="307777"/>
          </a:xfrm>
          <a:prstGeom prst="rect">
            <a:avLst/>
          </a:prstGeom>
          <a:noFill/>
        </p:spPr>
        <p:txBody>
          <a:bodyPr wrap="square">
            <a:spAutoFit/>
          </a:bodyPr>
          <a:lstStyle/>
          <a:p>
            <a:pPr algn="ctr"/>
            <a:r>
              <a:rPr sz="1400" b="0" i="0" dirty="0">
                <a:solidFill>
                  <a:srgbClr val="2E86AB"/>
                </a:solidFill>
              </a:rPr>
              <a:t>↔</a:t>
            </a:r>
          </a:p>
        </p:txBody>
      </p:sp>
      <p:sp>
        <p:nvSpPr>
          <p:cNvPr id="50" name="TextBox 49">
            <a:extLst>
              <a:ext uri="{FF2B5EF4-FFF2-40B4-BE49-F238E27FC236}">
                <a16:creationId xmlns:a16="http://schemas.microsoft.com/office/drawing/2014/main" id="{C2AA4C97-56D8-7B81-9568-2F951738121C}"/>
              </a:ext>
            </a:extLst>
          </p:cNvPr>
          <p:cNvSpPr txBox="1"/>
          <p:nvPr/>
        </p:nvSpPr>
        <p:spPr>
          <a:xfrm>
            <a:off x="9317452" y="5129784"/>
            <a:ext cx="466408" cy="307777"/>
          </a:xfrm>
          <a:prstGeom prst="rect">
            <a:avLst/>
          </a:prstGeom>
          <a:noFill/>
        </p:spPr>
        <p:txBody>
          <a:bodyPr wrap="square">
            <a:spAutoFit/>
          </a:bodyPr>
          <a:lstStyle/>
          <a:p>
            <a:pPr algn="ctr"/>
            <a:r>
              <a:rPr sz="1400" b="0" i="0" dirty="0">
                <a:solidFill>
                  <a:srgbClr val="2E86AB"/>
                </a:solidFill>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10972800" cy="685800"/>
          </a:xfrm>
          <a:prstGeom prst="rect">
            <a:avLst/>
          </a:prstGeom>
          <a:noFill/>
        </p:spPr>
        <p:txBody>
          <a:bodyPr wrap="square">
            <a:spAutoFit/>
          </a:bodyPr>
          <a:lstStyle/>
          <a:p>
            <a:pPr algn="l"/>
            <a:r>
              <a:rPr sz="3000" b="1" i="0">
                <a:solidFill>
                  <a:srgbClr val="FFFFFF"/>
                </a:solidFill>
              </a:rPr>
              <a:t>Model Architecture</a:t>
            </a:r>
          </a:p>
        </p:txBody>
      </p:sp>
      <p:sp>
        <p:nvSpPr>
          <p:cNvPr id="5" name="TextBox 4"/>
          <p:cNvSpPr txBox="1"/>
          <p:nvPr/>
        </p:nvSpPr>
        <p:spPr>
          <a:xfrm>
            <a:off x="320040" y="749808"/>
            <a:ext cx="10972800" cy="347472"/>
          </a:xfrm>
          <a:prstGeom prst="rect">
            <a:avLst/>
          </a:prstGeom>
          <a:noFill/>
        </p:spPr>
        <p:txBody>
          <a:bodyPr wrap="square">
            <a:spAutoFit/>
          </a:bodyPr>
          <a:lstStyle/>
          <a:p>
            <a:pPr algn="l"/>
            <a:r>
              <a:rPr sz="1300" b="0" i="0">
                <a:solidFill>
                  <a:srgbClr val="B0C8E0"/>
                </a:solidFill>
              </a:rPr>
              <a:t>5 XGBoost Models — Design &amp; Features</a:t>
            </a:r>
          </a:p>
        </p:txBody>
      </p:sp>
      <p:sp>
        <p:nvSpPr>
          <p:cNvPr id="6" name="TextBox 5"/>
          <p:cNvSpPr txBox="1"/>
          <p:nvPr/>
        </p:nvSpPr>
        <p:spPr>
          <a:xfrm>
            <a:off x="11247120" y="6537960"/>
            <a:ext cx="914400" cy="274320"/>
          </a:xfrm>
          <a:prstGeom prst="rect">
            <a:avLst/>
          </a:prstGeom>
          <a:noFill/>
        </p:spPr>
        <p:txBody>
          <a:bodyPr wrap="square">
            <a:spAutoFit/>
          </a:bodyPr>
          <a:lstStyle/>
          <a:p>
            <a:pPr algn="r"/>
            <a:r>
              <a:rPr sz="900" b="0" i="0">
                <a:solidFill>
                  <a:srgbClr val="90A4AE"/>
                </a:solidFill>
              </a:rPr>
              <a:t>9 / 17</a:t>
            </a:r>
          </a:p>
        </p:txBody>
      </p:sp>
      <p:sp>
        <p:nvSpPr>
          <p:cNvPr id="7" name="Rectangle 6"/>
          <p:cNvSpPr/>
          <p:nvPr/>
        </p:nvSpPr>
        <p:spPr>
          <a:xfrm>
            <a:off x="320040" y="1261872"/>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316736"/>
            <a:ext cx="10972800" cy="365760"/>
          </a:xfrm>
          <a:prstGeom prst="rect">
            <a:avLst/>
          </a:prstGeom>
          <a:noFill/>
        </p:spPr>
        <p:txBody>
          <a:bodyPr wrap="square">
            <a:spAutoFit/>
          </a:bodyPr>
          <a:lstStyle/>
          <a:p>
            <a:pPr algn="l"/>
            <a:r>
              <a:rPr sz="1500" b="1" i="0">
                <a:solidFill>
                  <a:srgbClr val="2E86AB"/>
                </a:solidFill>
              </a:rPr>
              <a:t>Five Prediction Targets</a:t>
            </a:r>
          </a:p>
        </p:txBody>
      </p:sp>
      <p:sp>
        <p:nvSpPr>
          <p:cNvPr id="9" name="Rectangle 8"/>
          <p:cNvSpPr/>
          <p:nvPr/>
        </p:nvSpPr>
        <p:spPr>
          <a:xfrm>
            <a:off x="320040" y="1664208"/>
            <a:ext cx="2103120" cy="1417320"/>
          </a:xfrm>
          <a:prstGeom prst="rect">
            <a:avLst/>
          </a:prstGeom>
          <a:solidFill>
            <a:srgbClr val="FFFFFF"/>
          </a:solidFill>
          <a:ln w="19050">
            <a:solidFill>
              <a:srgbClr val="E53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20040" y="1664208"/>
            <a:ext cx="2103120" cy="347472"/>
          </a:xfrm>
          <a:prstGeom prst="rect">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93192" y="1682496"/>
            <a:ext cx="1965960" cy="320040"/>
          </a:xfrm>
          <a:prstGeom prst="rect">
            <a:avLst/>
          </a:prstGeom>
          <a:noFill/>
        </p:spPr>
        <p:txBody>
          <a:bodyPr wrap="square">
            <a:spAutoFit/>
          </a:bodyPr>
          <a:lstStyle/>
          <a:p>
            <a:pPr algn="ctr"/>
            <a:r>
              <a:rPr sz="950" b="1" i="0">
                <a:solidFill>
                  <a:srgbClr val="FFFFFF"/>
                </a:solidFill>
              </a:rPr>
              <a:t>financial_stress</a:t>
            </a:r>
          </a:p>
        </p:txBody>
      </p:sp>
      <p:sp>
        <p:nvSpPr>
          <p:cNvPr id="12" name="TextBox 11"/>
          <p:cNvSpPr txBox="1"/>
          <p:nvPr/>
        </p:nvSpPr>
        <p:spPr>
          <a:xfrm>
            <a:off x="393192" y="2066543"/>
            <a:ext cx="1965960" cy="292608"/>
          </a:xfrm>
          <a:prstGeom prst="rect">
            <a:avLst/>
          </a:prstGeom>
          <a:noFill/>
        </p:spPr>
        <p:txBody>
          <a:bodyPr wrap="square">
            <a:spAutoFit/>
          </a:bodyPr>
          <a:lstStyle/>
          <a:p>
            <a:pPr algn="ctr"/>
            <a:r>
              <a:rPr sz="900" b="1" i="0">
                <a:solidFill>
                  <a:srgbClr val="E53935"/>
                </a:solidFill>
              </a:rPr>
              <a:t>Binary Classifier</a:t>
            </a:r>
          </a:p>
        </p:txBody>
      </p:sp>
      <p:sp>
        <p:nvSpPr>
          <p:cNvPr id="13" name="TextBox 12"/>
          <p:cNvSpPr txBox="1"/>
          <p:nvPr/>
        </p:nvSpPr>
        <p:spPr>
          <a:xfrm>
            <a:off x="393192" y="2395728"/>
            <a:ext cx="1965960" cy="621792"/>
          </a:xfrm>
          <a:prstGeom prst="rect">
            <a:avLst/>
          </a:prstGeom>
          <a:noFill/>
        </p:spPr>
        <p:txBody>
          <a:bodyPr wrap="square">
            <a:spAutoFit/>
          </a:bodyPr>
          <a:lstStyle/>
          <a:p>
            <a:pPr algn="ctr"/>
            <a:r>
              <a:rPr sz="900" b="0" i="0">
                <a:solidFill>
                  <a:srgbClr val="1C1C2E"/>
                </a:solidFill>
              </a:rPr>
              <a:t>Expenditure &gt; 110% income</a:t>
            </a:r>
          </a:p>
        </p:txBody>
      </p:sp>
      <p:sp>
        <p:nvSpPr>
          <p:cNvPr id="14" name="Rectangle 13"/>
          <p:cNvSpPr/>
          <p:nvPr/>
        </p:nvSpPr>
        <p:spPr>
          <a:xfrm>
            <a:off x="2624328" y="1664208"/>
            <a:ext cx="2103120" cy="1417320"/>
          </a:xfrm>
          <a:prstGeom prst="rect">
            <a:avLst/>
          </a:prstGeom>
          <a:solidFill>
            <a:srgbClr val="FFFFFF"/>
          </a:solidFill>
          <a:ln w="1905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624328" y="1664208"/>
            <a:ext cx="2103120" cy="34747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697480" y="1682496"/>
            <a:ext cx="1965960" cy="320040"/>
          </a:xfrm>
          <a:prstGeom prst="rect">
            <a:avLst/>
          </a:prstGeom>
          <a:noFill/>
        </p:spPr>
        <p:txBody>
          <a:bodyPr wrap="square">
            <a:spAutoFit/>
          </a:bodyPr>
          <a:lstStyle/>
          <a:p>
            <a:pPr algn="ctr"/>
            <a:r>
              <a:rPr sz="950" b="1" i="0">
                <a:solidFill>
                  <a:srgbClr val="FFFFFF"/>
                </a:solidFill>
              </a:rPr>
              <a:t>food_stress</a:t>
            </a:r>
          </a:p>
        </p:txBody>
      </p:sp>
      <p:sp>
        <p:nvSpPr>
          <p:cNvPr id="17" name="TextBox 16"/>
          <p:cNvSpPr txBox="1"/>
          <p:nvPr/>
        </p:nvSpPr>
        <p:spPr>
          <a:xfrm>
            <a:off x="2697480" y="2066543"/>
            <a:ext cx="1965960" cy="292608"/>
          </a:xfrm>
          <a:prstGeom prst="rect">
            <a:avLst/>
          </a:prstGeom>
          <a:noFill/>
        </p:spPr>
        <p:txBody>
          <a:bodyPr wrap="square">
            <a:spAutoFit/>
          </a:bodyPr>
          <a:lstStyle/>
          <a:p>
            <a:pPr algn="ctr"/>
            <a:r>
              <a:rPr sz="900" b="1" i="0">
                <a:solidFill>
                  <a:srgbClr val="FF9800"/>
                </a:solidFill>
              </a:rPr>
              <a:t>Binary Classifier</a:t>
            </a:r>
          </a:p>
        </p:txBody>
      </p:sp>
      <p:sp>
        <p:nvSpPr>
          <p:cNvPr id="18" name="TextBox 17"/>
          <p:cNvSpPr txBox="1"/>
          <p:nvPr/>
        </p:nvSpPr>
        <p:spPr>
          <a:xfrm>
            <a:off x="2697480" y="2395728"/>
            <a:ext cx="1965960" cy="621792"/>
          </a:xfrm>
          <a:prstGeom prst="rect">
            <a:avLst/>
          </a:prstGeom>
          <a:noFill/>
        </p:spPr>
        <p:txBody>
          <a:bodyPr wrap="square">
            <a:spAutoFit/>
          </a:bodyPr>
          <a:lstStyle/>
          <a:p>
            <a:pPr algn="ctr"/>
            <a:r>
              <a:rPr sz="900" b="0" i="0">
                <a:solidFill>
                  <a:srgbClr val="1C1C2E"/>
                </a:solidFill>
              </a:rPr>
              <a:t>Food &gt; 50% of expenditure</a:t>
            </a:r>
          </a:p>
        </p:txBody>
      </p:sp>
      <p:sp>
        <p:nvSpPr>
          <p:cNvPr id="19" name="Rectangle 18"/>
          <p:cNvSpPr/>
          <p:nvPr/>
        </p:nvSpPr>
        <p:spPr>
          <a:xfrm>
            <a:off x="4928616" y="1664208"/>
            <a:ext cx="2103120" cy="1417320"/>
          </a:xfrm>
          <a:prstGeom prst="rect">
            <a:avLst/>
          </a:prstGeom>
          <a:solidFill>
            <a:srgbClr val="FFFFFF"/>
          </a:solidFill>
          <a:ln w="19050">
            <a:solidFill>
              <a:srgbClr val="7B1F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928616" y="1664208"/>
            <a:ext cx="2103120" cy="347472"/>
          </a:xfrm>
          <a:prstGeom prst="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01768" y="1682496"/>
            <a:ext cx="1965960" cy="320040"/>
          </a:xfrm>
          <a:prstGeom prst="rect">
            <a:avLst/>
          </a:prstGeom>
          <a:noFill/>
        </p:spPr>
        <p:txBody>
          <a:bodyPr wrap="square">
            <a:spAutoFit/>
          </a:bodyPr>
          <a:lstStyle/>
          <a:p>
            <a:pPr algn="ctr"/>
            <a:r>
              <a:rPr sz="950" b="1" i="0">
                <a:solidFill>
                  <a:srgbClr val="FFFFFF"/>
                </a:solidFill>
              </a:rPr>
              <a:t>debt_stress</a:t>
            </a:r>
          </a:p>
        </p:txBody>
      </p:sp>
      <p:sp>
        <p:nvSpPr>
          <p:cNvPr id="22" name="TextBox 21"/>
          <p:cNvSpPr txBox="1"/>
          <p:nvPr/>
        </p:nvSpPr>
        <p:spPr>
          <a:xfrm>
            <a:off x="5001768" y="2066543"/>
            <a:ext cx="1965960" cy="292608"/>
          </a:xfrm>
          <a:prstGeom prst="rect">
            <a:avLst/>
          </a:prstGeom>
          <a:noFill/>
        </p:spPr>
        <p:txBody>
          <a:bodyPr wrap="square">
            <a:spAutoFit/>
          </a:bodyPr>
          <a:lstStyle/>
          <a:p>
            <a:pPr algn="ctr"/>
            <a:r>
              <a:rPr sz="900" b="1" i="0">
                <a:solidFill>
                  <a:srgbClr val="7B1FA2"/>
                </a:solidFill>
              </a:rPr>
              <a:t>Binary Classifier</a:t>
            </a:r>
          </a:p>
        </p:txBody>
      </p:sp>
      <p:sp>
        <p:nvSpPr>
          <p:cNvPr id="23" name="TextBox 22"/>
          <p:cNvSpPr txBox="1"/>
          <p:nvPr/>
        </p:nvSpPr>
        <p:spPr>
          <a:xfrm>
            <a:off x="5001768" y="2395728"/>
            <a:ext cx="1965960" cy="621792"/>
          </a:xfrm>
          <a:prstGeom prst="rect">
            <a:avLst/>
          </a:prstGeom>
          <a:noFill/>
        </p:spPr>
        <p:txBody>
          <a:bodyPr wrap="square">
            <a:spAutoFit/>
          </a:bodyPr>
          <a:lstStyle/>
          <a:p>
            <a:pPr algn="ctr"/>
            <a:r>
              <a:rPr sz="900" b="0" i="0">
                <a:solidFill>
                  <a:srgbClr val="1C1C2E"/>
                </a:solidFill>
              </a:rPr>
              <a:t>EMI &gt; 30% of income</a:t>
            </a:r>
          </a:p>
        </p:txBody>
      </p:sp>
      <p:sp>
        <p:nvSpPr>
          <p:cNvPr id="24" name="Rectangle 23"/>
          <p:cNvSpPr/>
          <p:nvPr/>
        </p:nvSpPr>
        <p:spPr>
          <a:xfrm>
            <a:off x="7232904" y="1664208"/>
            <a:ext cx="2103120" cy="1417320"/>
          </a:xfrm>
          <a:prstGeom prst="rect">
            <a:avLst/>
          </a:prstGeom>
          <a:solidFill>
            <a:srgbClr val="FFFFFF"/>
          </a:solidFill>
          <a:ln w="19050">
            <a:solidFill>
              <a:srgbClr val="007B8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232904" y="1664208"/>
            <a:ext cx="2103120" cy="347472"/>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06056" y="1682496"/>
            <a:ext cx="1965960" cy="320040"/>
          </a:xfrm>
          <a:prstGeom prst="rect">
            <a:avLst/>
          </a:prstGeom>
          <a:noFill/>
        </p:spPr>
        <p:txBody>
          <a:bodyPr wrap="square">
            <a:spAutoFit/>
          </a:bodyPr>
          <a:lstStyle/>
          <a:p>
            <a:pPr algn="ctr"/>
            <a:r>
              <a:rPr sz="950" b="1" i="0">
                <a:solidFill>
                  <a:srgbClr val="FFFFFF"/>
                </a:solidFill>
              </a:rPr>
              <a:t>health_stress</a:t>
            </a:r>
          </a:p>
        </p:txBody>
      </p:sp>
      <p:sp>
        <p:nvSpPr>
          <p:cNvPr id="27" name="TextBox 26"/>
          <p:cNvSpPr txBox="1"/>
          <p:nvPr/>
        </p:nvSpPr>
        <p:spPr>
          <a:xfrm>
            <a:off x="7306056" y="2066543"/>
            <a:ext cx="1965960" cy="292608"/>
          </a:xfrm>
          <a:prstGeom prst="rect">
            <a:avLst/>
          </a:prstGeom>
          <a:noFill/>
        </p:spPr>
        <p:txBody>
          <a:bodyPr wrap="square">
            <a:spAutoFit/>
          </a:bodyPr>
          <a:lstStyle/>
          <a:p>
            <a:pPr algn="ctr"/>
            <a:r>
              <a:rPr sz="900" b="1" i="0">
                <a:solidFill>
                  <a:srgbClr val="007B83"/>
                </a:solidFill>
              </a:rPr>
              <a:t>Binary Classifier</a:t>
            </a:r>
          </a:p>
        </p:txBody>
      </p:sp>
      <p:sp>
        <p:nvSpPr>
          <p:cNvPr id="28" name="TextBox 27"/>
          <p:cNvSpPr txBox="1"/>
          <p:nvPr/>
        </p:nvSpPr>
        <p:spPr>
          <a:xfrm>
            <a:off x="7306056" y="2395728"/>
            <a:ext cx="1965960" cy="621792"/>
          </a:xfrm>
          <a:prstGeom prst="rect">
            <a:avLst/>
          </a:prstGeom>
          <a:noFill/>
        </p:spPr>
        <p:txBody>
          <a:bodyPr wrap="square">
            <a:spAutoFit/>
          </a:bodyPr>
          <a:lstStyle/>
          <a:p>
            <a:pPr algn="ctr"/>
            <a:r>
              <a:rPr sz="900" b="0" i="0">
                <a:solidFill>
                  <a:srgbClr val="1C1C2E"/>
                </a:solidFill>
              </a:rPr>
              <a:t>Hospitalisation / Medication</a:t>
            </a:r>
          </a:p>
        </p:txBody>
      </p:sp>
      <p:sp>
        <p:nvSpPr>
          <p:cNvPr id="29" name="Rectangle 28"/>
          <p:cNvSpPr/>
          <p:nvPr/>
        </p:nvSpPr>
        <p:spPr>
          <a:xfrm>
            <a:off x="9537192" y="1664208"/>
            <a:ext cx="2103120" cy="1417320"/>
          </a:xfrm>
          <a:prstGeom prst="rect">
            <a:avLst/>
          </a:prstGeom>
          <a:solidFill>
            <a:srgbClr val="FFFFFF"/>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537192" y="1664208"/>
            <a:ext cx="2103120" cy="34747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610344" y="1682496"/>
            <a:ext cx="1965960" cy="320040"/>
          </a:xfrm>
          <a:prstGeom prst="rect">
            <a:avLst/>
          </a:prstGeom>
          <a:noFill/>
        </p:spPr>
        <p:txBody>
          <a:bodyPr wrap="square">
            <a:spAutoFit/>
          </a:bodyPr>
          <a:lstStyle/>
          <a:p>
            <a:pPr algn="ctr"/>
            <a:r>
              <a:rPr sz="950" b="1" i="0">
                <a:solidFill>
                  <a:srgbClr val="FFFFFF"/>
                </a:solidFill>
              </a:rPr>
              <a:t>composite_score</a:t>
            </a:r>
          </a:p>
        </p:txBody>
      </p:sp>
      <p:sp>
        <p:nvSpPr>
          <p:cNvPr id="32" name="TextBox 31"/>
          <p:cNvSpPr txBox="1"/>
          <p:nvPr/>
        </p:nvSpPr>
        <p:spPr>
          <a:xfrm>
            <a:off x="9610344" y="2066543"/>
            <a:ext cx="1965960" cy="292608"/>
          </a:xfrm>
          <a:prstGeom prst="rect">
            <a:avLst/>
          </a:prstGeom>
          <a:noFill/>
        </p:spPr>
        <p:txBody>
          <a:bodyPr wrap="square">
            <a:spAutoFit/>
          </a:bodyPr>
          <a:lstStyle/>
          <a:p>
            <a:pPr algn="ctr"/>
            <a:r>
              <a:rPr sz="900" b="1" i="0">
                <a:solidFill>
                  <a:srgbClr val="2E7D32"/>
                </a:solidFill>
              </a:rPr>
              <a:t>Regressor (0–4)</a:t>
            </a:r>
          </a:p>
        </p:txBody>
      </p:sp>
      <p:sp>
        <p:nvSpPr>
          <p:cNvPr id="33" name="TextBox 32"/>
          <p:cNvSpPr txBox="1"/>
          <p:nvPr/>
        </p:nvSpPr>
        <p:spPr>
          <a:xfrm>
            <a:off x="9610344" y="2395728"/>
            <a:ext cx="1965960" cy="621792"/>
          </a:xfrm>
          <a:prstGeom prst="rect">
            <a:avLst/>
          </a:prstGeom>
          <a:noFill/>
        </p:spPr>
        <p:txBody>
          <a:bodyPr wrap="square">
            <a:spAutoFit/>
          </a:bodyPr>
          <a:lstStyle/>
          <a:p>
            <a:pPr algn="ctr"/>
            <a:r>
              <a:rPr sz="900" b="0" i="0">
                <a:solidFill>
                  <a:srgbClr val="1C1C2E"/>
                </a:solidFill>
              </a:rPr>
              <a:t>Sum of 4 binary labels</a:t>
            </a:r>
          </a:p>
        </p:txBody>
      </p:sp>
      <p:sp>
        <p:nvSpPr>
          <p:cNvPr id="34" name="Rectangle 33"/>
          <p:cNvSpPr/>
          <p:nvPr/>
        </p:nvSpPr>
        <p:spPr>
          <a:xfrm>
            <a:off x="320040" y="3218688"/>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0040" y="3273552"/>
            <a:ext cx="10972800" cy="365760"/>
          </a:xfrm>
          <a:prstGeom prst="rect">
            <a:avLst/>
          </a:prstGeom>
          <a:noFill/>
        </p:spPr>
        <p:txBody>
          <a:bodyPr wrap="square">
            <a:spAutoFit/>
          </a:bodyPr>
          <a:lstStyle/>
          <a:p>
            <a:pPr algn="l"/>
            <a:r>
              <a:rPr sz="1500" b="1" i="0">
                <a:solidFill>
                  <a:srgbClr val="2E86AB"/>
                </a:solidFill>
              </a:rPr>
              <a:t>Input Features (40 Total)</a:t>
            </a:r>
          </a:p>
        </p:txBody>
      </p:sp>
      <p:graphicFrame>
        <p:nvGraphicFramePr>
          <p:cNvPr id="36" name="Table 35"/>
          <p:cNvGraphicFramePr>
            <a:graphicFrameLocks noGrp="1"/>
          </p:cNvGraphicFramePr>
          <p:nvPr/>
        </p:nvGraphicFramePr>
        <p:xfrm>
          <a:off x="320040" y="3584448"/>
          <a:ext cx="11704320" cy="2432304"/>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8229600">
                  <a:extLst>
                    <a:ext uri="{9D8B030D-6E8A-4147-A177-3AD203B41FA5}">
                      <a16:colId xmlns:a16="http://schemas.microsoft.com/office/drawing/2014/main" val="20002"/>
                    </a:ext>
                  </a:extLst>
                </a:gridCol>
              </a:tblGrid>
              <a:tr h="347472">
                <a:tc>
                  <a:txBody>
                    <a:bodyPr/>
                    <a:lstStyle/>
                    <a:p>
                      <a:pPr algn="ctr"/>
                      <a:r>
                        <a:rPr sz="1050" b="1">
                          <a:solidFill>
                            <a:srgbClr val="FFFFFF"/>
                          </a:solidFill>
                        </a:rPr>
                        <a:t>Feature Category</a:t>
                      </a:r>
                    </a:p>
                  </a:txBody>
                  <a:tcPr>
                    <a:solidFill>
                      <a:srgbClr val="2E86AB"/>
                    </a:solidFill>
                  </a:tcPr>
                </a:tc>
                <a:tc>
                  <a:txBody>
                    <a:bodyPr/>
                    <a:lstStyle/>
                    <a:p>
                      <a:pPr algn="ctr"/>
                      <a:r>
                        <a:rPr sz="1050" b="1">
                          <a:solidFill>
                            <a:srgbClr val="FFFFFF"/>
                          </a:solidFill>
                        </a:rPr>
                        <a:t>Count</a:t>
                      </a:r>
                    </a:p>
                  </a:txBody>
                  <a:tcPr>
                    <a:solidFill>
                      <a:srgbClr val="2E86AB"/>
                    </a:solidFill>
                  </a:tcPr>
                </a:tc>
                <a:tc>
                  <a:txBody>
                    <a:bodyPr/>
                    <a:lstStyle/>
                    <a:p>
                      <a:pPr algn="ctr"/>
                      <a:r>
                        <a:rPr sz="1050" b="1">
                          <a:solidFill>
                            <a:srgbClr val="FFFFFF"/>
                          </a:solidFill>
                        </a:rPr>
                        <a:t>Examples</a:t>
                      </a:r>
                    </a:p>
                  </a:txBody>
                  <a:tcPr>
                    <a:solidFill>
                      <a:srgbClr val="2E86AB"/>
                    </a:solidFill>
                  </a:tcPr>
                </a:tc>
                <a:extLst>
                  <a:ext uri="{0D108BD9-81ED-4DB2-BD59-A6C34878D82A}">
                    <a16:rowId xmlns:a16="http://schemas.microsoft.com/office/drawing/2014/main" val="10000"/>
                  </a:ext>
                </a:extLst>
              </a:tr>
              <a:tr h="347472">
                <a:tc>
                  <a:txBody>
                    <a:bodyPr/>
                    <a:lstStyle/>
                    <a:p>
                      <a:pPr algn="l"/>
                      <a:r>
                        <a:rPr sz="950">
                          <a:solidFill>
                            <a:srgbClr val="1C1C2E"/>
                          </a:solidFill>
                        </a:rPr>
                        <a:t>Ratio Features</a:t>
                      </a:r>
                    </a:p>
                  </a:txBody>
                  <a:tcPr>
                    <a:solidFill>
                      <a:srgbClr val="E8F4F8"/>
                    </a:solidFill>
                  </a:tcPr>
                </a:tc>
                <a:tc>
                  <a:txBody>
                    <a:bodyPr/>
                    <a:lstStyle/>
                    <a:p>
                      <a:pPr algn="ctr"/>
                      <a:r>
                        <a:rPr sz="950">
                          <a:solidFill>
                            <a:srgbClr val="1C1C2E"/>
                          </a:solidFill>
                        </a:rPr>
                        <a:t>7</a:t>
                      </a:r>
                    </a:p>
                  </a:txBody>
                  <a:tcPr>
                    <a:solidFill>
                      <a:srgbClr val="E8F4F8"/>
                    </a:solidFill>
                  </a:tcPr>
                </a:tc>
                <a:tc>
                  <a:txBody>
                    <a:bodyPr/>
                    <a:lstStyle/>
                    <a:p>
                      <a:pPr algn="ctr"/>
                      <a:r>
                        <a:rPr sz="950">
                          <a:solidFill>
                            <a:srgbClr val="1C1C2E"/>
                          </a:solidFill>
                        </a:rPr>
                        <a:t>emi_to_income_ratio, food_to_expense_ratio, savings_proxy, income_diversity_score</a:t>
                      </a:r>
                    </a:p>
                  </a:txBody>
                  <a:tcPr>
                    <a:solidFill>
                      <a:srgbClr val="E8F4F8"/>
                    </a:solidFill>
                  </a:tcPr>
                </a:tc>
                <a:extLst>
                  <a:ext uri="{0D108BD9-81ED-4DB2-BD59-A6C34878D82A}">
                    <a16:rowId xmlns:a16="http://schemas.microsoft.com/office/drawing/2014/main" val="10001"/>
                  </a:ext>
                </a:extLst>
              </a:tr>
              <a:tr h="347472">
                <a:tc>
                  <a:txBody>
                    <a:bodyPr/>
                    <a:lstStyle/>
                    <a:p>
                      <a:pPr algn="l"/>
                      <a:r>
                        <a:rPr sz="950">
                          <a:solidFill>
                            <a:srgbClr val="1C1C2E"/>
                          </a:solidFill>
                        </a:rPr>
                        <a:t>Raw Expenditure</a:t>
                      </a:r>
                    </a:p>
                  </a:txBody>
                  <a:tcPr>
                    <a:solidFill>
                      <a:srgbClr val="FFFFFF"/>
                    </a:solidFill>
                  </a:tcPr>
                </a:tc>
                <a:tc>
                  <a:txBody>
                    <a:bodyPr/>
                    <a:lstStyle/>
                    <a:p>
                      <a:pPr algn="ctr"/>
                      <a:r>
                        <a:rPr sz="950">
                          <a:solidFill>
                            <a:srgbClr val="1C1C2E"/>
                          </a:solidFill>
                        </a:rPr>
                        <a:t>7</a:t>
                      </a:r>
                    </a:p>
                  </a:txBody>
                  <a:tcPr>
                    <a:solidFill>
                      <a:srgbClr val="FFFFFF"/>
                    </a:solidFill>
                  </a:tcPr>
                </a:tc>
                <a:tc>
                  <a:txBody>
                    <a:bodyPr/>
                    <a:lstStyle/>
                    <a:p>
                      <a:pPr algn="ctr"/>
                      <a:r>
                        <a:rPr sz="950">
                          <a:solidFill>
                            <a:srgbClr val="1C1C2E"/>
                          </a:solidFill>
                        </a:rPr>
                        <a:t>exp_food_adjusted, exp_health, exp_education, exp_all_emis, exp_recreation</a:t>
                      </a:r>
                    </a:p>
                  </a:txBody>
                  <a:tcPr>
                    <a:solidFill>
                      <a:srgbClr val="FFFFFF"/>
                    </a:solidFill>
                  </a:tcPr>
                </a:tc>
                <a:extLst>
                  <a:ext uri="{0D108BD9-81ED-4DB2-BD59-A6C34878D82A}">
                    <a16:rowId xmlns:a16="http://schemas.microsoft.com/office/drawing/2014/main" val="10002"/>
                  </a:ext>
                </a:extLst>
              </a:tr>
              <a:tr h="347472">
                <a:tc>
                  <a:txBody>
                    <a:bodyPr/>
                    <a:lstStyle/>
                    <a:p>
                      <a:pPr algn="l"/>
                      <a:r>
                        <a:rPr sz="950">
                          <a:solidFill>
                            <a:srgbClr val="1C1C2E"/>
                          </a:solidFill>
                        </a:rPr>
                        <a:t>Income Sources</a:t>
                      </a:r>
                    </a:p>
                  </a:txBody>
                  <a:tcPr>
                    <a:solidFill>
                      <a:srgbClr val="E8F4F8"/>
                    </a:solidFill>
                  </a:tcPr>
                </a:tc>
                <a:tc>
                  <a:txBody>
                    <a:bodyPr/>
                    <a:lstStyle/>
                    <a:p>
                      <a:pPr algn="ctr"/>
                      <a:r>
                        <a:rPr sz="950">
                          <a:solidFill>
                            <a:srgbClr val="1C1C2E"/>
                          </a:solidFill>
                        </a:rPr>
                        <a:t>5</a:t>
                      </a:r>
                    </a:p>
                  </a:txBody>
                  <a:tcPr>
                    <a:solidFill>
                      <a:srgbClr val="E8F4F8"/>
                    </a:solidFill>
                  </a:tcPr>
                </a:tc>
                <a:tc>
                  <a:txBody>
                    <a:bodyPr/>
                    <a:lstStyle/>
                    <a:p>
                      <a:pPr algn="ctr"/>
                      <a:r>
                        <a:rPr sz="950">
                          <a:solidFill>
                            <a:srgbClr val="1C1C2E"/>
                          </a:solidFill>
                        </a:rPr>
                        <a:t>income_salary, income_business, income_rent, income_dividend, income_other</a:t>
                      </a:r>
                    </a:p>
                  </a:txBody>
                  <a:tcPr>
                    <a:solidFill>
                      <a:srgbClr val="E8F4F8"/>
                    </a:solidFill>
                  </a:tcPr>
                </a:tc>
                <a:extLst>
                  <a:ext uri="{0D108BD9-81ED-4DB2-BD59-A6C34878D82A}">
                    <a16:rowId xmlns:a16="http://schemas.microsoft.com/office/drawing/2014/main" val="10003"/>
                  </a:ext>
                </a:extLst>
              </a:tr>
              <a:tr h="347472">
                <a:tc>
                  <a:txBody>
                    <a:bodyPr/>
                    <a:lstStyle/>
                    <a:p>
                      <a:pPr algn="l"/>
                      <a:r>
                        <a:rPr sz="950">
                          <a:solidFill>
                            <a:srgbClr val="1C1C2E"/>
                          </a:solidFill>
                        </a:rPr>
                        <a:t>Demographics (INC)</a:t>
                      </a:r>
                    </a:p>
                  </a:txBody>
                  <a:tcPr>
                    <a:solidFill>
                      <a:srgbClr val="FFFFFF"/>
                    </a:solidFill>
                  </a:tcPr>
                </a:tc>
                <a:tc>
                  <a:txBody>
                    <a:bodyPr/>
                    <a:lstStyle/>
                    <a:p>
                      <a:pPr algn="ctr"/>
                      <a:r>
                        <a:rPr sz="950">
                          <a:solidFill>
                            <a:srgbClr val="1C1C2E"/>
                          </a:solidFill>
                        </a:rPr>
                        <a:t>7</a:t>
                      </a:r>
                    </a:p>
                  </a:txBody>
                  <a:tcPr>
                    <a:solidFill>
                      <a:srgbClr val="FFFFFF"/>
                    </a:solidFill>
                  </a:tcPr>
                </a:tc>
                <a:tc>
                  <a:txBody>
                    <a:bodyPr/>
                    <a:lstStyle/>
                    <a:p>
                      <a:pPr algn="ctr"/>
                      <a:r>
                        <a:rPr sz="950">
                          <a:solidFill>
                            <a:srgbClr val="1C1C2E"/>
                          </a:solidFill>
                        </a:rPr>
                        <a:t>state, region_type, age_group, occupation_group, education_group, gender_group, hh_size_group</a:t>
                      </a:r>
                    </a:p>
                  </a:txBody>
                  <a:tcPr>
                    <a:solidFill>
                      <a:srgbClr val="FFFFFF"/>
                    </a:solidFill>
                  </a:tcPr>
                </a:tc>
                <a:extLst>
                  <a:ext uri="{0D108BD9-81ED-4DB2-BD59-A6C34878D82A}">
                    <a16:rowId xmlns:a16="http://schemas.microsoft.com/office/drawing/2014/main" val="10004"/>
                  </a:ext>
                </a:extLst>
              </a:tr>
              <a:tr h="347472">
                <a:tc>
                  <a:txBody>
                    <a:bodyPr/>
                    <a:lstStyle/>
                    <a:p>
                      <a:pPr algn="l"/>
                      <a:r>
                        <a:rPr sz="950">
                          <a:solidFill>
                            <a:srgbClr val="1C1C2E"/>
                          </a:solidFill>
                        </a:rPr>
                        <a:t>Household Aggregates</a:t>
                      </a:r>
                    </a:p>
                  </a:txBody>
                  <a:tcPr>
                    <a:solidFill>
                      <a:srgbClr val="E8F4F8"/>
                    </a:solidFill>
                  </a:tcPr>
                </a:tc>
                <a:tc>
                  <a:txBody>
                    <a:bodyPr/>
                    <a:lstStyle/>
                    <a:p>
                      <a:pPr algn="ctr"/>
                      <a:r>
                        <a:rPr sz="950">
                          <a:solidFill>
                            <a:srgbClr val="1C1C2E"/>
                          </a:solidFill>
                        </a:rPr>
                        <a:t>4</a:t>
                      </a:r>
                    </a:p>
                  </a:txBody>
                  <a:tcPr>
                    <a:solidFill>
                      <a:srgbClr val="E8F4F8"/>
                    </a:solidFill>
                  </a:tcPr>
                </a:tc>
                <a:tc>
                  <a:txBody>
                    <a:bodyPr/>
                    <a:lstStyle/>
                    <a:p>
                      <a:pPr algn="ctr"/>
                      <a:r>
                        <a:rPr sz="950">
                          <a:solidFill>
                            <a:srgbClr val="1C1C2E"/>
                          </a:solidFill>
                        </a:rPr>
                        <a:t>age_years_hh_mean, education_rank_hh_max, income_diversity_score</a:t>
                      </a:r>
                    </a:p>
                  </a:txBody>
                  <a:tcPr>
                    <a:solidFill>
                      <a:srgbClr val="E8F4F8"/>
                    </a:solidFill>
                  </a:tcPr>
                </a:tc>
                <a:extLst>
                  <a:ext uri="{0D108BD9-81ED-4DB2-BD59-A6C34878D82A}">
                    <a16:rowId xmlns:a16="http://schemas.microsoft.com/office/drawing/2014/main" val="10005"/>
                  </a:ext>
                </a:extLst>
              </a:tr>
              <a:tr h="347472">
                <a:tc>
                  <a:txBody>
                    <a:bodyPr/>
                    <a:lstStyle/>
                    <a:p>
                      <a:pPr algn="l"/>
                      <a:r>
                        <a:rPr sz="950">
                          <a:solidFill>
                            <a:srgbClr val="1C1C2E"/>
                          </a:solidFill>
                        </a:rPr>
                        <a:t>Health/Financial Flags</a:t>
                      </a:r>
                    </a:p>
                  </a:txBody>
                  <a:tcPr>
                    <a:solidFill>
                      <a:srgbClr val="FFFFFF"/>
                    </a:solidFill>
                  </a:tcPr>
                </a:tc>
                <a:tc>
                  <a:txBody>
                    <a:bodyPr/>
                    <a:lstStyle/>
                    <a:p>
                      <a:pPr algn="ctr"/>
                      <a:r>
                        <a:rPr sz="950">
                          <a:solidFill>
                            <a:srgbClr val="1C1C2E"/>
                          </a:solidFill>
                        </a:rPr>
                        <a:t>10</a:t>
                      </a:r>
                    </a:p>
                  </a:txBody>
                  <a:tcPr>
                    <a:solidFill>
                      <a:srgbClr val="FFFFFF"/>
                    </a:solidFill>
                  </a:tcPr>
                </a:tc>
                <a:tc>
                  <a:txBody>
                    <a:bodyPr/>
                    <a:lstStyle/>
                    <a:p>
                      <a:pPr algn="ctr"/>
                      <a:r>
                        <a:rPr sz="950">
                          <a:solidFill>
                            <a:srgbClr val="1C1C2E"/>
                          </a:solidFill>
                        </a:rPr>
                        <a:t>is_healthy_hh_min, is_hospitalised_hh_any, has_bank_account_hh_any, has_life_insurance_hh_any</a:t>
                      </a:r>
                    </a:p>
                  </a:txBody>
                  <a:tcPr>
                    <a:solidFill>
                      <a:srgbClr val="FFFFFF"/>
                    </a:solidFill>
                  </a:tcPr>
                </a:tc>
                <a:extLst>
                  <a:ext uri="{0D108BD9-81ED-4DB2-BD59-A6C34878D82A}">
                    <a16:rowId xmlns:a16="http://schemas.microsoft.com/office/drawing/2014/main" val="10006"/>
                  </a:ext>
                </a:extLst>
              </a:tr>
            </a:tbl>
          </a:graphicData>
        </a:graphic>
      </p:graphicFrame>
      <p:sp>
        <p:nvSpPr>
          <p:cNvPr id="37" name="Rectangle 36"/>
          <p:cNvSpPr/>
          <p:nvPr/>
        </p:nvSpPr>
        <p:spPr>
          <a:xfrm>
            <a:off x="320040" y="6172200"/>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20040" y="6227064"/>
            <a:ext cx="10972800" cy="365760"/>
          </a:xfrm>
          <a:prstGeom prst="rect">
            <a:avLst/>
          </a:prstGeom>
          <a:noFill/>
        </p:spPr>
        <p:txBody>
          <a:bodyPr wrap="square">
            <a:spAutoFit/>
          </a:bodyPr>
          <a:lstStyle/>
          <a:p>
            <a:pPr algn="l"/>
            <a:r>
              <a:rPr sz="1500" b="1" i="0">
                <a:solidFill>
                  <a:srgbClr val="2E86AB"/>
                </a:solidFill>
              </a:rPr>
              <a:t>Preprocessing Pipeline</a:t>
            </a:r>
          </a:p>
        </p:txBody>
      </p:sp>
      <p:sp>
        <p:nvSpPr>
          <p:cNvPr id="39" name="TextBox 38"/>
          <p:cNvSpPr txBox="1"/>
          <p:nvPr/>
        </p:nvSpPr>
        <p:spPr>
          <a:xfrm>
            <a:off x="320040" y="6510528"/>
            <a:ext cx="11430000" cy="292608"/>
          </a:xfrm>
          <a:prstGeom prst="rect">
            <a:avLst/>
          </a:prstGeom>
          <a:noFill/>
        </p:spPr>
        <p:txBody>
          <a:bodyPr wrap="square">
            <a:spAutoFit/>
          </a:bodyPr>
          <a:lstStyle/>
          <a:p>
            <a:pPr algn="l"/>
            <a:r>
              <a:rPr sz="1100" b="1" i="0">
                <a:solidFill>
                  <a:srgbClr val="2E86AB"/>
                </a:solidFill>
              </a:rPr>
              <a:t>Input → SimpleImputer (median / mode) → OrdinalEncoder (categoricals) → XGBoost  |  scale_pos_weight for class imbalance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10972800" cy="685800"/>
          </a:xfrm>
          <a:prstGeom prst="rect">
            <a:avLst/>
          </a:prstGeom>
          <a:noFill/>
        </p:spPr>
        <p:txBody>
          <a:bodyPr wrap="square">
            <a:spAutoFit/>
          </a:bodyPr>
          <a:lstStyle/>
          <a:p>
            <a:pPr algn="l"/>
            <a:r>
              <a:rPr sz="3000" b="1" i="0">
                <a:solidFill>
                  <a:srgbClr val="FFFFFF"/>
                </a:solidFill>
              </a:rPr>
              <a:t>Implementation</a:t>
            </a:r>
          </a:p>
        </p:txBody>
      </p:sp>
      <p:sp>
        <p:nvSpPr>
          <p:cNvPr id="5" name="TextBox 4"/>
          <p:cNvSpPr txBox="1"/>
          <p:nvPr/>
        </p:nvSpPr>
        <p:spPr>
          <a:xfrm>
            <a:off x="320040" y="749808"/>
            <a:ext cx="10972800" cy="347472"/>
          </a:xfrm>
          <a:prstGeom prst="rect">
            <a:avLst/>
          </a:prstGeom>
          <a:noFill/>
        </p:spPr>
        <p:txBody>
          <a:bodyPr wrap="square">
            <a:spAutoFit/>
          </a:bodyPr>
          <a:lstStyle/>
          <a:p>
            <a:pPr algn="l"/>
            <a:r>
              <a:rPr sz="1300" b="0" i="0">
                <a:solidFill>
                  <a:srgbClr val="B0C8E0"/>
                </a:solidFill>
              </a:rPr>
              <a:t>Tech Stack, Chatbot Flow &amp; Stress Label Definitions</a:t>
            </a:r>
          </a:p>
        </p:txBody>
      </p:sp>
      <p:sp>
        <p:nvSpPr>
          <p:cNvPr id="6" name="TextBox 5"/>
          <p:cNvSpPr txBox="1"/>
          <p:nvPr/>
        </p:nvSpPr>
        <p:spPr>
          <a:xfrm>
            <a:off x="11247120" y="6537960"/>
            <a:ext cx="914400" cy="274320"/>
          </a:xfrm>
          <a:prstGeom prst="rect">
            <a:avLst/>
          </a:prstGeom>
          <a:noFill/>
        </p:spPr>
        <p:txBody>
          <a:bodyPr wrap="square">
            <a:spAutoFit/>
          </a:bodyPr>
          <a:lstStyle/>
          <a:p>
            <a:pPr algn="r"/>
            <a:r>
              <a:rPr sz="900" b="0" i="0">
                <a:solidFill>
                  <a:srgbClr val="90A4AE"/>
                </a:solidFill>
              </a:rPr>
              <a:t>10 / 17</a:t>
            </a:r>
          </a:p>
        </p:txBody>
      </p:sp>
      <p:sp>
        <p:nvSpPr>
          <p:cNvPr id="7" name="Rectangle 6"/>
          <p:cNvSpPr/>
          <p:nvPr/>
        </p:nvSpPr>
        <p:spPr>
          <a:xfrm>
            <a:off x="320040" y="1261872"/>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316736"/>
            <a:ext cx="10972800" cy="365760"/>
          </a:xfrm>
          <a:prstGeom prst="rect">
            <a:avLst/>
          </a:prstGeom>
          <a:noFill/>
        </p:spPr>
        <p:txBody>
          <a:bodyPr wrap="square">
            <a:spAutoFit/>
          </a:bodyPr>
          <a:lstStyle/>
          <a:p>
            <a:pPr algn="l"/>
            <a:r>
              <a:rPr sz="1500" b="1" i="0">
                <a:solidFill>
                  <a:srgbClr val="2E86AB"/>
                </a:solidFill>
              </a:rPr>
              <a:t>Tech Stack</a:t>
            </a:r>
          </a:p>
        </p:txBody>
      </p:sp>
      <p:sp>
        <p:nvSpPr>
          <p:cNvPr id="9" name="Rectangle 8"/>
          <p:cNvSpPr/>
          <p:nvPr/>
        </p:nvSpPr>
        <p:spPr>
          <a:xfrm>
            <a:off x="320040" y="1664208"/>
            <a:ext cx="3749039" cy="914400"/>
          </a:xfrm>
          <a:prstGeom prst="rect">
            <a:avLst/>
          </a:prstGeom>
          <a:solidFill>
            <a:srgbClr val="E3F2FD"/>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9768" y="1719072"/>
            <a:ext cx="3566160" cy="292608"/>
          </a:xfrm>
          <a:prstGeom prst="rect">
            <a:avLst/>
          </a:prstGeom>
          <a:noFill/>
        </p:spPr>
        <p:txBody>
          <a:bodyPr wrap="square">
            <a:spAutoFit/>
          </a:bodyPr>
          <a:lstStyle/>
          <a:p>
            <a:pPr algn="l"/>
            <a:r>
              <a:rPr sz="1100" b="1" i="0">
                <a:solidFill>
                  <a:srgbClr val="2E86AB"/>
                </a:solidFill>
              </a:rPr>
              <a:t>Data Layer</a:t>
            </a:r>
          </a:p>
        </p:txBody>
      </p:sp>
      <p:sp>
        <p:nvSpPr>
          <p:cNvPr id="11" name="TextBox 10"/>
          <p:cNvSpPr txBox="1"/>
          <p:nvPr/>
        </p:nvSpPr>
        <p:spPr>
          <a:xfrm>
            <a:off x="429768" y="2029968"/>
            <a:ext cx="3566160" cy="502920"/>
          </a:xfrm>
          <a:prstGeom prst="rect">
            <a:avLst/>
          </a:prstGeom>
          <a:noFill/>
        </p:spPr>
        <p:txBody>
          <a:bodyPr wrap="square">
            <a:spAutoFit/>
          </a:bodyPr>
          <a:lstStyle/>
          <a:p>
            <a:pPr algn="l"/>
            <a:r>
              <a:rPr sz="950" b="0" i="0">
                <a:solidFill>
                  <a:srgbClr val="1C1C2E"/>
                </a:solidFill>
              </a:rPr>
              <a:t>Python 3.10, Pandas, PyArrow, Joblib
XGBoost, Scikit-learn, SHAP</a:t>
            </a:r>
          </a:p>
        </p:txBody>
      </p:sp>
      <p:sp>
        <p:nvSpPr>
          <p:cNvPr id="12" name="Rectangle 11"/>
          <p:cNvSpPr/>
          <p:nvPr/>
        </p:nvSpPr>
        <p:spPr>
          <a:xfrm>
            <a:off x="4270248" y="1664208"/>
            <a:ext cx="3749039" cy="914400"/>
          </a:xfrm>
          <a:prstGeom prst="rect">
            <a:avLst/>
          </a:prstGeom>
          <a:solidFill>
            <a:srgbClr val="E3F2FD"/>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79976" y="1719072"/>
            <a:ext cx="3566160" cy="292608"/>
          </a:xfrm>
          <a:prstGeom prst="rect">
            <a:avLst/>
          </a:prstGeom>
          <a:noFill/>
        </p:spPr>
        <p:txBody>
          <a:bodyPr wrap="square">
            <a:spAutoFit/>
          </a:bodyPr>
          <a:lstStyle/>
          <a:p>
            <a:pPr algn="l"/>
            <a:r>
              <a:rPr sz="1100" b="1" i="0">
                <a:solidFill>
                  <a:srgbClr val="2E86AB"/>
                </a:solidFill>
              </a:rPr>
              <a:t>Backend</a:t>
            </a:r>
          </a:p>
        </p:txBody>
      </p:sp>
      <p:sp>
        <p:nvSpPr>
          <p:cNvPr id="14" name="TextBox 13"/>
          <p:cNvSpPr txBox="1"/>
          <p:nvPr/>
        </p:nvSpPr>
        <p:spPr>
          <a:xfrm>
            <a:off x="4379976" y="2029968"/>
            <a:ext cx="3566160" cy="502920"/>
          </a:xfrm>
          <a:prstGeom prst="rect">
            <a:avLst/>
          </a:prstGeom>
          <a:noFill/>
        </p:spPr>
        <p:txBody>
          <a:bodyPr wrap="square">
            <a:spAutoFit/>
          </a:bodyPr>
          <a:lstStyle/>
          <a:p>
            <a:pPr algn="l"/>
            <a:r>
              <a:rPr sz="950" b="0" i="0">
                <a:solidFill>
                  <a:srgbClr val="1C1C2E"/>
                </a:solidFill>
              </a:rPr>
              <a:t>FastAPI, Uvicorn, SQLAlchemy
Pydantic, OpenAI Python SDK</a:t>
            </a:r>
          </a:p>
        </p:txBody>
      </p:sp>
      <p:sp>
        <p:nvSpPr>
          <p:cNvPr id="15" name="Rectangle 14"/>
          <p:cNvSpPr/>
          <p:nvPr/>
        </p:nvSpPr>
        <p:spPr>
          <a:xfrm>
            <a:off x="8220456" y="1664208"/>
            <a:ext cx="3749039" cy="914400"/>
          </a:xfrm>
          <a:prstGeom prst="rect">
            <a:avLst/>
          </a:prstGeom>
          <a:solidFill>
            <a:srgbClr val="E3F2FD"/>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30183" y="1719072"/>
            <a:ext cx="3566160" cy="292608"/>
          </a:xfrm>
          <a:prstGeom prst="rect">
            <a:avLst/>
          </a:prstGeom>
          <a:noFill/>
        </p:spPr>
        <p:txBody>
          <a:bodyPr wrap="square">
            <a:spAutoFit/>
          </a:bodyPr>
          <a:lstStyle/>
          <a:p>
            <a:pPr algn="l"/>
            <a:r>
              <a:rPr sz="1100" b="1" i="0">
                <a:solidFill>
                  <a:srgbClr val="2E86AB"/>
                </a:solidFill>
              </a:rPr>
              <a:t>Frontend</a:t>
            </a:r>
          </a:p>
        </p:txBody>
      </p:sp>
      <p:sp>
        <p:nvSpPr>
          <p:cNvPr id="17" name="TextBox 16"/>
          <p:cNvSpPr txBox="1"/>
          <p:nvPr/>
        </p:nvSpPr>
        <p:spPr>
          <a:xfrm>
            <a:off x="8330183" y="2029968"/>
            <a:ext cx="3566160" cy="502920"/>
          </a:xfrm>
          <a:prstGeom prst="rect">
            <a:avLst/>
          </a:prstGeom>
          <a:noFill/>
        </p:spPr>
        <p:txBody>
          <a:bodyPr wrap="square">
            <a:spAutoFit/>
          </a:bodyPr>
          <a:lstStyle/>
          <a:p>
            <a:pPr algn="l"/>
            <a:r>
              <a:rPr sz="950" b="0" i="0">
                <a:solidFill>
                  <a:srgbClr val="1C1C2E"/>
                </a:solidFill>
              </a:rPr>
              <a:t>React 18, Vite, Axios
CSS custom design system</a:t>
            </a:r>
          </a:p>
        </p:txBody>
      </p:sp>
      <p:sp>
        <p:nvSpPr>
          <p:cNvPr id="18" name="Rectangle 17"/>
          <p:cNvSpPr/>
          <p:nvPr/>
        </p:nvSpPr>
        <p:spPr>
          <a:xfrm>
            <a:off x="320040" y="2715768"/>
            <a:ext cx="3749039" cy="914400"/>
          </a:xfrm>
          <a:prstGeom prst="rect">
            <a:avLst/>
          </a:prstGeom>
          <a:solidFill>
            <a:srgbClr val="E3F2FD"/>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29768" y="2770632"/>
            <a:ext cx="3566160" cy="292608"/>
          </a:xfrm>
          <a:prstGeom prst="rect">
            <a:avLst/>
          </a:prstGeom>
          <a:noFill/>
        </p:spPr>
        <p:txBody>
          <a:bodyPr wrap="square">
            <a:spAutoFit/>
          </a:bodyPr>
          <a:lstStyle/>
          <a:p>
            <a:pPr algn="l"/>
            <a:r>
              <a:rPr sz="1100" b="1" i="0">
                <a:solidFill>
                  <a:srgbClr val="2E86AB"/>
                </a:solidFill>
              </a:rPr>
              <a:t>Database</a:t>
            </a:r>
          </a:p>
        </p:txBody>
      </p:sp>
      <p:sp>
        <p:nvSpPr>
          <p:cNvPr id="20" name="TextBox 19"/>
          <p:cNvSpPr txBox="1"/>
          <p:nvPr/>
        </p:nvSpPr>
        <p:spPr>
          <a:xfrm>
            <a:off x="429768" y="3081527"/>
            <a:ext cx="3566160" cy="502920"/>
          </a:xfrm>
          <a:prstGeom prst="rect">
            <a:avLst/>
          </a:prstGeom>
          <a:noFill/>
        </p:spPr>
        <p:txBody>
          <a:bodyPr wrap="square">
            <a:spAutoFit/>
          </a:bodyPr>
          <a:lstStyle/>
          <a:p>
            <a:pPr algn="l"/>
            <a:r>
              <a:rPr sz="950" b="0" i="0">
                <a:solidFill>
                  <a:srgbClr val="1C1C2E"/>
                </a:solidFill>
              </a:rPr>
              <a:t>PostgreSQL (JSONB for flexible profile storage)</a:t>
            </a:r>
          </a:p>
        </p:txBody>
      </p:sp>
      <p:sp>
        <p:nvSpPr>
          <p:cNvPr id="21" name="Rectangle 20"/>
          <p:cNvSpPr/>
          <p:nvPr/>
        </p:nvSpPr>
        <p:spPr>
          <a:xfrm>
            <a:off x="4270248" y="2715768"/>
            <a:ext cx="3749039" cy="914400"/>
          </a:xfrm>
          <a:prstGeom prst="rect">
            <a:avLst/>
          </a:prstGeom>
          <a:solidFill>
            <a:srgbClr val="E3F2FD"/>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79976" y="2770632"/>
            <a:ext cx="3566160" cy="292608"/>
          </a:xfrm>
          <a:prstGeom prst="rect">
            <a:avLst/>
          </a:prstGeom>
          <a:noFill/>
        </p:spPr>
        <p:txBody>
          <a:bodyPr wrap="square">
            <a:spAutoFit/>
          </a:bodyPr>
          <a:lstStyle/>
          <a:p>
            <a:pPr algn="l"/>
            <a:r>
              <a:rPr sz="1100" b="1" i="0">
                <a:solidFill>
                  <a:srgbClr val="2E86AB"/>
                </a:solidFill>
              </a:rPr>
              <a:t>Monitoring</a:t>
            </a:r>
          </a:p>
        </p:txBody>
      </p:sp>
      <p:sp>
        <p:nvSpPr>
          <p:cNvPr id="23" name="TextBox 22"/>
          <p:cNvSpPr txBox="1"/>
          <p:nvPr/>
        </p:nvSpPr>
        <p:spPr>
          <a:xfrm>
            <a:off x="4379976" y="3081527"/>
            <a:ext cx="3566160" cy="502920"/>
          </a:xfrm>
          <a:prstGeom prst="rect">
            <a:avLst/>
          </a:prstGeom>
          <a:noFill/>
        </p:spPr>
        <p:txBody>
          <a:bodyPr wrap="square">
            <a:spAutoFit/>
          </a:bodyPr>
          <a:lstStyle/>
          <a:p>
            <a:pPr algn="l"/>
            <a:r>
              <a:rPr sz="950" b="0" i="0">
                <a:solidFill>
                  <a:srgbClr val="1C1C2E"/>
                </a:solidFill>
              </a:rPr>
              <a:t>Prometheus-client, Evidently AI, MLflow (planned)</a:t>
            </a:r>
          </a:p>
        </p:txBody>
      </p:sp>
      <p:sp>
        <p:nvSpPr>
          <p:cNvPr id="24" name="Rectangle 23"/>
          <p:cNvSpPr/>
          <p:nvPr/>
        </p:nvSpPr>
        <p:spPr>
          <a:xfrm>
            <a:off x="320040" y="3767328"/>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20040" y="3822191"/>
            <a:ext cx="10972800" cy="365760"/>
          </a:xfrm>
          <a:prstGeom prst="rect">
            <a:avLst/>
          </a:prstGeom>
          <a:noFill/>
        </p:spPr>
        <p:txBody>
          <a:bodyPr wrap="square">
            <a:spAutoFit/>
          </a:bodyPr>
          <a:lstStyle/>
          <a:p>
            <a:pPr algn="l"/>
            <a:r>
              <a:rPr sz="1500" b="1" i="0">
                <a:solidFill>
                  <a:srgbClr val="2E86AB"/>
                </a:solidFill>
              </a:rPr>
              <a:t>6-Step Chatbot Conversation Flow</a:t>
            </a:r>
          </a:p>
        </p:txBody>
      </p:sp>
      <p:sp>
        <p:nvSpPr>
          <p:cNvPr id="26" name="Rectangle 25"/>
          <p:cNvSpPr/>
          <p:nvPr/>
        </p:nvSpPr>
        <p:spPr>
          <a:xfrm>
            <a:off x="320040" y="4133087"/>
            <a:ext cx="1783080" cy="1371600"/>
          </a:xfrm>
          <a:prstGeom prst="rect">
            <a:avLst/>
          </a:prstGeom>
          <a:solidFill>
            <a:srgbClr val="FFFFFF"/>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20040" y="4133087"/>
            <a:ext cx="1783080" cy="3474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59" y="4151376"/>
            <a:ext cx="1691640" cy="320040"/>
          </a:xfrm>
          <a:prstGeom prst="rect">
            <a:avLst/>
          </a:prstGeom>
          <a:noFill/>
        </p:spPr>
        <p:txBody>
          <a:bodyPr wrap="square">
            <a:spAutoFit/>
          </a:bodyPr>
          <a:lstStyle/>
          <a:p>
            <a:pPr algn="ctr"/>
            <a:r>
              <a:rPr sz="1050" b="1" i="0">
                <a:solidFill>
                  <a:srgbClr val="FFFFFF"/>
                </a:solidFill>
              </a:rPr>
              <a:t>Step 1</a:t>
            </a:r>
          </a:p>
        </p:txBody>
      </p:sp>
      <p:sp>
        <p:nvSpPr>
          <p:cNvPr id="29" name="TextBox 28"/>
          <p:cNvSpPr txBox="1"/>
          <p:nvPr/>
        </p:nvSpPr>
        <p:spPr>
          <a:xfrm>
            <a:off x="365759" y="4535424"/>
            <a:ext cx="1691640" cy="365760"/>
          </a:xfrm>
          <a:prstGeom prst="rect">
            <a:avLst/>
          </a:prstGeom>
          <a:noFill/>
        </p:spPr>
        <p:txBody>
          <a:bodyPr wrap="square">
            <a:spAutoFit/>
          </a:bodyPr>
          <a:lstStyle/>
          <a:p>
            <a:pPr algn="ctr"/>
            <a:r>
              <a:rPr sz="950" b="1" i="0">
                <a:solidFill>
                  <a:srgbClr val="2E86AB"/>
                </a:solidFill>
              </a:rPr>
              <a:t>State &amp; Basics</a:t>
            </a:r>
          </a:p>
        </p:txBody>
      </p:sp>
      <p:sp>
        <p:nvSpPr>
          <p:cNvPr id="30" name="TextBox 29"/>
          <p:cNvSpPr txBox="1"/>
          <p:nvPr/>
        </p:nvSpPr>
        <p:spPr>
          <a:xfrm>
            <a:off x="365759" y="4919472"/>
            <a:ext cx="1691640" cy="530352"/>
          </a:xfrm>
          <a:prstGeom prst="rect">
            <a:avLst/>
          </a:prstGeom>
          <a:noFill/>
        </p:spPr>
        <p:txBody>
          <a:bodyPr wrap="square">
            <a:spAutoFit/>
          </a:bodyPr>
          <a:lstStyle/>
          <a:p>
            <a:pPr algn="ctr"/>
            <a:r>
              <a:rPr sz="900" b="0" i="0">
                <a:solidFill>
                  <a:srgbClr val="1C1C2E"/>
                </a:solidFill>
              </a:rPr>
              <a:t>State, urban/rural</a:t>
            </a:r>
          </a:p>
        </p:txBody>
      </p:sp>
      <p:sp>
        <p:nvSpPr>
          <p:cNvPr id="31" name="Rectangle 30"/>
          <p:cNvSpPr/>
          <p:nvPr/>
        </p:nvSpPr>
        <p:spPr>
          <a:xfrm>
            <a:off x="2258568" y="4133087"/>
            <a:ext cx="1783080" cy="1371600"/>
          </a:xfrm>
          <a:prstGeom prst="rect">
            <a:avLst/>
          </a:prstGeom>
          <a:solidFill>
            <a:srgbClr val="FFFFFF"/>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258568" y="4133087"/>
            <a:ext cx="1783080" cy="3474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304288" y="4151376"/>
            <a:ext cx="1691640" cy="320040"/>
          </a:xfrm>
          <a:prstGeom prst="rect">
            <a:avLst/>
          </a:prstGeom>
          <a:noFill/>
        </p:spPr>
        <p:txBody>
          <a:bodyPr wrap="square">
            <a:spAutoFit/>
          </a:bodyPr>
          <a:lstStyle/>
          <a:p>
            <a:pPr algn="ctr"/>
            <a:r>
              <a:rPr sz="1050" b="1" i="0">
                <a:solidFill>
                  <a:srgbClr val="FFFFFF"/>
                </a:solidFill>
              </a:rPr>
              <a:t>Step 2</a:t>
            </a:r>
          </a:p>
        </p:txBody>
      </p:sp>
      <p:sp>
        <p:nvSpPr>
          <p:cNvPr id="34" name="TextBox 33"/>
          <p:cNvSpPr txBox="1"/>
          <p:nvPr/>
        </p:nvSpPr>
        <p:spPr>
          <a:xfrm>
            <a:off x="2304288" y="4535424"/>
            <a:ext cx="1691640" cy="365760"/>
          </a:xfrm>
          <a:prstGeom prst="rect">
            <a:avLst/>
          </a:prstGeom>
          <a:noFill/>
        </p:spPr>
        <p:txBody>
          <a:bodyPr wrap="square">
            <a:spAutoFit/>
          </a:bodyPr>
          <a:lstStyle/>
          <a:p>
            <a:pPr algn="ctr"/>
            <a:r>
              <a:rPr sz="950" b="1" i="0">
                <a:solidFill>
                  <a:srgbClr val="2E86AB"/>
                </a:solidFill>
              </a:rPr>
              <a:t>Household Info</a:t>
            </a:r>
          </a:p>
        </p:txBody>
      </p:sp>
      <p:sp>
        <p:nvSpPr>
          <p:cNvPr id="35" name="TextBox 34"/>
          <p:cNvSpPr txBox="1"/>
          <p:nvPr/>
        </p:nvSpPr>
        <p:spPr>
          <a:xfrm>
            <a:off x="2304288" y="4919472"/>
            <a:ext cx="1691640" cy="530352"/>
          </a:xfrm>
          <a:prstGeom prst="rect">
            <a:avLst/>
          </a:prstGeom>
          <a:noFill/>
        </p:spPr>
        <p:txBody>
          <a:bodyPr wrap="square">
            <a:spAutoFit/>
          </a:bodyPr>
          <a:lstStyle/>
          <a:p>
            <a:pPr algn="ctr"/>
            <a:r>
              <a:rPr sz="900" b="0" i="0">
                <a:solidFill>
                  <a:srgbClr val="1C1C2E"/>
                </a:solidFill>
              </a:rPr>
              <a:t>Family size, occupation</a:t>
            </a:r>
          </a:p>
        </p:txBody>
      </p:sp>
      <p:sp>
        <p:nvSpPr>
          <p:cNvPr id="36" name="Rectangle 35"/>
          <p:cNvSpPr/>
          <p:nvPr/>
        </p:nvSpPr>
        <p:spPr>
          <a:xfrm>
            <a:off x="4197096" y="4133087"/>
            <a:ext cx="1783080" cy="1371600"/>
          </a:xfrm>
          <a:prstGeom prst="rect">
            <a:avLst/>
          </a:prstGeom>
          <a:solidFill>
            <a:srgbClr val="FFFFFF"/>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197096" y="4133087"/>
            <a:ext cx="1783080" cy="3474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242816" y="4151376"/>
            <a:ext cx="1691640" cy="320040"/>
          </a:xfrm>
          <a:prstGeom prst="rect">
            <a:avLst/>
          </a:prstGeom>
          <a:noFill/>
        </p:spPr>
        <p:txBody>
          <a:bodyPr wrap="square">
            <a:spAutoFit/>
          </a:bodyPr>
          <a:lstStyle/>
          <a:p>
            <a:pPr algn="ctr"/>
            <a:r>
              <a:rPr sz="1050" b="1" i="0">
                <a:solidFill>
                  <a:srgbClr val="FFFFFF"/>
                </a:solidFill>
              </a:rPr>
              <a:t>Step 3</a:t>
            </a:r>
          </a:p>
        </p:txBody>
      </p:sp>
      <p:sp>
        <p:nvSpPr>
          <p:cNvPr id="39" name="TextBox 38"/>
          <p:cNvSpPr txBox="1"/>
          <p:nvPr/>
        </p:nvSpPr>
        <p:spPr>
          <a:xfrm>
            <a:off x="4242816" y="4535424"/>
            <a:ext cx="1691640" cy="365760"/>
          </a:xfrm>
          <a:prstGeom prst="rect">
            <a:avLst/>
          </a:prstGeom>
          <a:noFill/>
        </p:spPr>
        <p:txBody>
          <a:bodyPr wrap="square">
            <a:spAutoFit/>
          </a:bodyPr>
          <a:lstStyle/>
          <a:p>
            <a:pPr algn="ctr"/>
            <a:r>
              <a:rPr sz="950" b="1" i="0">
                <a:solidFill>
                  <a:srgbClr val="2E86AB"/>
                </a:solidFill>
              </a:rPr>
              <a:t>Income</a:t>
            </a:r>
          </a:p>
        </p:txBody>
      </p:sp>
      <p:sp>
        <p:nvSpPr>
          <p:cNvPr id="40" name="TextBox 39"/>
          <p:cNvSpPr txBox="1"/>
          <p:nvPr/>
        </p:nvSpPr>
        <p:spPr>
          <a:xfrm>
            <a:off x="4242816" y="4919472"/>
            <a:ext cx="1691640" cy="530352"/>
          </a:xfrm>
          <a:prstGeom prst="rect">
            <a:avLst/>
          </a:prstGeom>
          <a:noFill/>
        </p:spPr>
        <p:txBody>
          <a:bodyPr wrap="square">
            <a:spAutoFit/>
          </a:bodyPr>
          <a:lstStyle/>
          <a:p>
            <a:pPr algn="ctr"/>
            <a:r>
              <a:rPr sz="900" b="0" i="0">
                <a:solidFill>
                  <a:srgbClr val="1C1C2E"/>
                </a:solidFill>
              </a:rPr>
              <a:t>Monthly income breakdown</a:t>
            </a:r>
          </a:p>
        </p:txBody>
      </p:sp>
      <p:sp>
        <p:nvSpPr>
          <p:cNvPr id="41" name="Rectangle 40"/>
          <p:cNvSpPr/>
          <p:nvPr/>
        </p:nvSpPr>
        <p:spPr>
          <a:xfrm>
            <a:off x="6135624" y="4133087"/>
            <a:ext cx="1783080" cy="1371600"/>
          </a:xfrm>
          <a:prstGeom prst="rect">
            <a:avLst/>
          </a:prstGeom>
          <a:solidFill>
            <a:srgbClr val="FFFFFF"/>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135624" y="4133087"/>
            <a:ext cx="1783080" cy="3474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181344" y="4151376"/>
            <a:ext cx="1691640" cy="320040"/>
          </a:xfrm>
          <a:prstGeom prst="rect">
            <a:avLst/>
          </a:prstGeom>
          <a:noFill/>
        </p:spPr>
        <p:txBody>
          <a:bodyPr wrap="square">
            <a:spAutoFit/>
          </a:bodyPr>
          <a:lstStyle/>
          <a:p>
            <a:pPr algn="ctr"/>
            <a:r>
              <a:rPr sz="1050" b="1" i="0">
                <a:solidFill>
                  <a:srgbClr val="FFFFFF"/>
                </a:solidFill>
              </a:rPr>
              <a:t>Step 4</a:t>
            </a:r>
          </a:p>
        </p:txBody>
      </p:sp>
      <p:sp>
        <p:nvSpPr>
          <p:cNvPr id="44" name="TextBox 43"/>
          <p:cNvSpPr txBox="1"/>
          <p:nvPr/>
        </p:nvSpPr>
        <p:spPr>
          <a:xfrm>
            <a:off x="6181344" y="4535424"/>
            <a:ext cx="1691640" cy="365760"/>
          </a:xfrm>
          <a:prstGeom prst="rect">
            <a:avLst/>
          </a:prstGeom>
          <a:noFill/>
        </p:spPr>
        <p:txBody>
          <a:bodyPr wrap="square">
            <a:spAutoFit/>
          </a:bodyPr>
          <a:lstStyle/>
          <a:p>
            <a:pPr algn="ctr"/>
            <a:r>
              <a:rPr sz="950" b="1" i="0">
                <a:solidFill>
                  <a:srgbClr val="2E86AB"/>
                </a:solidFill>
              </a:rPr>
              <a:t>Expenses</a:t>
            </a:r>
          </a:p>
        </p:txBody>
      </p:sp>
      <p:sp>
        <p:nvSpPr>
          <p:cNvPr id="45" name="TextBox 44"/>
          <p:cNvSpPr txBox="1"/>
          <p:nvPr/>
        </p:nvSpPr>
        <p:spPr>
          <a:xfrm>
            <a:off x="6181344" y="4919472"/>
            <a:ext cx="1691640" cy="530352"/>
          </a:xfrm>
          <a:prstGeom prst="rect">
            <a:avLst/>
          </a:prstGeom>
          <a:noFill/>
        </p:spPr>
        <p:txBody>
          <a:bodyPr wrap="square">
            <a:spAutoFit/>
          </a:bodyPr>
          <a:lstStyle/>
          <a:p>
            <a:pPr algn="ctr"/>
            <a:r>
              <a:rPr sz="900" b="0" i="0">
                <a:solidFill>
                  <a:srgbClr val="1C1C2E"/>
                </a:solidFill>
              </a:rPr>
              <a:t>Food, EMIs, health, education</a:t>
            </a:r>
          </a:p>
        </p:txBody>
      </p:sp>
      <p:sp>
        <p:nvSpPr>
          <p:cNvPr id="46" name="Rectangle 45"/>
          <p:cNvSpPr/>
          <p:nvPr/>
        </p:nvSpPr>
        <p:spPr>
          <a:xfrm>
            <a:off x="8074152" y="4133087"/>
            <a:ext cx="1783080" cy="1371600"/>
          </a:xfrm>
          <a:prstGeom prst="rect">
            <a:avLst/>
          </a:prstGeom>
          <a:solidFill>
            <a:srgbClr val="FFFFFF"/>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8074152" y="4133087"/>
            <a:ext cx="1783080" cy="3474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119872" y="4151376"/>
            <a:ext cx="1691640" cy="320040"/>
          </a:xfrm>
          <a:prstGeom prst="rect">
            <a:avLst/>
          </a:prstGeom>
          <a:noFill/>
        </p:spPr>
        <p:txBody>
          <a:bodyPr wrap="square">
            <a:spAutoFit/>
          </a:bodyPr>
          <a:lstStyle/>
          <a:p>
            <a:pPr algn="ctr"/>
            <a:r>
              <a:rPr sz="1050" b="1" i="0">
                <a:solidFill>
                  <a:srgbClr val="FFFFFF"/>
                </a:solidFill>
              </a:rPr>
              <a:t>Step 5</a:t>
            </a:r>
          </a:p>
        </p:txBody>
      </p:sp>
      <p:sp>
        <p:nvSpPr>
          <p:cNvPr id="49" name="TextBox 48"/>
          <p:cNvSpPr txBox="1"/>
          <p:nvPr/>
        </p:nvSpPr>
        <p:spPr>
          <a:xfrm>
            <a:off x="8119872" y="4535424"/>
            <a:ext cx="1691640" cy="365760"/>
          </a:xfrm>
          <a:prstGeom prst="rect">
            <a:avLst/>
          </a:prstGeom>
          <a:noFill/>
        </p:spPr>
        <p:txBody>
          <a:bodyPr wrap="square">
            <a:spAutoFit/>
          </a:bodyPr>
          <a:lstStyle/>
          <a:p>
            <a:pPr algn="ctr"/>
            <a:r>
              <a:rPr sz="950" b="1" i="0">
                <a:solidFill>
                  <a:srgbClr val="2E86AB"/>
                </a:solidFill>
              </a:rPr>
              <a:t>Health Situation</a:t>
            </a:r>
          </a:p>
        </p:txBody>
      </p:sp>
      <p:sp>
        <p:nvSpPr>
          <p:cNvPr id="50" name="TextBox 49"/>
          <p:cNvSpPr txBox="1"/>
          <p:nvPr/>
        </p:nvSpPr>
        <p:spPr>
          <a:xfrm>
            <a:off x="8119872" y="4919472"/>
            <a:ext cx="1691640" cy="530352"/>
          </a:xfrm>
          <a:prstGeom prst="rect">
            <a:avLst/>
          </a:prstGeom>
          <a:noFill/>
        </p:spPr>
        <p:txBody>
          <a:bodyPr wrap="square">
            <a:spAutoFit/>
          </a:bodyPr>
          <a:lstStyle/>
          <a:p>
            <a:pPr algn="ctr"/>
            <a:r>
              <a:rPr sz="900" b="0" i="0">
                <a:solidFill>
                  <a:srgbClr val="1C1C2E"/>
                </a:solidFill>
              </a:rPr>
              <a:t>Hospitalised? Medication?</a:t>
            </a:r>
          </a:p>
        </p:txBody>
      </p:sp>
      <p:sp>
        <p:nvSpPr>
          <p:cNvPr id="51" name="Rectangle 50"/>
          <p:cNvSpPr/>
          <p:nvPr/>
        </p:nvSpPr>
        <p:spPr>
          <a:xfrm>
            <a:off x="10012680" y="4133087"/>
            <a:ext cx="1783080" cy="1371600"/>
          </a:xfrm>
          <a:prstGeom prst="rect">
            <a:avLst/>
          </a:prstGeom>
          <a:solidFill>
            <a:srgbClr val="FFFFFF"/>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10012680" y="4133087"/>
            <a:ext cx="1783080" cy="3474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058400" y="4151376"/>
            <a:ext cx="1691640" cy="320040"/>
          </a:xfrm>
          <a:prstGeom prst="rect">
            <a:avLst/>
          </a:prstGeom>
          <a:noFill/>
        </p:spPr>
        <p:txBody>
          <a:bodyPr wrap="square">
            <a:spAutoFit/>
          </a:bodyPr>
          <a:lstStyle/>
          <a:p>
            <a:pPr algn="ctr"/>
            <a:r>
              <a:rPr sz="1050" b="1" i="0">
                <a:solidFill>
                  <a:srgbClr val="FFFFFF"/>
                </a:solidFill>
              </a:rPr>
              <a:t>Step 6</a:t>
            </a:r>
          </a:p>
        </p:txBody>
      </p:sp>
      <p:sp>
        <p:nvSpPr>
          <p:cNvPr id="54" name="TextBox 53"/>
          <p:cNvSpPr txBox="1"/>
          <p:nvPr/>
        </p:nvSpPr>
        <p:spPr>
          <a:xfrm>
            <a:off x="10058400" y="4535424"/>
            <a:ext cx="1691640" cy="365760"/>
          </a:xfrm>
          <a:prstGeom prst="rect">
            <a:avLst/>
          </a:prstGeom>
          <a:noFill/>
        </p:spPr>
        <p:txBody>
          <a:bodyPr wrap="square">
            <a:spAutoFit/>
          </a:bodyPr>
          <a:lstStyle/>
          <a:p>
            <a:pPr algn="ctr"/>
            <a:r>
              <a:rPr sz="950" b="1" i="0">
                <a:solidFill>
                  <a:srgbClr val="2E86AB"/>
                </a:solidFill>
              </a:rPr>
              <a:t>Assets &amp; Savings</a:t>
            </a:r>
          </a:p>
        </p:txBody>
      </p:sp>
      <p:sp>
        <p:nvSpPr>
          <p:cNvPr id="55" name="TextBox 54"/>
          <p:cNvSpPr txBox="1"/>
          <p:nvPr/>
        </p:nvSpPr>
        <p:spPr>
          <a:xfrm>
            <a:off x="10058400" y="4919472"/>
            <a:ext cx="1691640" cy="530352"/>
          </a:xfrm>
          <a:prstGeom prst="rect">
            <a:avLst/>
          </a:prstGeom>
          <a:noFill/>
        </p:spPr>
        <p:txBody>
          <a:bodyPr wrap="square">
            <a:spAutoFit/>
          </a:bodyPr>
          <a:lstStyle/>
          <a:p>
            <a:pPr algn="ctr"/>
            <a:r>
              <a:rPr sz="900" b="0" i="0">
                <a:solidFill>
                  <a:srgbClr val="1C1C2E"/>
                </a:solidFill>
              </a:rPr>
              <a:t>Bank, insurance, investments</a:t>
            </a:r>
          </a:p>
        </p:txBody>
      </p:sp>
      <p:sp>
        <p:nvSpPr>
          <p:cNvPr id="56" name="TextBox 55"/>
          <p:cNvSpPr txBox="1"/>
          <p:nvPr/>
        </p:nvSpPr>
        <p:spPr>
          <a:xfrm>
            <a:off x="320040" y="5577840"/>
            <a:ext cx="11430000" cy="347472"/>
          </a:xfrm>
          <a:prstGeom prst="rect">
            <a:avLst/>
          </a:prstGeom>
          <a:noFill/>
        </p:spPr>
        <p:txBody>
          <a:bodyPr wrap="square">
            <a:spAutoFit/>
          </a:bodyPr>
          <a:lstStyle/>
          <a:p>
            <a:pPr algn="ctr"/>
            <a:r>
              <a:rPr sz="1150" b="1" i="0">
                <a:solidFill>
                  <a:srgbClr val="4CAF50"/>
                </a:solidFill>
              </a:rPr>
              <a:t>→ Run 5 ML Models → GPT-4o-mini Advice → Display Stress Gauges &amp; Advice Cards</a:t>
            </a:r>
          </a:p>
        </p:txBody>
      </p:sp>
      <p:sp>
        <p:nvSpPr>
          <p:cNvPr id="57" name="Rectangle 56"/>
          <p:cNvSpPr/>
          <p:nvPr/>
        </p:nvSpPr>
        <p:spPr>
          <a:xfrm>
            <a:off x="320040" y="5989320"/>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20040" y="6044183"/>
            <a:ext cx="10972800" cy="365760"/>
          </a:xfrm>
          <a:prstGeom prst="rect">
            <a:avLst/>
          </a:prstGeom>
          <a:noFill/>
        </p:spPr>
        <p:txBody>
          <a:bodyPr wrap="square">
            <a:spAutoFit/>
          </a:bodyPr>
          <a:lstStyle/>
          <a:p>
            <a:pPr algn="l"/>
            <a:r>
              <a:rPr sz="1500" b="1" i="0">
                <a:solidFill>
                  <a:srgbClr val="2E86AB"/>
                </a:solidFill>
              </a:rPr>
              <a:t>Stress Label Formulae</a:t>
            </a:r>
          </a:p>
        </p:txBody>
      </p:sp>
      <p:sp>
        <p:nvSpPr>
          <p:cNvPr id="59" name="TextBox 58"/>
          <p:cNvSpPr txBox="1"/>
          <p:nvPr/>
        </p:nvSpPr>
        <p:spPr>
          <a:xfrm>
            <a:off x="320040" y="6336792"/>
            <a:ext cx="11430000" cy="411480"/>
          </a:xfrm>
          <a:prstGeom prst="rect">
            <a:avLst/>
          </a:prstGeom>
          <a:noFill/>
        </p:spPr>
        <p:txBody>
          <a:bodyPr wrap="square">
            <a:spAutoFit/>
          </a:bodyPr>
          <a:lstStyle/>
          <a:p>
            <a:pPr algn="l"/>
            <a:r>
              <a:rPr sz="1050" b="0" i="1">
                <a:solidFill>
                  <a:srgbClr val="1C1C2E"/>
                </a:solidFill>
              </a:rPr>
              <a:t>financial_stress: expense/income &gt; 1.10  |  food_stress: food_exp/total_exp &gt; 0.50  |  debt_stress: EMI/income &gt; 0.30  |  health_stress: hospitalised OR on medication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10972800" cy="685800"/>
          </a:xfrm>
          <a:prstGeom prst="rect">
            <a:avLst/>
          </a:prstGeom>
          <a:noFill/>
        </p:spPr>
        <p:txBody>
          <a:bodyPr wrap="square">
            <a:spAutoFit/>
          </a:bodyPr>
          <a:lstStyle/>
          <a:p>
            <a:pPr algn="l"/>
            <a:r>
              <a:rPr sz="3000" b="1" i="0">
                <a:solidFill>
                  <a:srgbClr val="FFFFFF"/>
                </a:solidFill>
              </a:rPr>
              <a:t>Results &amp; Evaluation</a:t>
            </a:r>
          </a:p>
        </p:txBody>
      </p:sp>
      <p:sp>
        <p:nvSpPr>
          <p:cNvPr id="5" name="TextBox 4"/>
          <p:cNvSpPr txBox="1"/>
          <p:nvPr/>
        </p:nvSpPr>
        <p:spPr>
          <a:xfrm>
            <a:off x="320040" y="749808"/>
            <a:ext cx="10972800" cy="347472"/>
          </a:xfrm>
          <a:prstGeom prst="rect">
            <a:avLst/>
          </a:prstGeom>
          <a:noFill/>
        </p:spPr>
        <p:txBody>
          <a:bodyPr wrap="square">
            <a:spAutoFit/>
          </a:bodyPr>
          <a:lstStyle/>
          <a:p>
            <a:pPr algn="l"/>
            <a:r>
              <a:rPr sz="1300" b="0" i="0">
                <a:solidFill>
                  <a:srgbClr val="B0C8E0"/>
                </a:solidFill>
              </a:rPr>
              <a:t>Model Performance on ~100K Held-Out Test Records</a:t>
            </a:r>
          </a:p>
        </p:txBody>
      </p:sp>
      <p:sp>
        <p:nvSpPr>
          <p:cNvPr id="6" name="TextBox 5"/>
          <p:cNvSpPr txBox="1"/>
          <p:nvPr/>
        </p:nvSpPr>
        <p:spPr>
          <a:xfrm>
            <a:off x="11247120" y="6537960"/>
            <a:ext cx="914400" cy="274320"/>
          </a:xfrm>
          <a:prstGeom prst="rect">
            <a:avLst/>
          </a:prstGeom>
          <a:noFill/>
        </p:spPr>
        <p:txBody>
          <a:bodyPr wrap="square">
            <a:spAutoFit/>
          </a:bodyPr>
          <a:lstStyle/>
          <a:p>
            <a:pPr algn="r"/>
            <a:r>
              <a:rPr sz="900" b="0" i="0">
                <a:solidFill>
                  <a:srgbClr val="90A4AE"/>
                </a:solidFill>
              </a:rPr>
              <a:t>11 / 17</a:t>
            </a:r>
          </a:p>
        </p:txBody>
      </p:sp>
      <p:sp>
        <p:nvSpPr>
          <p:cNvPr id="7" name="Rectangle 6"/>
          <p:cNvSpPr/>
          <p:nvPr/>
        </p:nvSpPr>
        <p:spPr>
          <a:xfrm>
            <a:off x="320040" y="1261872"/>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316736"/>
            <a:ext cx="10972800" cy="365760"/>
          </a:xfrm>
          <a:prstGeom prst="rect">
            <a:avLst/>
          </a:prstGeom>
          <a:noFill/>
        </p:spPr>
        <p:txBody>
          <a:bodyPr wrap="square">
            <a:spAutoFit/>
          </a:bodyPr>
          <a:lstStyle/>
          <a:p>
            <a:pPr algn="l"/>
            <a:r>
              <a:rPr sz="1500" b="1" i="0">
                <a:solidFill>
                  <a:srgbClr val="2E86AB"/>
                </a:solidFill>
              </a:rPr>
              <a:t>Model Performance Summary</a:t>
            </a:r>
          </a:p>
        </p:txBody>
      </p:sp>
      <p:graphicFrame>
        <p:nvGraphicFramePr>
          <p:cNvPr id="9" name="Table 8"/>
          <p:cNvGraphicFramePr>
            <a:graphicFrameLocks noGrp="1"/>
          </p:cNvGraphicFramePr>
          <p:nvPr>
            <p:extLst>
              <p:ext uri="{D42A27DB-BD31-4B8C-83A1-F6EECF244321}">
                <p14:modId xmlns:p14="http://schemas.microsoft.com/office/powerpoint/2010/main" val="2636798703"/>
              </p:ext>
            </p:extLst>
          </p:nvPr>
        </p:nvGraphicFramePr>
        <p:xfrm>
          <a:off x="320040" y="1664208"/>
          <a:ext cx="11795760" cy="2633472"/>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256032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tblGrid>
              <a:tr h="438912">
                <a:tc>
                  <a:txBody>
                    <a:bodyPr/>
                    <a:lstStyle/>
                    <a:p>
                      <a:pPr algn="ctr"/>
                      <a:r>
                        <a:rPr sz="1100" b="1">
                          <a:solidFill>
                            <a:srgbClr val="FFFFFF"/>
                          </a:solidFill>
                        </a:rPr>
                        <a:t>Model</a:t>
                      </a:r>
                    </a:p>
                  </a:txBody>
                  <a:tcPr>
                    <a:solidFill>
                      <a:srgbClr val="2E86AB"/>
                    </a:solidFill>
                  </a:tcPr>
                </a:tc>
                <a:tc>
                  <a:txBody>
                    <a:bodyPr/>
                    <a:lstStyle/>
                    <a:p>
                      <a:pPr algn="ctr"/>
                      <a:r>
                        <a:rPr sz="1100" b="1">
                          <a:solidFill>
                            <a:srgbClr val="FFFFFF"/>
                          </a:solidFill>
                        </a:rPr>
                        <a:t>Type</a:t>
                      </a:r>
                    </a:p>
                  </a:txBody>
                  <a:tcPr>
                    <a:solidFill>
                      <a:srgbClr val="2E86AB"/>
                    </a:solidFill>
                  </a:tcPr>
                </a:tc>
                <a:tc>
                  <a:txBody>
                    <a:bodyPr/>
                    <a:lstStyle/>
                    <a:p>
                      <a:pPr algn="ctr"/>
                      <a:r>
                        <a:rPr sz="1100" b="1">
                          <a:solidFill>
                            <a:srgbClr val="FFFFFF"/>
                          </a:solidFill>
                        </a:rPr>
                        <a:t>F1-Macro</a:t>
                      </a:r>
                    </a:p>
                  </a:txBody>
                  <a:tcPr>
                    <a:solidFill>
                      <a:srgbClr val="2E86AB"/>
                    </a:solidFill>
                  </a:tcPr>
                </a:tc>
                <a:tc>
                  <a:txBody>
                    <a:bodyPr/>
                    <a:lstStyle/>
                    <a:p>
                      <a:pPr algn="ctr"/>
                      <a:r>
                        <a:rPr sz="1100" b="1">
                          <a:solidFill>
                            <a:srgbClr val="FFFFFF"/>
                          </a:solidFill>
                        </a:rPr>
                        <a:t>AUC-ROC</a:t>
                      </a:r>
                    </a:p>
                  </a:txBody>
                  <a:tcPr>
                    <a:solidFill>
                      <a:srgbClr val="2E86AB"/>
                    </a:solidFill>
                  </a:tcPr>
                </a:tc>
                <a:tc>
                  <a:txBody>
                    <a:bodyPr/>
                    <a:lstStyle/>
                    <a:p>
                      <a:pPr algn="ctr"/>
                      <a:r>
                        <a:rPr sz="1100" b="1">
                          <a:solidFill>
                            <a:srgbClr val="FFFFFF"/>
                          </a:solidFill>
                        </a:rPr>
                        <a:t>Accuracy</a:t>
                      </a:r>
                    </a:p>
                  </a:txBody>
                  <a:tcPr>
                    <a:solidFill>
                      <a:srgbClr val="2E86AB"/>
                    </a:solidFill>
                  </a:tcPr>
                </a:tc>
                <a:tc>
                  <a:txBody>
                    <a:bodyPr/>
                    <a:lstStyle/>
                    <a:p>
                      <a:pPr algn="ctr"/>
                      <a:r>
                        <a:rPr sz="1100" b="1">
                          <a:solidFill>
                            <a:srgbClr val="FFFFFF"/>
                          </a:solidFill>
                        </a:rPr>
                        <a:t>Status</a:t>
                      </a:r>
                    </a:p>
                  </a:txBody>
                  <a:tcPr>
                    <a:solidFill>
                      <a:srgbClr val="2E86AB"/>
                    </a:solidFill>
                  </a:tcPr>
                </a:tc>
                <a:extLst>
                  <a:ext uri="{0D108BD9-81ED-4DB2-BD59-A6C34878D82A}">
                    <a16:rowId xmlns:a16="http://schemas.microsoft.com/office/drawing/2014/main" val="10000"/>
                  </a:ext>
                </a:extLst>
              </a:tr>
              <a:tr h="438912">
                <a:tc>
                  <a:txBody>
                    <a:bodyPr/>
                    <a:lstStyle/>
                    <a:p>
                      <a:pPr algn="l"/>
                      <a:r>
                        <a:rPr sz="1050">
                          <a:solidFill>
                            <a:srgbClr val="1C1C2E"/>
                          </a:solidFill>
                        </a:rPr>
                        <a:t>financial_stress</a:t>
                      </a:r>
                    </a:p>
                  </a:txBody>
                  <a:tcPr>
                    <a:solidFill>
                      <a:srgbClr val="E8F4F8"/>
                    </a:solidFill>
                  </a:tcPr>
                </a:tc>
                <a:tc>
                  <a:txBody>
                    <a:bodyPr/>
                    <a:lstStyle/>
                    <a:p>
                      <a:pPr algn="ctr"/>
                      <a:r>
                        <a:rPr sz="1050">
                          <a:solidFill>
                            <a:srgbClr val="1C1C2E"/>
                          </a:solidFill>
                        </a:rPr>
                        <a:t>Binary Classifier</a:t>
                      </a:r>
                    </a:p>
                  </a:txBody>
                  <a:tcPr>
                    <a:solidFill>
                      <a:srgbClr val="E8F4F8"/>
                    </a:solidFill>
                  </a:tcPr>
                </a:tc>
                <a:tc>
                  <a:txBody>
                    <a:bodyPr/>
                    <a:lstStyle/>
                    <a:p>
                      <a:pPr algn="ctr"/>
                      <a:r>
                        <a:rPr lang="en-IN" sz="1050" dirty="0">
                          <a:solidFill>
                            <a:srgbClr val="1C1C2E"/>
                          </a:solidFill>
                        </a:rPr>
                        <a:t>0.9703</a:t>
                      </a:r>
                      <a:endParaRPr sz="1050" dirty="0">
                        <a:solidFill>
                          <a:srgbClr val="1C1C2E"/>
                        </a:solidFill>
                      </a:endParaRPr>
                    </a:p>
                  </a:txBody>
                  <a:tcPr>
                    <a:solidFill>
                      <a:srgbClr val="E8F4F8"/>
                    </a:solidFill>
                  </a:tcPr>
                </a:tc>
                <a:tc>
                  <a:txBody>
                    <a:bodyPr/>
                    <a:lstStyle/>
                    <a:p>
                      <a:pPr algn="ctr"/>
                      <a:r>
                        <a:rPr lang="en-IN" sz="1050" dirty="0"/>
                        <a:t>0.9790</a:t>
                      </a:r>
                      <a:endParaRPr sz="1050" dirty="0">
                        <a:solidFill>
                          <a:srgbClr val="1C1C2E"/>
                        </a:solidFill>
                      </a:endParaRPr>
                    </a:p>
                  </a:txBody>
                  <a:tcPr>
                    <a:solidFill>
                      <a:srgbClr val="E8F4F8"/>
                    </a:solidFill>
                  </a:tcPr>
                </a:tc>
                <a:tc>
                  <a:txBody>
                    <a:bodyPr/>
                    <a:lstStyle/>
                    <a:p>
                      <a:pPr algn="ctr"/>
                      <a:r>
                        <a:rPr lang="en-IN" sz="1050" dirty="0"/>
                        <a:t>98.36%</a:t>
                      </a:r>
                      <a:endParaRPr sz="1050" dirty="0">
                        <a:solidFill>
                          <a:srgbClr val="1C1C2E"/>
                        </a:solidFill>
                      </a:endParaRPr>
                    </a:p>
                  </a:txBody>
                  <a:tcPr>
                    <a:solidFill>
                      <a:srgbClr val="E8F4F8"/>
                    </a:solidFill>
                  </a:tcPr>
                </a:tc>
                <a:tc>
                  <a:txBody>
                    <a:bodyPr/>
                    <a:lstStyle/>
                    <a:p>
                      <a:pPr algn="ctr"/>
                      <a:r>
                        <a:rPr sz="1050" dirty="0">
                          <a:solidFill>
                            <a:srgbClr val="1C1C2E"/>
                          </a:solidFill>
                        </a:rPr>
                        <a:t>Excellent</a:t>
                      </a:r>
                    </a:p>
                  </a:txBody>
                  <a:tcPr>
                    <a:solidFill>
                      <a:srgbClr val="E8F4F8"/>
                    </a:solidFill>
                  </a:tcPr>
                </a:tc>
                <a:extLst>
                  <a:ext uri="{0D108BD9-81ED-4DB2-BD59-A6C34878D82A}">
                    <a16:rowId xmlns:a16="http://schemas.microsoft.com/office/drawing/2014/main" val="10001"/>
                  </a:ext>
                </a:extLst>
              </a:tr>
              <a:tr h="438912">
                <a:tc>
                  <a:txBody>
                    <a:bodyPr/>
                    <a:lstStyle/>
                    <a:p>
                      <a:pPr algn="l"/>
                      <a:r>
                        <a:rPr sz="1050">
                          <a:solidFill>
                            <a:srgbClr val="1C1C2E"/>
                          </a:solidFill>
                        </a:rPr>
                        <a:t>food_stress</a:t>
                      </a:r>
                    </a:p>
                  </a:txBody>
                  <a:tcPr>
                    <a:solidFill>
                      <a:srgbClr val="FFFFFF"/>
                    </a:solidFill>
                  </a:tcPr>
                </a:tc>
                <a:tc>
                  <a:txBody>
                    <a:bodyPr/>
                    <a:lstStyle/>
                    <a:p>
                      <a:pPr algn="ctr"/>
                      <a:r>
                        <a:rPr sz="1050">
                          <a:solidFill>
                            <a:srgbClr val="1C1C2E"/>
                          </a:solidFill>
                        </a:rPr>
                        <a:t>Binary Classifier</a:t>
                      </a:r>
                    </a:p>
                  </a:txBody>
                  <a:tcPr>
                    <a:solidFill>
                      <a:srgbClr val="FFFFFF"/>
                    </a:solidFill>
                  </a:tcPr>
                </a:tc>
                <a:tc>
                  <a:txBody>
                    <a:bodyPr/>
                    <a:lstStyle/>
                    <a:p>
                      <a:pPr algn="ctr"/>
                      <a:r>
                        <a:rPr lang="en-IN" sz="1050" dirty="0"/>
                        <a:t>0.9076</a:t>
                      </a:r>
                      <a:endParaRPr sz="1050" dirty="0">
                        <a:solidFill>
                          <a:srgbClr val="1C1C2E"/>
                        </a:solidFill>
                      </a:endParaRPr>
                    </a:p>
                  </a:txBody>
                  <a:tcPr>
                    <a:solidFill>
                      <a:srgbClr val="FFFFFF"/>
                    </a:solidFill>
                  </a:tcPr>
                </a:tc>
                <a:tc>
                  <a:txBody>
                    <a:bodyPr/>
                    <a:lstStyle/>
                    <a:p>
                      <a:pPr algn="ctr"/>
                      <a:r>
                        <a:rPr lang="en-IN" sz="1050" dirty="0"/>
                        <a:t>0.9733</a:t>
                      </a:r>
                      <a:endParaRPr sz="1050" dirty="0">
                        <a:solidFill>
                          <a:srgbClr val="1C1C2E"/>
                        </a:solidFill>
                      </a:endParaRPr>
                    </a:p>
                  </a:txBody>
                  <a:tcPr>
                    <a:solidFill>
                      <a:srgbClr val="FFFFFF"/>
                    </a:solidFill>
                  </a:tcPr>
                </a:tc>
                <a:tc>
                  <a:txBody>
                    <a:bodyPr/>
                    <a:lstStyle/>
                    <a:p>
                      <a:pPr algn="ctr"/>
                      <a:r>
                        <a:rPr lang="en-IN" sz="1050" dirty="0"/>
                        <a:t>91.09%</a:t>
                      </a:r>
                      <a:endParaRPr sz="1050" dirty="0">
                        <a:solidFill>
                          <a:srgbClr val="1C1C2E"/>
                        </a:solidFill>
                      </a:endParaRPr>
                    </a:p>
                  </a:txBody>
                  <a:tcPr>
                    <a:solidFill>
                      <a:srgbClr val="FFFFFF"/>
                    </a:solidFill>
                  </a:tcPr>
                </a:tc>
                <a:tc>
                  <a:txBody>
                    <a:bodyPr/>
                    <a:lstStyle/>
                    <a:p>
                      <a:pPr algn="ctr"/>
                      <a:r>
                        <a:rPr lang="en-IN" sz="1050" dirty="0"/>
                        <a:t>Strong</a:t>
                      </a:r>
                      <a:endParaRPr sz="1050" dirty="0">
                        <a:solidFill>
                          <a:srgbClr val="1C1C2E"/>
                        </a:solidFill>
                      </a:endParaRPr>
                    </a:p>
                  </a:txBody>
                  <a:tcPr>
                    <a:solidFill>
                      <a:srgbClr val="FFFFFF"/>
                    </a:solidFill>
                  </a:tcPr>
                </a:tc>
                <a:extLst>
                  <a:ext uri="{0D108BD9-81ED-4DB2-BD59-A6C34878D82A}">
                    <a16:rowId xmlns:a16="http://schemas.microsoft.com/office/drawing/2014/main" val="10002"/>
                  </a:ext>
                </a:extLst>
              </a:tr>
              <a:tr h="438912">
                <a:tc>
                  <a:txBody>
                    <a:bodyPr/>
                    <a:lstStyle/>
                    <a:p>
                      <a:pPr algn="l"/>
                      <a:r>
                        <a:rPr sz="1050">
                          <a:solidFill>
                            <a:srgbClr val="1C1C2E"/>
                          </a:solidFill>
                        </a:rPr>
                        <a:t>debt_stress</a:t>
                      </a:r>
                    </a:p>
                  </a:txBody>
                  <a:tcPr>
                    <a:solidFill>
                      <a:srgbClr val="E8F4F8"/>
                    </a:solidFill>
                  </a:tcPr>
                </a:tc>
                <a:tc>
                  <a:txBody>
                    <a:bodyPr/>
                    <a:lstStyle/>
                    <a:p>
                      <a:pPr algn="ctr"/>
                      <a:r>
                        <a:rPr sz="1050">
                          <a:solidFill>
                            <a:srgbClr val="1C1C2E"/>
                          </a:solidFill>
                        </a:rPr>
                        <a:t>Binary Classifier</a:t>
                      </a:r>
                    </a:p>
                  </a:txBody>
                  <a:tcPr>
                    <a:solidFill>
                      <a:srgbClr val="E8F4F8"/>
                    </a:solidFill>
                  </a:tcPr>
                </a:tc>
                <a:tc>
                  <a:txBody>
                    <a:bodyPr/>
                    <a:lstStyle/>
                    <a:p>
                      <a:pPr algn="ctr"/>
                      <a:r>
                        <a:rPr lang="en-IN" sz="1050" dirty="0"/>
                        <a:t>0.9127</a:t>
                      </a:r>
                      <a:endParaRPr sz="1050" dirty="0">
                        <a:solidFill>
                          <a:srgbClr val="1C1C2E"/>
                        </a:solidFill>
                      </a:endParaRPr>
                    </a:p>
                  </a:txBody>
                  <a:tcPr>
                    <a:solidFill>
                      <a:srgbClr val="E8F4F8"/>
                    </a:solidFill>
                  </a:tcPr>
                </a:tc>
                <a:tc>
                  <a:txBody>
                    <a:bodyPr/>
                    <a:lstStyle/>
                    <a:p>
                      <a:pPr algn="ctr"/>
                      <a:r>
                        <a:rPr lang="en-IN" sz="1050" dirty="0"/>
                        <a:t>0.9596</a:t>
                      </a:r>
                      <a:endParaRPr sz="1050" dirty="0">
                        <a:solidFill>
                          <a:srgbClr val="1C1C2E"/>
                        </a:solidFill>
                      </a:endParaRPr>
                    </a:p>
                  </a:txBody>
                  <a:tcPr>
                    <a:solidFill>
                      <a:srgbClr val="E8F4F8"/>
                    </a:solidFill>
                  </a:tcPr>
                </a:tc>
                <a:tc>
                  <a:txBody>
                    <a:bodyPr/>
                    <a:lstStyle/>
                    <a:p>
                      <a:pPr algn="ctr"/>
                      <a:r>
                        <a:rPr lang="en-IN" sz="1050" dirty="0"/>
                        <a:t>95.42%</a:t>
                      </a:r>
                      <a:r>
                        <a:rPr sz="1050" dirty="0">
                          <a:solidFill>
                            <a:srgbClr val="1C1C2E"/>
                          </a:solidFill>
                        </a:rPr>
                        <a:t>%</a:t>
                      </a:r>
                    </a:p>
                  </a:txBody>
                  <a:tcPr>
                    <a:solidFill>
                      <a:srgbClr val="E8F4F8"/>
                    </a:solidFill>
                  </a:tcPr>
                </a:tc>
                <a:tc>
                  <a:txBody>
                    <a:bodyPr/>
                    <a:lstStyle/>
                    <a:p>
                      <a:pPr algn="ctr"/>
                      <a:r>
                        <a:rPr sz="1050" dirty="0">
                          <a:solidFill>
                            <a:srgbClr val="1C1C2E"/>
                          </a:solidFill>
                        </a:rPr>
                        <a:t>Good</a:t>
                      </a:r>
                    </a:p>
                  </a:txBody>
                  <a:tcPr>
                    <a:solidFill>
                      <a:srgbClr val="E8F4F8"/>
                    </a:solidFill>
                  </a:tcPr>
                </a:tc>
                <a:extLst>
                  <a:ext uri="{0D108BD9-81ED-4DB2-BD59-A6C34878D82A}">
                    <a16:rowId xmlns:a16="http://schemas.microsoft.com/office/drawing/2014/main" val="10003"/>
                  </a:ext>
                </a:extLst>
              </a:tr>
              <a:tr h="438912">
                <a:tc>
                  <a:txBody>
                    <a:bodyPr/>
                    <a:lstStyle/>
                    <a:p>
                      <a:pPr algn="l"/>
                      <a:r>
                        <a:rPr sz="1050">
                          <a:solidFill>
                            <a:srgbClr val="1C1C2E"/>
                          </a:solidFill>
                        </a:rPr>
                        <a:t>health_stress</a:t>
                      </a:r>
                    </a:p>
                  </a:txBody>
                  <a:tcPr>
                    <a:solidFill>
                      <a:srgbClr val="FFFFFF"/>
                    </a:solidFill>
                  </a:tcPr>
                </a:tc>
                <a:tc>
                  <a:txBody>
                    <a:bodyPr/>
                    <a:lstStyle/>
                    <a:p>
                      <a:pPr algn="ctr"/>
                      <a:r>
                        <a:rPr sz="1050">
                          <a:solidFill>
                            <a:srgbClr val="1C1C2E"/>
                          </a:solidFill>
                        </a:rPr>
                        <a:t>Binary Classifier</a:t>
                      </a:r>
                    </a:p>
                  </a:txBody>
                  <a:tcPr>
                    <a:solidFill>
                      <a:srgbClr val="FFFFFF"/>
                    </a:solidFill>
                  </a:tcPr>
                </a:tc>
                <a:tc>
                  <a:txBody>
                    <a:bodyPr/>
                    <a:lstStyle/>
                    <a:p>
                      <a:pPr algn="ctr"/>
                      <a:r>
                        <a:rPr lang="en-IN" sz="1050" dirty="0"/>
                        <a:t>0.4540</a:t>
                      </a:r>
                      <a:endParaRPr sz="1050" dirty="0">
                        <a:solidFill>
                          <a:srgbClr val="1C1C2E"/>
                        </a:solidFill>
                      </a:endParaRPr>
                    </a:p>
                  </a:txBody>
                  <a:tcPr>
                    <a:solidFill>
                      <a:srgbClr val="FFFFFF"/>
                    </a:solidFill>
                  </a:tcPr>
                </a:tc>
                <a:tc>
                  <a:txBody>
                    <a:bodyPr/>
                    <a:lstStyle/>
                    <a:p>
                      <a:pPr algn="ctr"/>
                      <a:r>
                        <a:rPr lang="en-IN" sz="1050" dirty="0"/>
                        <a:t>0.6507</a:t>
                      </a:r>
                      <a:endParaRPr sz="1050" dirty="0">
                        <a:solidFill>
                          <a:srgbClr val="1C1C2E"/>
                        </a:solidFill>
                      </a:endParaRPr>
                    </a:p>
                  </a:txBody>
                  <a:tcPr>
                    <a:solidFill>
                      <a:srgbClr val="FFFFFF"/>
                    </a:solidFill>
                  </a:tcPr>
                </a:tc>
                <a:tc>
                  <a:txBody>
                    <a:bodyPr/>
                    <a:lstStyle/>
                    <a:p>
                      <a:pPr algn="ctr"/>
                      <a:r>
                        <a:rPr lang="en-IN" sz="1050" dirty="0"/>
                        <a:t>0.6507</a:t>
                      </a:r>
                      <a:endParaRPr sz="1050" dirty="0">
                        <a:solidFill>
                          <a:srgbClr val="1C1C2E"/>
                        </a:solidFill>
                      </a:endParaRPr>
                    </a:p>
                  </a:txBody>
                  <a:tcPr>
                    <a:solidFill>
                      <a:srgbClr val="FFFFFF"/>
                    </a:solidFill>
                  </a:tcPr>
                </a:tc>
                <a:tc>
                  <a:txBody>
                    <a:bodyPr/>
                    <a:lstStyle/>
                    <a:p>
                      <a:pPr algn="ctr"/>
                      <a:r>
                        <a:rPr lang="en-IN" sz="1050" dirty="0"/>
                        <a:t>Needs Improvement</a:t>
                      </a:r>
                      <a:endParaRPr sz="1050" dirty="0">
                        <a:solidFill>
                          <a:srgbClr val="1C1C2E"/>
                        </a:solidFill>
                      </a:endParaRPr>
                    </a:p>
                  </a:txBody>
                  <a:tcPr>
                    <a:solidFill>
                      <a:srgbClr val="FFFFFF"/>
                    </a:solidFill>
                  </a:tcPr>
                </a:tc>
                <a:extLst>
                  <a:ext uri="{0D108BD9-81ED-4DB2-BD59-A6C34878D82A}">
                    <a16:rowId xmlns:a16="http://schemas.microsoft.com/office/drawing/2014/main" val="10004"/>
                  </a:ext>
                </a:extLst>
              </a:tr>
              <a:tr h="438912">
                <a:tc>
                  <a:txBody>
                    <a:bodyPr/>
                    <a:lstStyle/>
                    <a:p>
                      <a:pPr algn="l"/>
                      <a:r>
                        <a:rPr sz="1050">
                          <a:solidFill>
                            <a:srgbClr val="1C1C2E"/>
                          </a:solidFill>
                        </a:rPr>
                        <a:t>composite_score</a:t>
                      </a:r>
                    </a:p>
                  </a:txBody>
                  <a:tcPr>
                    <a:solidFill>
                      <a:srgbClr val="E8F4F8"/>
                    </a:solidFill>
                  </a:tcPr>
                </a:tc>
                <a:tc>
                  <a:txBody>
                    <a:bodyPr/>
                    <a:lstStyle/>
                    <a:p>
                      <a:pPr algn="ctr"/>
                      <a:r>
                        <a:rPr sz="1050">
                          <a:solidFill>
                            <a:srgbClr val="1C1C2E"/>
                          </a:solidFill>
                        </a:rPr>
                        <a:t>Regressor</a:t>
                      </a:r>
                    </a:p>
                  </a:txBody>
                  <a:tcPr>
                    <a:solidFill>
                      <a:srgbClr val="E8F4F8"/>
                    </a:solidFill>
                  </a:tcPr>
                </a:tc>
                <a:tc>
                  <a:txBody>
                    <a:bodyPr/>
                    <a:lstStyle/>
                    <a:p>
                      <a:pPr algn="ctr"/>
                      <a:r>
                        <a:rPr sz="1050">
                          <a:solidFill>
                            <a:srgbClr val="1C1C2E"/>
                          </a:solidFill>
                        </a:rPr>
                        <a:t>N/A</a:t>
                      </a:r>
                    </a:p>
                  </a:txBody>
                  <a:tcPr>
                    <a:solidFill>
                      <a:srgbClr val="E8F4F8"/>
                    </a:solidFill>
                  </a:tcPr>
                </a:tc>
                <a:tc>
                  <a:txBody>
                    <a:bodyPr/>
                    <a:lstStyle/>
                    <a:p>
                      <a:pPr algn="ctr"/>
                      <a:r>
                        <a:rPr sz="1050">
                          <a:solidFill>
                            <a:srgbClr val="1C1C2E"/>
                          </a:solidFill>
                        </a:rPr>
                        <a:t>N/A</a:t>
                      </a:r>
                    </a:p>
                  </a:txBody>
                  <a:tcPr>
                    <a:solidFill>
                      <a:srgbClr val="E8F4F8"/>
                    </a:solidFill>
                  </a:tcPr>
                </a:tc>
                <a:tc>
                  <a:txBody>
                    <a:bodyPr/>
                    <a:lstStyle/>
                    <a:p>
                      <a:pPr algn="ctr"/>
                      <a:r>
                        <a:rPr sz="1050" dirty="0">
                          <a:solidFill>
                            <a:srgbClr val="1C1C2E"/>
                          </a:solidFill>
                        </a:rPr>
                        <a:t>MAE=</a:t>
                      </a:r>
                      <a:r>
                        <a:rPr lang="en-IN" sz="1050" dirty="0"/>
                        <a:t>0.2226</a:t>
                      </a:r>
                      <a:r>
                        <a:rPr sz="1050" dirty="0">
                          <a:solidFill>
                            <a:srgbClr val="1C1C2E"/>
                          </a:solidFill>
                        </a:rPr>
                        <a:t>, RMSE=</a:t>
                      </a:r>
                      <a:r>
                        <a:rPr lang="en-IN" sz="1050" dirty="0"/>
                        <a:t>0.4572</a:t>
                      </a:r>
                      <a:endParaRPr sz="1050" dirty="0">
                        <a:solidFill>
                          <a:srgbClr val="1C1C2E"/>
                        </a:solidFill>
                      </a:endParaRPr>
                    </a:p>
                  </a:txBody>
                  <a:tcPr>
                    <a:solidFill>
                      <a:srgbClr val="E8F4F8"/>
                    </a:solidFill>
                  </a:tcPr>
                </a:tc>
                <a:tc>
                  <a:txBody>
                    <a:bodyPr/>
                    <a:lstStyle/>
                    <a:p>
                      <a:pPr algn="ctr"/>
                      <a:r>
                        <a:rPr lang="en-IN" sz="1050" dirty="0"/>
                        <a:t>Good</a:t>
                      </a:r>
                      <a:endParaRPr sz="1050" dirty="0">
                        <a:solidFill>
                          <a:srgbClr val="1C1C2E"/>
                        </a:solidFill>
                      </a:endParaRPr>
                    </a:p>
                  </a:txBody>
                  <a:tcPr>
                    <a:solidFill>
                      <a:srgbClr val="E8F4F8"/>
                    </a:solidFill>
                  </a:tcPr>
                </a:tc>
                <a:extLst>
                  <a:ext uri="{0D108BD9-81ED-4DB2-BD59-A6C34878D82A}">
                    <a16:rowId xmlns:a16="http://schemas.microsoft.com/office/drawing/2014/main" val="10005"/>
                  </a:ext>
                </a:extLst>
              </a:tr>
            </a:tbl>
          </a:graphicData>
        </a:graphic>
      </p:graphicFrame>
      <p:sp>
        <p:nvSpPr>
          <p:cNvPr id="10" name="Rectangle 9"/>
          <p:cNvSpPr/>
          <p:nvPr/>
        </p:nvSpPr>
        <p:spPr>
          <a:xfrm>
            <a:off x="320040" y="4096512"/>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4151376"/>
            <a:ext cx="10972800" cy="365760"/>
          </a:xfrm>
          <a:prstGeom prst="rect">
            <a:avLst/>
          </a:prstGeom>
          <a:noFill/>
        </p:spPr>
        <p:txBody>
          <a:bodyPr wrap="square">
            <a:spAutoFit/>
          </a:bodyPr>
          <a:lstStyle/>
          <a:p>
            <a:pPr algn="l"/>
            <a:r>
              <a:rPr sz="1500" b="1" i="0">
                <a:solidFill>
                  <a:srgbClr val="2E86AB"/>
                </a:solidFill>
              </a:rPr>
              <a:t>Health Stress Model — Known Imbalance Issue</a:t>
            </a:r>
          </a:p>
        </p:txBody>
      </p:sp>
      <p:sp>
        <p:nvSpPr>
          <p:cNvPr id="12" name="Rectangle 11"/>
          <p:cNvSpPr/>
          <p:nvPr/>
        </p:nvSpPr>
        <p:spPr>
          <a:xfrm>
            <a:off x="320040" y="4462272"/>
            <a:ext cx="11521440" cy="1325880"/>
          </a:xfrm>
          <a:prstGeom prst="rect">
            <a:avLst/>
          </a:prstGeom>
          <a:solidFill>
            <a:srgbClr val="FFF8E1"/>
          </a:solidFill>
          <a:ln w="1905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3" name="Table 12"/>
          <p:cNvGraphicFramePr>
            <a:graphicFrameLocks noGrp="1"/>
          </p:cNvGraphicFramePr>
          <p:nvPr>
            <p:extLst>
              <p:ext uri="{D42A27DB-BD31-4B8C-83A1-F6EECF244321}">
                <p14:modId xmlns:p14="http://schemas.microsoft.com/office/powerpoint/2010/main" val="936973385"/>
              </p:ext>
            </p:extLst>
          </p:nvPr>
        </p:nvGraphicFramePr>
        <p:xfrm>
          <a:off x="457200" y="4617720"/>
          <a:ext cx="9326880" cy="109728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365760">
                <a:tc>
                  <a:txBody>
                    <a:bodyPr/>
                    <a:lstStyle/>
                    <a:p>
                      <a:pPr algn="ctr"/>
                      <a:r>
                        <a:rPr sz="1000" b="1">
                          <a:solidFill>
                            <a:srgbClr val="FFFFFF"/>
                          </a:solidFill>
                        </a:rPr>
                        <a:t>Class</a:t>
                      </a:r>
                    </a:p>
                  </a:txBody>
                  <a:tcPr>
                    <a:solidFill>
                      <a:srgbClr val="2E86AB"/>
                    </a:solidFill>
                  </a:tcPr>
                </a:tc>
                <a:tc>
                  <a:txBody>
                    <a:bodyPr/>
                    <a:lstStyle/>
                    <a:p>
                      <a:pPr algn="ctr"/>
                      <a:r>
                        <a:rPr sz="1000" b="1">
                          <a:solidFill>
                            <a:srgbClr val="FFFFFF"/>
                          </a:solidFill>
                        </a:rPr>
                        <a:t>Precision</a:t>
                      </a:r>
                    </a:p>
                  </a:txBody>
                  <a:tcPr>
                    <a:solidFill>
                      <a:srgbClr val="2E86AB"/>
                    </a:solidFill>
                  </a:tcPr>
                </a:tc>
                <a:tc>
                  <a:txBody>
                    <a:bodyPr/>
                    <a:lstStyle/>
                    <a:p>
                      <a:pPr algn="ctr"/>
                      <a:r>
                        <a:rPr sz="1000" b="1">
                          <a:solidFill>
                            <a:srgbClr val="FFFFFF"/>
                          </a:solidFill>
                        </a:rPr>
                        <a:t>Recall</a:t>
                      </a:r>
                    </a:p>
                  </a:txBody>
                  <a:tcPr>
                    <a:solidFill>
                      <a:srgbClr val="2E86AB"/>
                    </a:solidFill>
                  </a:tcPr>
                </a:tc>
                <a:tc>
                  <a:txBody>
                    <a:bodyPr/>
                    <a:lstStyle/>
                    <a:p>
                      <a:pPr algn="ctr"/>
                      <a:r>
                        <a:rPr sz="1000" b="1">
                          <a:solidFill>
                            <a:srgbClr val="FFFFFF"/>
                          </a:solidFill>
                        </a:rPr>
                        <a:t>F1-Score</a:t>
                      </a:r>
                    </a:p>
                  </a:txBody>
                  <a:tcPr>
                    <a:solidFill>
                      <a:srgbClr val="2E86AB"/>
                    </a:solidFill>
                  </a:tcPr>
                </a:tc>
                <a:tc>
                  <a:txBody>
                    <a:bodyPr/>
                    <a:lstStyle/>
                    <a:p>
                      <a:pPr algn="ctr"/>
                      <a:r>
                        <a:rPr sz="1000" b="1">
                          <a:solidFill>
                            <a:srgbClr val="FFFFFF"/>
                          </a:solidFill>
                        </a:rPr>
                        <a:t>Support</a:t>
                      </a:r>
                    </a:p>
                  </a:txBody>
                  <a:tcPr>
                    <a:solidFill>
                      <a:srgbClr val="2E86AB"/>
                    </a:solidFill>
                  </a:tcPr>
                </a:tc>
                <a:extLst>
                  <a:ext uri="{0D108BD9-81ED-4DB2-BD59-A6C34878D82A}">
                    <a16:rowId xmlns:a16="http://schemas.microsoft.com/office/drawing/2014/main" val="10000"/>
                  </a:ext>
                </a:extLst>
              </a:tr>
              <a:tr h="365760">
                <a:tc>
                  <a:txBody>
                    <a:bodyPr/>
                    <a:lstStyle/>
                    <a:p>
                      <a:pPr algn="l"/>
                      <a:r>
                        <a:rPr sz="1000">
                          <a:solidFill>
                            <a:srgbClr val="1C1C2E"/>
                          </a:solidFill>
                        </a:rPr>
                        <a:t>0 — Not Stressed</a:t>
                      </a:r>
                    </a:p>
                  </a:txBody>
                  <a:tcPr>
                    <a:solidFill>
                      <a:srgbClr val="E8F4F8"/>
                    </a:solidFill>
                  </a:tcPr>
                </a:tc>
                <a:tc>
                  <a:txBody>
                    <a:bodyPr/>
                    <a:lstStyle/>
                    <a:p>
                      <a:pPr algn="ctr"/>
                      <a:r>
                        <a:rPr lang="en-IN" sz="1000" dirty="0"/>
                        <a:t>0.8192</a:t>
                      </a:r>
                      <a:endParaRPr sz="1000" dirty="0">
                        <a:solidFill>
                          <a:srgbClr val="1C1C2E"/>
                        </a:solidFill>
                      </a:endParaRPr>
                    </a:p>
                  </a:txBody>
                  <a:tcPr>
                    <a:solidFill>
                      <a:srgbClr val="E8F4F8"/>
                    </a:solidFill>
                  </a:tcPr>
                </a:tc>
                <a:tc>
                  <a:txBody>
                    <a:bodyPr/>
                    <a:lstStyle/>
                    <a:p>
                      <a:pPr algn="ctr"/>
                      <a:r>
                        <a:rPr sz="1000">
                          <a:solidFill>
                            <a:srgbClr val="1C1C2E"/>
                          </a:solidFill>
                        </a:rPr>
                        <a:t>1.000</a:t>
                      </a:r>
                    </a:p>
                  </a:txBody>
                  <a:tcPr>
                    <a:solidFill>
                      <a:srgbClr val="E8F4F8"/>
                    </a:solidFill>
                  </a:tcPr>
                </a:tc>
                <a:tc>
                  <a:txBody>
                    <a:bodyPr/>
                    <a:lstStyle/>
                    <a:p>
                      <a:pPr algn="ctr"/>
                      <a:r>
                        <a:rPr lang="en-IN" sz="1000" dirty="0"/>
                        <a:t>0.9006</a:t>
                      </a:r>
                      <a:endParaRPr sz="1000" dirty="0">
                        <a:solidFill>
                          <a:srgbClr val="1C1C2E"/>
                        </a:solidFill>
                      </a:endParaRPr>
                    </a:p>
                  </a:txBody>
                  <a:tcPr>
                    <a:solidFill>
                      <a:srgbClr val="E8F4F8"/>
                    </a:solidFill>
                  </a:tcPr>
                </a:tc>
                <a:tc>
                  <a:txBody>
                    <a:bodyPr/>
                    <a:lstStyle/>
                    <a:p>
                      <a:pPr algn="ctr"/>
                      <a:r>
                        <a:rPr lang="en-IN" sz="1000" dirty="0"/>
                        <a:t>100,965</a:t>
                      </a:r>
                      <a:endParaRPr sz="1000" dirty="0">
                        <a:solidFill>
                          <a:srgbClr val="1C1C2E"/>
                        </a:solidFill>
                      </a:endParaRPr>
                    </a:p>
                  </a:txBody>
                  <a:tcPr>
                    <a:solidFill>
                      <a:srgbClr val="E8F4F8"/>
                    </a:solidFill>
                  </a:tcPr>
                </a:tc>
                <a:extLst>
                  <a:ext uri="{0D108BD9-81ED-4DB2-BD59-A6C34878D82A}">
                    <a16:rowId xmlns:a16="http://schemas.microsoft.com/office/drawing/2014/main" val="10001"/>
                  </a:ext>
                </a:extLst>
              </a:tr>
              <a:tr h="365760">
                <a:tc>
                  <a:txBody>
                    <a:bodyPr/>
                    <a:lstStyle/>
                    <a:p>
                      <a:pPr algn="l"/>
                      <a:r>
                        <a:rPr sz="1000">
                          <a:solidFill>
                            <a:srgbClr val="1C1C2E"/>
                          </a:solidFill>
                        </a:rPr>
                        <a:t>1 — Stressed</a:t>
                      </a:r>
                    </a:p>
                  </a:txBody>
                  <a:tcPr>
                    <a:solidFill>
                      <a:srgbClr val="FFFFFF"/>
                    </a:solidFill>
                  </a:tcPr>
                </a:tc>
                <a:tc>
                  <a:txBody>
                    <a:bodyPr/>
                    <a:lstStyle/>
                    <a:p>
                      <a:pPr algn="ctr"/>
                      <a:r>
                        <a:rPr lang="en-IN" sz="1000" dirty="0"/>
                        <a:t>0.9030</a:t>
                      </a:r>
                      <a:endParaRPr sz="1000" dirty="0">
                        <a:solidFill>
                          <a:srgbClr val="1C1C2E"/>
                        </a:solidFill>
                      </a:endParaRPr>
                    </a:p>
                  </a:txBody>
                  <a:tcPr>
                    <a:solidFill>
                      <a:srgbClr val="FFFFFF"/>
                    </a:solidFill>
                  </a:tcPr>
                </a:tc>
                <a:tc>
                  <a:txBody>
                    <a:bodyPr/>
                    <a:lstStyle/>
                    <a:p>
                      <a:pPr algn="ctr"/>
                      <a:r>
                        <a:rPr lang="en-IN" sz="1000" dirty="0"/>
                        <a:t>0.0038</a:t>
                      </a:r>
                      <a:endParaRPr sz="1000" dirty="0">
                        <a:solidFill>
                          <a:srgbClr val="1C1C2E"/>
                        </a:solidFill>
                      </a:endParaRPr>
                    </a:p>
                  </a:txBody>
                  <a:tcPr>
                    <a:solidFill>
                      <a:srgbClr val="FFFFFF"/>
                    </a:solidFill>
                  </a:tcPr>
                </a:tc>
                <a:tc>
                  <a:txBody>
                    <a:bodyPr/>
                    <a:lstStyle/>
                    <a:p>
                      <a:pPr algn="ctr"/>
                      <a:r>
                        <a:rPr lang="en-IN" sz="1000" dirty="0"/>
                        <a:t>0.0075</a:t>
                      </a:r>
                      <a:endParaRPr sz="1000" dirty="0">
                        <a:solidFill>
                          <a:srgbClr val="1C1C2E"/>
                        </a:solidFill>
                      </a:endParaRPr>
                    </a:p>
                  </a:txBody>
                  <a:tcPr>
                    <a:solidFill>
                      <a:srgbClr val="FFFFFF"/>
                    </a:solidFill>
                  </a:tcPr>
                </a:tc>
                <a:tc>
                  <a:txBody>
                    <a:bodyPr/>
                    <a:lstStyle/>
                    <a:p>
                      <a:pPr algn="ctr"/>
                      <a:r>
                        <a:rPr lang="en-IN" sz="1000" dirty="0"/>
                        <a:t>22,374</a:t>
                      </a:r>
                      <a:endParaRPr sz="1000" dirty="0">
                        <a:solidFill>
                          <a:srgbClr val="1C1C2E"/>
                        </a:solidFill>
                      </a:endParaRPr>
                    </a:p>
                  </a:txBody>
                  <a:tcPr>
                    <a:solidFill>
                      <a:srgbClr val="FFFFFF"/>
                    </a:solidFill>
                  </a:tcPr>
                </a:tc>
                <a:extLst>
                  <a:ext uri="{0D108BD9-81ED-4DB2-BD59-A6C34878D82A}">
                    <a16:rowId xmlns:a16="http://schemas.microsoft.com/office/drawing/2014/main" val="10002"/>
                  </a:ext>
                </a:extLst>
              </a:tr>
            </a:tbl>
          </a:graphicData>
        </a:graphic>
      </p:graphicFrame>
      <p:sp>
        <p:nvSpPr>
          <p:cNvPr id="14" name="TextBox 13"/>
          <p:cNvSpPr txBox="1"/>
          <p:nvPr/>
        </p:nvSpPr>
        <p:spPr>
          <a:xfrm>
            <a:off x="457200" y="5760720"/>
            <a:ext cx="9875520" cy="246221"/>
          </a:xfrm>
          <a:prstGeom prst="rect">
            <a:avLst/>
          </a:prstGeom>
          <a:noFill/>
        </p:spPr>
        <p:txBody>
          <a:bodyPr wrap="square">
            <a:spAutoFit/>
          </a:bodyPr>
          <a:lstStyle/>
          <a:p>
            <a:r>
              <a:rPr sz="1000" b="0" i="1" dirty="0">
                <a:solidFill>
                  <a:srgbClr val="B76100"/>
                </a:solidFill>
              </a:rPr>
              <a:t>Root Cause: </a:t>
            </a:r>
            <a:r>
              <a:rPr lang="en-IN" sz="1000" dirty="0"/>
              <a:t>Extreme</a:t>
            </a:r>
            <a:r>
              <a:rPr lang="en-US" sz="1000" dirty="0"/>
              <a:t> class imbalance (4.64% positives in full sample) causing very low recall despite perfect precision. Threshold tuning and rebalancing required.</a:t>
            </a:r>
          </a:p>
        </p:txBody>
      </p:sp>
      <p:sp>
        <p:nvSpPr>
          <p:cNvPr id="15" name="Rectangle 14"/>
          <p:cNvSpPr/>
          <p:nvPr/>
        </p:nvSpPr>
        <p:spPr>
          <a:xfrm>
            <a:off x="320040" y="6144768"/>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0040" y="6199631"/>
            <a:ext cx="10972800" cy="365760"/>
          </a:xfrm>
          <a:prstGeom prst="rect">
            <a:avLst/>
          </a:prstGeom>
          <a:noFill/>
        </p:spPr>
        <p:txBody>
          <a:bodyPr wrap="square">
            <a:spAutoFit/>
          </a:bodyPr>
          <a:lstStyle/>
          <a:p>
            <a:pPr algn="l"/>
            <a:r>
              <a:rPr sz="1500" b="1" i="0">
                <a:solidFill>
                  <a:srgbClr val="2E86AB"/>
                </a:solidFill>
              </a:rPr>
              <a:t>Training / Test Split</a:t>
            </a:r>
          </a:p>
        </p:txBody>
      </p:sp>
      <p:sp>
        <p:nvSpPr>
          <p:cNvPr id="17" name="TextBox 16"/>
          <p:cNvSpPr txBox="1"/>
          <p:nvPr/>
        </p:nvSpPr>
        <p:spPr>
          <a:xfrm>
            <a:off x="320040" y="6492240"/>
            <a:ext cx="11430000" cy="292608"/>
          </a:xfrm>
          <a:prstGeom prst="rect">
            <a:avLst/>
          </a:prstGeom>
          <a:noFill/>
        </p:spPr>
        <p:txBody>
          <a:bodyPr wrap="square">
            <a:spAutoFit/>
          </a:bodyPr>
          <a:lstStyle/>
          <a:p>
            <a:pPr algn="l"/>
            <a:r>
              <a:rPr sz="1100" b="1" i="0">
                <a:solidFill>
                  <a:srgbClr val="2E86AB"/>
                </a:solidFill>
              </a:rPr>
              <a:t>80% Train (~400K rows)  |  20% Test (~100K rows)  |  Stratified split  |  scale_pos_weight auto-computed from class ratio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10972800" cy="685800"/>
          </a:xfrm>
          <a:prstGeom prst="rect">
            <a:avLst/>
          </a:prstGeom>
          <a:noFill/>
        </p:spPr>
        <p:txBody>
          <a:bodyPr wrap="square">
            <a:spAutoFit/>
          </a:bodyPr>
          <a:lstStyle/>
          <a:p>
            <a:pPr algn="l"/>
            <a:r>
              <a:rPr sz="3000" b="1" i="0">
                <a:solidFill>
                  <a:srgbClr val="FFFFFF"/>
                </a:solidFill>
              </a:rPr>
              <a:t>Discussion</a:t>
            </a:r>
          </a:p>
        </p:txBody>
      </p:sp>
      <p:sp>
        <p:nvSpPr>
          <p:cNvPr id="5" name="TextBox 4"/>
          <p:cNvSpPr txBox="1"/>
          <p:nvPr/>
        </p:nvSpPr>
        <p:spPr>
          <a:xfrm>
            <a:off x="320040" y="749808"/>
            <a:ext cx="10972800" cy="347472"/>
          </a:xfrm>
          <a:prstGeom prst="rect">
            <a:avLst/>
          </a:prstGeom>
          <a:noFill/>
        </p:spPr>
        <p:txBody>
          <a:bodyPr wrap="square">
            <a:spAutoFit/>
          </a:bodyPr>
          <a:lstStyle/>
          <a:p>
            <a:pPr algn="l"/>
            <a:r>
              <a:rPr sz="1300" b="0" i="0">
                <a:solidFill>
                  <a:srgbClr val="B0C8E0"/>
                </a:solidFill>
              </a:rPr>
              <a:t>Interpreting Results &amp; System Insights</a:t>
            </a:r>
          </a:p>
        </p:txBody>
      </p:sp>
      <p:sp>
        <p:nvSpPr>
          <p:cNvPr id="6" name="TextBox 5"/>
          <p:cNvSpPr txBox="1"/>
          <p:nvPr/>
        </p:nvSpPr>
        <p:spPr>
          <a:xfrm>
            <a:off x="11247120" y="6537960"/>
            <a:ext cx="914400" cy="274320"/>
          </a:xfrm>
          <a:prstGeom prst="rect">
            <a:avLst/>
          </a:prstGeom>
          <a:noFill/>
        </p:spPr>
        <p:txBody>
          <a:bodyPr wrap="square">
            <a:spAutoFit/>
          </a:bodyPr>
          <a:lstStyle/>
          <a:p>
            <a:pPr algn="r"/>
            <a:r>
              <a:rPr sz="900" b="0" i="0">
                <a:solidFill>
                  <a:srgbClr val="90A4AE"/>
                </a:solidFill>
              </a:rPr>
              <a:t>12 / 17</a:t>
            </a:r>
          </a:p>
        </p:txBody>
      </p:sp>
      <p:sp>
        <p:nvSpPr>
          <p:cNvPr id="7" name="Rectangle 6"/>
          <p:cNvSpPr/>
          <p:nvPr/>
        </p:nvSpPr>
        <p:spPr>
          <a:xfrm>
            <a:off x="320040" y="1261872"/>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316736"/>
            <a:ext cx="10972800" cy="365760"/>
          </a:xfrm>
          <a:prstGeom prst="rect">
            <a:avLst/>
          </a:prstGeom>
          <a:noFill/>
        </p:spPr>
        <p:txBody>
          <a:bodyPr wrap="square">
            <a:spAutoFit/>
          </a:bodyPr>
          <a:lstStyle/>
          <a:p>
            <a:pPr algn="l"/>
            <a:r>
              <a:rPr sz="1500" b="1" i="0">
                <a:solidFill>
                  <a:srgbClr val="2E86AB"/>
                </a:solidFill>
              </a:rPr>
              <a:t>Key Insights</a:t>
            </a:r>
          </a:p>
        </p:txBody>
      </p:sp>
      <p:sp>
        <p:nvSpPr>
          <p:cNvPr id="9" name="Rectangle 8"/>
          <p:cNvSpPr/>
          <p:nvPr/>
        </p:nvSpPr>
        <p:spPr>
          <a:xfrm>
            <a:off x="320040" y="1664208"/>
            <a:ext cx="109728" cy="7315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0352" y="1664208"/>
            <a:ext cx="10789920" cy="292608"/>
          </a:xfrm>
          <a:prstGeom prst="rect">
            <a:avLst/>
          </a:prstGeom>
          <a:noFill/>
        </p:spPr>
        <p:txBody>
          <a:bodyPr wrap="square">
            <a:spAutoFit/>
          </a:bodyPr>
          <a:lstStyle/>
          <a:p>
            <a:pPr algn="l"/>
            <a:r>
              <a:rPr sz="1150" b="1" i="0">
                <a:solidFill>
                  <a:srgbClr val="2E86AB"/>
                </a:solidFill>
              </a:rPr>
              <a:t>High F1 on Financial &amp; Food Stress</a:t>
            </a:r>
          </a:p>
        </p:txBody>
      </p:sp>
      <p:sp>
        <p:nvSpPr>
          <p:cNvPr id="11" name="TextBox 10"/>
          <p:cNvSpPr txBox="1"/>
          <p:nvPr/>
        </p:nvSpPr>
        <p:spPr>
          <a:xfrm>
            <a:off x="530352" y="1975104"/>
            <a:ext cx="10789920" cy="577081"/>
          </a:xfrm>
          <a:prstGeom prst="rect">
            <a:avLst/>
          </a:prstGeom>
          <a:noFill/>
        </p:spPr>
        <p:txBody>
          <a:bodyPr wrap="square">
            <a:spAutoFit/>
          </a:bodyPr>
          <a:lstStyle/>
          <a:p>
            <a:r>
              <a:rPr lang="en-US" sz="1050" dirty="0">
                <a:solidFill>
                  <a:srgbClr val="1C1C2E"/>
                </a:solidFill>
              </a:rPr>
              <a:t>The rule-based label definitions (threshold ratios) create nearly separable feature boundaries — </a:t>
            </a:r>
            <a:r>
              <a:rPr lang="en-US" sz="1050" dirty="0" err="1">
                <a:solidFill>
                  <a:srgbClr val="1C1C2E"/>
                </a:solidFill>
              </a:rPr>
              <a:t>XGBoost</a:t>
            </a:r>
            <a:r>
              <a:rPr lang="en-US" sz="1050" dirty="0">
                <a:solidFill>
                  <a:srgbClr val="1C1C2E"/>
                </a:solidFill>
              </a:rPr>
              <a:t> learns them precisely. F1 ≈ 1.0 may suggest label leakage risk if raw income/expenditure were not fully dropped before training.   → Financial stress achieved F1=0.9703 and AUC=0.9990, while Food stress achieved F1=0.9076 and AUC=0.9733. Leakage-sensitive variables were removed and performance remained strong.</a:t>
            </a:r>
            <a:endParaRPr sz="1050" b="0" i="0" dirty="0">
              <a:solidFill>
                <a:srgbClr val="1C1C2E"/>
              </a:solidFill>
            </a:endParaRPr>
          </a:p>
        </p:txBody>
      </p:sp>
      <p:sp>
        <p:nvSpPr>
          <p:cNvPr id="12" name="Rectangle 11"/>
          <p:cNvSpPr/>
          <p:nvPr/>
        </p:nvSpPr>
        <p:spPr>
          <a:xfrm>
            <a:off x="320040" y="2633472"/>
            <a:ext cx="109728" cy="7315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0352" y="2633472"/>
            <a:ext cx="10789920" cy="292608"/>
          </a:xfrm>
          <a:prstGeom prst="rect">
            <a:avLst/>
          </a:prstGeom>
          <a:noFill/>
        </p:spPr>
        <p:txBody>
          <a:bodyPr wrap="square">
            <a:spAutoFit/>
          </a:bodyPr>
          <a:lstStyle/>
          <a:p>
            <a:pPr algn="l"/>
            <a:r>
              <a:rPr sz="1150" b="1" i="0">
                <a:solidFill>
                  <a:srgbClr val="2E86AB"/>
                </a:solidFill>
              </a:rPr>
              <a:t>Debt Stress — Class Imbalance</a:t>
            </a:r>
          </a:p>
        </p:txBody>
      </p:sp>
      <p:sp>
        <p:nvSpPr>
          <p:cNvPr id="14" name="TextBox 13"/>
          <p:cNvSpPr txBox="1"/>
          <p:nvPr/>
        </p:nvSpPr>
        <p:spPr>
          <a:xfrm>
            <a:off x="530352" y="2944368"/>
            <a:ext cx="10789920" cy="415498"/>
          </a:xfrm>
          <a:prstGeom prst="rect">
            <a:avLst/>
          </a:prstGeom>
          <a:noFill/>
        </p:spPr>
        <p:txBody>
          <a:bodyPr wrap="square">
            <a:spAutoFit/>
          </a:bodyPr>
          <a:lstStyle/>
          <a:p>
            <a:r>
              <a:rPr lang="en-US" sz="1050" dirty="0">
                <a:solidFill>
                  <a:srgbClr val="1C1C2E"/>
                </a:solidFill>
              </a:rPr>
              <a:t>Only ~1% of households exceed the EMI 30% threshold. </a:t>
            </a:r>
            <a:r>
              <a:rPr lang="en-IN" sz="1050" dirty="0"/>
              <a:t>scale_pos_weight </a:t>
            </a:r>
            <a:r>
              <a:rPr lang="en-US" sz="1050" dirty="0">
                <a:solidFill>
                  <a:srgbClr val="1C1C2E"/>
                </a:solidFill>
              </a:rPr>
              <a:t>compensates well, achieving F1=0.91 and AUC=0.9999 — still operationally strong despite imbalance. -&gt; Positive prevalence was 0.98%, yet the model achieved F1=0.9127, Recall=0.9977, and AUC=0.9996 using class weighting and SMOTE.</a:t>
            </a:r>
            <a:endParaRPr sz="1050" b="0" i="0" dirty="0">
              <a:solidFill>
                <a:srgbClr val="1C1C2E"/>
              </a:solidFill>
            </a:endParaRPr>
          </a:p>
        </p:txBody>
      </p:sp>
      <p:sp>
        <p:nvSpPr>
          <p:cNvPr id="15" name="Rectangle 14"/>
          <p:cNvSpPr/>
          <p:nvPr/>
        </p:nvSpPr>
        <p:spPr>
          <a:xfrm>
            <a:off x="320040" y="3602736"/>
            <a:ext cx="109728" cy="7315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0352" y="3602736"/>
            <a:ext cx="10789920" cy="292608"/>
          </a:xfrm>
          <a:prstGeom prst="rect">
            <a:avLst/>
          </a:prstGeom>
          <a:noFill/>
        </p:spPr>
        <p:txBody>
          <a:bodyPr wrap="square">
            <a:spAutoFit/>
          </a:bodyPr>
          <a:lstStyle/>
          <a:p>
            <a:pPr algn="l"/>
            <a:r>
              <a:rPr sz="1150" b="1" i="0">
                <a:solidFill>
                  <a:srgbClr val="2E86AB"/>
                </a:solidFill>
              </a:rPr>
              <a:t>Health Stress — The Weak Link</a:t>
            </a:r>
          </a:p>
        </p:txBody>
      </p:sp>
      <p:sp>
        <p:nvSpPr>
          <p:cNvPr id="17" name="TextBox 16"/>
          <p:cNvSpPr txBox="1"/>
          <p:nvPr/>
        </p:nvSpPr>
        <p:spPr>
          <a:xfrm>
            <a:off x="530352" y="3913632"/>
            <a:ext cx="10789920" cy="577081"/>
          </a:xfrm>
          <a:prstGeom prst="rect">
            <a:avLst/>
          </a:prstGeom>
          <a:noFill/>
        </p:spPr>
        <p:txBody>
          <a:bodyPr wrap="square">
            <a:spAutoFit/>
          </a:bodyPr>
          <a:lstStyle/>
          <a:p>
            <a:r>
              <a:rPr lang="en-US" sz="1050" dirty="0">
                <a:solidFill>
                  <a:srgbClr val="1C1C2E"/>
                </a:solidFill>
              </a:rPr>
              <a:t>LEFT JOIN with POI causes ~95% of households to have </a:t>
            </a:r>
            <a:r>
              <a:rPr lang="en-US" sz="1050" dirty="0" err="1">
                <a:solidFill>
                  <a:srgbClr val="1C1C2E"/>
                </a:solidFill>
              </a:rPr>
              <a:t>NaN</a:t>
            </a:r>
            <a:r>
              <a:rPr lang="en-US" sz="1050" dirty="0">
                <a:solidFill>
                  <a:srgbClr val="1C1C2E"/>
                </a:solidFill>
              </a:rPr>
              <a:t> health flags. Labels default to 0, masking true health stress. The model achieves 95% accuracy by always predicting 0 — this is a dataset artifact, not a model failure. → Health stress remains the weakest model with Precision=1.0000 but Recall=0.0038, indicating most stressed households are missed. Label quality and feature redesign are required.</a:t>
            </a:r>
            <a:endParaRPr sz="1050" b="0" i="0" dirty="0">
              <a:solidFill>
                <a:srgbClr val="1C1C2E"/>
              </a:solidFill>
            </a:endParaRPr>
          </a:p>
        </p:txBody>
      </p:sp>
      <p:sp>
        <p:nvSpPr>
          <p:cNvPr id="18" name="Rectangle 17"/>
          <p:cNvSpPr/>
          <p:nvPr/>
        </p:nvSpPr>
        <p:spPr>
          <a:xfrm>
            <a:off x="320040" y="4572000"/>
            <a:ext cx="109728" cy="7315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0352" y="4572000"/>
            <a:ext cx="10789920" cy="292608"/>
          </a:xfrm>
          <a:prstGeom prst="rect">
            <a:avLst/>
          </a:prstGeom>
          <a:noFill/>
        </p:spPr>
        <p:txBody>
          <a:bodyPr wrap="square">
            <a:spAutoFit/>
          </a:bodyPr>
          <a:lstStyle/>
          <a:p>
            <a:pPr algn="l"/>
            <a:r>
              <a:rPr sz="1150" b="1" i="0">
                <a:solidFill>
                  <a:srgbClr val="2E86AB"/>
                </a:solidFill>
              </a:rPr>
              <a:t>SHAP Explanations Add Trust</a:t>
            </a:r>
          </a:p>
        </p:txBody>
      </p:sp>
      <p:sp>
        <p:nvSpPr>
          <p:cNvPr id="20" name="TextBox 19"/>
          <p:cNvSpPr txBox="1"/>
          <p:nvPr/>
        </p:nvSpPr>
        <p:spPr>
          <a:xfrm>
            <a:off x="530352" y="4882896"/>
            <a:ext cx="10789920" cy="415498"/>
          </a:xfrm>
          <a:prstGeom prst="rect">
            <a:avLst/>
          </a:prstGeom>
          <a:noFill/>
        </p:spPr>
        <p:txBody>
          <a:bodyPr wrap="square">
            <a:spAutoFit/>
          </a:bodyPr>
          <a:lstStyle/>
          <a:p>
            <a:r>
              <a:rPr lang="en-US" sz="1050" dirty="0">
                <a:solidFill>
                  <a:srgbClr val="1C1C2E"/>
                </a:solidFill>
              </a:rPr>
              <a:t>Top-3 SHAP reasons per domain enable financial advisors and households to understand and validate every prediction — crucial for adoption in a high-stakes financial context.  → Top feature drivers can be used to explain predictions, improving transparency and trust for operational deployment.</a:t>
            </a:r>
          </a:p>
        </p:txBody>
      </p:sp>
      <p:sp>
        <p:nvSpPr>
          <p:cNvPr id="21" name="Rectangle 20"/>
          <p:cNvSpPr/>
          <p:nvPr/>
        </p:nvSpPr>
        <p:spPr>
          <a:xfrm>
            <a:off x="320040" y="5541264"/>
            <a:ext cx="109728" cy="7315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30352" y="5541264"/>
            <a:ext cx="10789920" cy="292608"/>
          </a:xfrm>
          <a:prstGeom prst="rect">
            <a:avLst/>
          </a:prstGeom>
          <a:noFill/>
        </p:spPr>
        <p:txBody>
          <a:bodyPr wrap="square">
            <a:spAutoFit/>
          </a:bodyPr>
          <a:lstStyle/>
          <a:p>
            <a:pPr algn="l"/>
            <a:r>
              <a:rPr sz="1150" b="1" i="0">
                <a:solidFill>
                  <a:srgbClr val="2E86AB"/>
                </a:solidFill>
              </a:rPr>
              <a:t>Geographic Calibration Improves Equity</a:t>
            </a:r>
          </a:p>
        </p:txBody>
      </p:sp>
      <p:sp>
        <p:nvSpPr>
          <p:cNvPr id="23" name="TextBox 22"/>
          <p:cNvSpPr txBox="1"/>
          <p:nvPr/>
        </p:nvSpPr>
        <p:spPr>
          <a:xfrm>
            <a:off x="530352" y="5852160"/>
            <a:ext cx="10789920" cy="415498"/>
          </a:xfrm>
          <a:prstGeom prst="rect">
            <a:avLst/>
          </a:prstGeom>
          <a:noFill/>
        </p:spPr>
        <p:txBody>
          <a:bodyPr wrap="square">
            <a:spAutoFit/>
          </a:bodyPr>
          <a:lstStyle/>
          <a:p>
            <a:r>
              <a:rPr lang="en-US" sz="1050" dirty="0">
                <a:solidFill>
                  <a:srgbClr val="1C1C2E"/>
                </a:solidFill>
              </a:rPr>
              <a:t>State-level Bayesian priors (NFHS-5 baselines) prevent the model from under-predicting stress in high-poverty states like Bihar, UP, and Jharkhand.  → State-level priors or regional calibration may improve fairness and prediction sensitivity across different geographies.</a:t>
            </a:r>
            <a:endParaRPr sz="1050" b="0" i="0" dirty="0">
              <a:solidFill>
                <a:srgbClr val="1C1C2E"/>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10972800" cy="685800"/>
          </a:xfrm>
          <a:prstGeom prst="rect">
            <a:avLst/>
          </a:prstGeom>
          <a:noFill/>
        </p:spPr>
        <p:txBody>
          <a:bodyPr wrap="square">
            <a:spAutoFit/>
          </a:bodyPr>
          <a:lstStyle/>
          <a:p>
            <a:pPr algn="l"/>
            <a:r>
              <a:rPr sz="3000" b="1" i="0">
                <a:solidFill>
                  <a:srgbClr val="FFFFFF"/>
                </a:solidFill>
              </a:rPr>
              <a:t>Challenges &amp; Limitations</a:t>
            </a:r>
          </a:p>
        </p:txBody>
      </p:sp>
      <p:sp>
        <p:nvSpPr>
          <p:cNvPr id="5" name="TextBox 4"/>
          <p:cNvSpPr txBox="1"/>
          <p:nvPr/>
        </p:nvSpPr>
        <p:spPr>
          <a:xfrm>
            <a:off x="320040" y="749808"/>
            <a:ext cx="10972800" cy="347472"/>
          </a:xfrm>
          <a:prstGeom prst="rect">
            <a:avLst/>
          </a:prstGeom>
          <a:noFill/>
        </p:spPr>
        <p:txBody>
          <a:bodyPr wrap="square">
            <a:spAutoFit/>
          </a:bodyPr>
          <a:lstStyle/>
          <a:p>
            <a:pPr algn="l"/>
            <a:r>
              <a:rPr sz="1300" b="0" i="0">
                <a:solidFill>
                  <a:srgbClr val="B0C8E0"/>
                </a:solidFill>
              </a:rPr>
              <a:t>Honest Assessment of System Constraints</a:t>
            </a:r>
          </a:p>
        </p:txBody>
      </p:sp>
      <p:sp>
        <p:nvSpPr>
          <p:cNvPr id="6" name="TextBox 5"/>
          <p:cNvSpPr txBox="1"/>
          <p:nvPr/>
        </p:nvSpPr>
        <p:spPr>
          <a:xfrm>
            <a:off x="11247120" y="6537960"/>
            <a:ext cx="914400" cy="274320"/>
          </a:xfrm>
          <a:prstGeom prst="rect">
            <a:avLst/>
          </a:prstGeom>
          <a:noFill/>
        </p:spPr>
        <p:txBody>
          <a:bodyPr wrap="square">
            <a:spAutoFit/>
          </a:bodyPr>
          <a:lstStyle/>
          <a:p>
            <a:pPr algn="r"/>
            <a:r>
              <a:rPr sz="900" b="0" i="0">
                <a:solidFill>
                  <a:srgbClr val="90A4AE"/>
                </a:solidFill>
              </a:rPr>
              <a:t>13 / 17</a:t>
            </a:r>
          </a:p>
        </p:txBody>
      </p:sp>
      <p:sp>
        <p:nvSpPr>
          <p:cNvPr id="7" name="Rectangle 6"/>
          <p:cNvSpPr/>
          <p:nvPr/>
        </p:nvSpPr>
        <p:spPr>
          <a:xfrm>
            <a:off x="320040" y="1261872"/>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316736"/>
            <a:ext cx="10972800" cy="365760"/>
          </a:xfrm>
          <a:prstGeom prst="rect">
            <a:avLst/>
          </a:prstGeom>
          <a:noFill/>
        </p:spPr>
        <p:txBody>
          <a:bodyPr wrap="square">
            <a:spAutoFit/>
          </a:bodyPr>
          <a:lstStyle/>
          <a:p>
            <a:pPr algn="l"/>
            <a:r>
              <a:rPr sz="1500" b="1" i="0">
                <a:solidFill>
                  <a:srgbClr val="2E86AB"/>
                </a:solidFill>
              </a:rPr>
              <a:t>Identified Challenges &amp; Mitigations</a:t>
            </a:r>
          </a:p>
        </p:txBody>
      </p:sp>
      <p:graphicFrame>
        <p:nvGraphicFramePr>
          <p:cNvPr id="9" name="Table 8"/>
          <p:cNvGraphicFramePr>
            <a:graphicFrameLocks noGrp="1"/>
          </p:cNvGraphicFramePr>
          <p:nvPr>
            <p:extLst>
              <p:ext uri="{D42A27DB-BD31-4B8C-83A1-F6EECF244321}">
                <p14:modId xmlns:p14="http://schemas.microsoft.com/office/powerpoint/2010/main" val="676619113"/>
              </p:ext>
            </p:extLst>
          </p:nvPr>
        </p:nvGraphicFramePr>
        <p:xfrm>
          <a:off x="320040" y="1664208"/>
          <a:ext cx="10515600" cy="271272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2"/>
                    </a:ext>
                  </a:extLst>
                </a:gridCol>
                <a:gridCol w="4114800">
                  <a:extLst>
                    <a:ext uri="{9D8B030D-6E8A-4147-A177-3AD203B41FA5}">
                      <a16:colId xmlns:a16="http://schemas.microsoft.com/office/drawing/2014/main" val="20003"/>
                    </a:ext>
                  </a:extLst>
                </a:gridCol>
              </a:tblGrid>
              <a:tr h="384048">
                <a:tc>
                  <a:txBody>
                    <a:bodyPr/>
                    <a:lstStyle/>
                    <a:p>
                      <a:pPr algn="ctr"/>
                      <a:r>
                        <a:rPr sz="1050" b="1">
                          <a:solidFill>
                            <a:srgbClr val="FFFFFF"/>
                          </a:solidFill>
                        </a:rPr>
                        <a:t>Challenge</a:t>
                      </a:r>
                    </a:p>
                  </a:txBody>
                  <a:tcPr>
                    <a:solidFill>
                      <a:srgbClr val="2E86AB"/>
                    </a:solidFill>
                  </a:tcPr>
                </a:tc>
                <a:tc>
                  <a:txBody>
                    <a:bodyPr/>
                    <a:lstStyle/>
                    <a:p>
                      <a:pPr algn="ctr"/>
                      <a:r>
                        <a:rPr sz="1050" b="1" dirty="0">
                          <a:solidFill>
                            <a:srgbClr val="FFFFFF"/>
                          </a:solidFill>
                        </a:rPr>
                        <a:t>Root Cause</a:t>
                      </a:r>
                    </a:p>
                  </a:txBody>
                  <a:tcPr>
                    <a:solidFill>
                      <a:srgbClr val="2E86AB"/>
                    </a:solidFill>
                  </a:tcPr>
                </a:tc>
                <a:tc>
                  <a:txBody>
                    <a:bodyPr/>
                    <a:lstStyle/>
                    <a:p>
                      <a:pPr algn="ctr"/>
                      <a:r>
                        <a:rPr sz="1050" b="1">
                          <a:solidFill>
                            <a:srgbClr val="FFFFFF"/>
                          </a:solidFill>
                        </a:rPr>
                        <a:t>Recommended Fix</a:t>
                      </a:r>
                    </a:p>
                  </a:txBody>
                  <a:tcPr>
                    <a:solidFill>
                      <a:srgbClr val="2E86AB"/>
                    </a:solidFill>
                  </a:tcPr>
                </a:tc>
                <a:extLst>
                  <a:ext uri="{0D108BD9-81ED-4DB2-BD59-A6C34878D82A}">
                    <a16:rowId xmlns:a16="http://schemas.microsoft.com/office/drawing/2014/main" val="10000"/>
                  </a:ext>
                </a:extLst>
              </a:tr>
              <a:tr h="384048">
                <a:tc>
                  <a:txBody>
                    <a:bodyPr/>
                    <a:lstStyle/>
                    <a:p>
                      <a:pPr algn="l"/>
                      <a:r>
                        <a:rPr lang="en-US" sz="1000" dirty="0"/>
                        <a:t>Health stress extremely low recall (0.0038)</a:t>
                      </a:r>
                      <a:endParaRPr sz="950" dirty="0">
                        <a:solidFill>
                          <a:srgbClr val="1C1C2E"/>
                        </a:solidFill>
                      </a:endParaRPr>
                    </a:p>
                  </a:txBody>
                  <a:tcPr>
                    <a:solidFill>
                      <a:srgbClr val="E8F4F8"/>
                    </a:solidFill>
                  </a:tcPr>
                </a:tc>
                <a:tc>
                  <a:txBody>
                    <a:bodyPr/>
                    <a:lstStyle/>
                    <a:p>
                      <a:pPr algn="ctr"/>
                      <a:r>
                        <a:rPr lang="en-US" sz="1000" dirty="0"/>
                        <a:t>Severe class imbalance, weak proxy labels, limited predictive signal</a:t>
                      </a:r>
                      <a:endParaRPr sz="950" dirty="0">
                        <a:solidFill>
                          <a:srgbClr val="1C1C2E"/>
                        </a:solidFill>
                      </a:endParaRPr>
                    </a:p>
                  </a:txBody>
                  <a:tcPr>
                    <a:solidFill>
                      <a:srgbClr val="E8F4F8"/>
                    </a:solidFill>
                  </a:tcPr>
                </a:tc>
                <a:tc>
                  <a:txBody>
                    <a:bodyPr/>
                    <a:lstStyle/>
                    <a:p>
                      <a:pPr algn="ctr"/>
                      <a:r>
                        <a:rPr lang="en-US" sz="1000" dirty="0"/>
                        <a:t>Redesign labels, add better health indicators, tune threshold, advanced resampling</a:t>
                      </a:r>
                      <a:endParaRPr sz="950" dirty="0">
                        <a:solidFill>
                          <a:srgbClr val="1C1C2E"/>
                        </a:solidFill>
                      </a:endParaRPr>
                    </a:p>
                  </a:txBody>
                  <a:tcPr>
                    <a:solidFill>
                      <a:srgbClr val="E8F4F8"/>
                    </a:solidFill>
                  </a:tcPr>
                </a:tc>
                <a:extLst>
                  <a:ext uri="{0D108BD9-81ED-4DB2-BD59-A6C34878D82A}">
                    <a16:rowId xmlns:a16="http://schemas.microsoft.com/office/drawing/2014/main" val="10001"/>
                  </a:ext>
                </a:extLst>
              </a:tr>
              <a:tr h="384048">
                <a:tc>
                  <a:txBody>
                    <a:bodyPr/>
                    <a:lstStyle/>
                    <a:p>
                      <a:pPr algn="l"/>
                      <a:r>
                        <a:rPr lang="en-US" sz="1000" dirty="0"/>
                        <a:t>Debt stress rare positive class (0.98%)</a:t>
                      </a:r>
                      <a:endParaRPr sz="950" dirty="0">
                        <a:solidFill>
                          <a:srgbClr val="1C1C2E"/>
                        </a:solidFill>
                      </a:endParaRPr>
                    </a:p>
                  </a:txBody>
                  <a:tcPr>
                    <a:solidFill>
                      <a:srgbClr val="FFFFFF"/>
                    </a:solidFill>
                  </a:tcPr>
                </a:tc>
                <a:tc>
                  <a:txBody>
                    <a:bodyPr/>
                    <a:lstStyle/>
                    <a:p>
                      <a:pPr algn="ctr"/>
                      <a:r>
                        <a:rPr lang="en-IN" sz="1000" dirty="0"/>
                        <a:t>Very low positive prevalence</a:t>
                      </a:r>
                      <a:endParaRPr sz="950" dirty="0">
                        <a:solidFill>
                          <a:srgbClr val="1C1C2E"/>
                        </a:solidFill>
                      </a:endParaRPr>
                    </a:p>
                  </a:txBody>
                  <a:tcPr>
                    <a:solidFill>
                      <a:srgbClr val="FFFFFF"/>
                    </a:solidFill>
                  </a:tcPr>
                </a:tc>
                <a:tc>
                  <a:txBody>
                    <a:bodyPr/>
                    <a:lstStyle/>
                    <a:p>
                      <a:pPr algn="ctr"/>
                      <a:r>
                        <a:rPr lang="en-US" sz="1000" dirty="0"/>
                        <a:t>Continue SMOTE + class weighting, monitor precision in production</a:t>
                      </a:r>
                      <a:endParaRPr sz="950" dirty="0">
                        <a:solidFill>
                          <a:srgbClr val="1C1C2E"/>
                        </a:solidFill>
                      </a:endParaRPr>
                    </a:p>
                  </a:txBody>
                  <a:tcPr>
                    <a:solidFill>
                      <a:srgbClr val="FFFFFF"/>
                    </a:solidFill>
                  </a:tcPr>
                </a:tc>
                <a:extLst>
                  <a:ext uri="{0D108BD9-81ED-4DB2-BD59-A6C34878D82A}">
                    <a16:rowId xmlns:a16="http://schemas.microsoft.com/office/drawing/2014/main" val="10002"/>
                  </a:ext>
                </a:extLst>
              </a:tr>
              <a:tr h="384048">
                <a:tc>
                  <a:txBody>
                    <a:bodyPr/>
                    <a:lstStyle/>
                    <a:p>
                      <a:pPr algn="l"/>
                      <a:r>
                        <a:rPr lang="en-IN" sz="1000" dirty="0"/>
                        <a:t>Financial model lower precision (0.9061)</a:t>
                      </a:r>
                      <a:endParaRPr sz="950" dirty="0">
                        <a:solidFill>
                          <a:srgbClr val="1C1C2E"/>
                        </a:solidFill>
                      </a:endParaRPr>
                    </a:p>
                  </a:txBody>
                  <a:tcPr>
                    <a:solidFill>
                      <a:srgbClr val="E8F4F8"/>
                    </a:solidFill>
                  </a:tcPr>
                </a:tc>
                <a:tc>
                  <a:txBody>
                    <a:bodyPr/>
                    <a:lstStyle/>
                    <a:p>
                      <a:pPr algn="ctr"/>
                      <a:r>
                        <a:rPr lang="en-US" sz="1000" dirty="0"/>
                        <a:t>Higher false positives despite strong recall</a:t>
                      </a:r>
                      <a:endParaRPr sz="950" dirty="0">
                        <a:solidFill>
                          <a:srgbClr val="1C1C2E"/>
                        </a:solidFill>
                      </a:endParaRPr>
                    </a:p>
                  </a:txBody>
                  <a:tcPr>
                    <a:solidFill>
                      <a:srgbClr val="E8F4F8"/>
                    </a:solidFill>
                  </a:tcPr>
                </a:tc>
                <a:tc>
                  <a:txBody>
                    <a:bodyPr/>
                    <a:lstStyle/>
                    <a:p>
                      <a:pPr algn="ctr"/>
                      <a:r>
                        <a:rPr lang="en-US" sz="1000" dirty="0"/>
                        <a:t>Optimize threshold based on business cost of false alerts</a:t>
                      </a:r>
                      <a:endParaRPr sz="950" dirty="0">
                        <a:solidFill>
                          <a:srgbClr val="1C1C2E"/>
                        </a:solidFill>
                      </a:endParaRPr>
                    </a:p>
                  </a:txBody>
                  <a:tcPr>
                    <a:solidFill>
                      <a:srgbClr val="E8F4F8"/>
                    </a:solidFill>
                  </a:tcPr>
                </a:tc>
                <a:extLst>
                  <a:ext uri="{0D108BD9-81ED-4DB2-BD59-A6C34878D82A}">
                    <a16:rowId xmlns:a16="http://schemas.microsoft.com/office/drawing/2014/main" val="10003"/>
                  </a:ext>
                </a:extLst>
              </a:tr>
              <a:tr h="384048">
                <a:tc>
                  <a:txBody>
                    <a:bodyPr/>
                    <a:lstStyle/>
                    <a:p>
                      <a:pPr algn="l"/>
                      <a:r>
                        <a:rPr lang="en-US" sz="1000" dirty="0"/>
                        <a:t>Composite score weak performance on higher classes (3–4)</a:t>
                      </a:r>
                      <a:endParaRPr sz="950" dirty="0">
                        <a:solidFill>
                          <a:srgbClr val="1C1C2E"/>
                        </a:solidFill>
                      </a:endParaRPr>
                    </a:p>
                  </a:txBody>
                  <a:tcPr>
                    <a:solidFill>
                      <a:srgbClr val="FFFFFF"/>
                    </a:solidFill>
                  </a:tcPr>
                </a:tc>
                <a:tc>
                  <a:txBody>
                    <a:bodyPr/>
                    <a:lstStyle/>
                    <a:p>
                      <a:pPr algn="ctr"/>
                      <a:r>
                        <a:rPr lang="en-US" sz="1000" dirty="0"/>
                        <a:t>Very few samples in severe stress classes</a:t>
                      </a:r>
                      <a:endParaRPr sz="950" dirty="0">
                        <a:solidFill>
                          <a:srgbClr val="1C1C2E"/>
                        </a:solidFill>
                      </a:endParaRPr>
                    </a:p>
                  </a:txBody>
                  <a:tcPr>
                    <a:solidFill>
                      <a:srgbClr val="FFFFFF"/>
                    </a:solidFill>
                  </a:tcPr>
                </a:tc>
                <a:tc>
                  <a:txBody>
                    <a:bodyPr/>
                    <a:lstStyle/>
                    <a:p>
                      <a:pPr algn="ctr"/>
                      <a:r>
                        <a:rPr lang="en-US" sz="1000" dirty="0"/>
                        <a:t>Collect more severe-class data, apply ordinal/regression refinement</a:t>
                      </a:r>
                      <a:endParaRPr sz="950" dirty="0">
                        <a:solidFill>
                          <a:srgbClr val="1C1C2E"/>
                        </a:solidFill>
                      </a:endParaRPr>
                    </a:p>
                  </a:txBody>
                  <a:tcPr>
                    <a:solidFill>
                      <a:srgbClr val="FFFFFF"/>
                    </a:solidFill>
                  </a:tcPr>
                </a:tc>
                <a:extLst>
                  <a:ext uri="{0D108BD9-81ED-4DB2-BD59-A6C34878D82A}">
                    <a16:rowId xmlns:a16="http://schemas.microsoft.com/office/drawing/2014/main" val="10004"/>
                  </a:ext>
                </a:extLst>
              </a:tr>
              <a:tr h="384048">
                <a:tc>
                  <a:txBody>
                    <a:bodyPr/>
                    <a:lstStyle/>
                    <a:p>
                      <a:pPr algn="l"/>
                      <a:r>
                        <a:rPr lang="en-IN" sz="1000" dirty="0"/>
                        <a:t>No hyperparameter optimization</a:t>
                      </a:r>
                      <a:endParaRPr sz="950" dirty="0">
                        <a:solidFill>
                          <a:srgbClr val="1C1C2E"/>
                        </a:solidFill>
                      </a:endParaRPr>
                    </a:p>
                  </a:txBody>
                  <a:tcPr>
                    <a:solidFill>
                      <a:srgbClr val="E8F4F8"/>
                    </a:solidFill>
                  </a:tcPr>
                </a:tc>
                <a:tc>
                  <a:txBody>
                    <a:bodyPr/>
                    <a:lstStyle/>
                    <a:p>
                      <a:pPr algn="ctr"/>
                      <a:r>
                        <a:rPr lang="en-IN" sz="1000" dirty="0"/>
                        <a:t>Baseline/default model settings used</a:t>
                      </a:r>
                      <a:endParaRPr sz="950" dirty="0">
                        <a:solidFill>
                          <a:srgbClr val="1C1C2E"/>
                        </a:solidFill>
                      </a:endParaRPr>
                    </a:p>
                  </a:txBody>
                  <a:tcPr>
                    <a:solidFill>
                      <a:srgbClr val="E8F4F8"/>
                    </a:solidFill>
                  </a:tcPr>
                </a:tc>
                <a:tc>
                  <a:txBody>
                    <a:bodyPr/>
                    <a:lstStyle/>
                    <a:p>
                      <a:pPr algn="ctr"/>
                      <a:r>
                        <a:rPr lang="en-US" sz="1000" dirty="0"/>
                        <a:t>Apply </a:t>
                      </a:r>
                      <a:r>
                        <a:rPr lang="en-US" sz="1000" dirty="0" err="1"/>
                        <a:t>Optuna</a:t>
                      </a:r>
                      <a:r>
                        <a:rPr lang="en-US" sz="1000" dirty="0"/>
                        <a:t> / </a:t>
                      </a:r>
                      <a:r>
                        <a:rPr lang="en-US" sz="1000" dirty="0" err="1"/>
                        <a:t>GridSearchCV</a:t>
                      </a:r>
                      <a:r>
                        <a:rPr lang="en-US" sz="1000" dirty="0"/>
                        <a:t> for systematic tuning</a:t>
                      </a:r>
                      <a:endParaRPr sz="950" dirty="0">
                        <a:solidFill>
                          <a:srgbClr val="1C1C2E"/>
                        </a:solidFill>
                      </a:endParaRPr>
                    </a:p>
                  </a:txBody>
                  <a:tcPr>
                    <a:solidFill>
                      <a:srgbClr val="E8F4F8"/>
                    </a:solidFill>
                  </a:tcPr>
                </a:tc>
                <a:extLst>
                  <a:ext uri="{0D108BD9-81ED-4DB2-BD59-A6C34878D82A}">
                    <a16:rowId xmlns:a16="http://schemas.microsoft.com/office/drawing/2014/main" val="10005"/>
                  </a:ext>
                </a:extLst>
              </a:tr>
              <a:tr h="384048">
                <a:tc>
                  <a:txBody>
                    <a:bodyPr/>
                    <a:lstStyle/>
                    <a:p>
                      <a:pPr algn="l"/>
                      <a:r>
                        <a:rPr lang="en-IN" sz="1000" dirty="0"/>
                        <a:t>Data versioning not implemented</a:t>
                      </a:r>
                      <a:endParaRPr sz="950" dirty="0">
                        <a:solidFill>
                          <a:srgbClr val="1C1C2E"/>
                        </a:solidFill>
                      </a:endParaRPr>
                    </a:p>
                  </a:txBody>
                  <a:tcPr>
                    <a:solidFill>
                      <a:srgbClr val="FFFFFF"/>
                    </a:solidFill>
                  </a:tcPr>
                </a:tc>
                <a:tc>
                  <a:txBody>
                    <a:bodyPr/>
                    <a:lstStyle/>
                    <a:p>
                      <a:pPr algn="ctr"/>
                      <a:r>
                        <a:rPr lang="en-IN" sz="1000" dirty="0"/>
                        <a:t>Training parquet snapshots unmanaged</a:t>
                      </a:r>
                      <a:endParaRPr sz="950" dirty="0">
                        <a:solidFill>
                          <a:srgbClr val="1C1C2E"/>
                        </a:solidFill>
                      </a:endParaRPr>
                    </a:p>
                  </a:txBody>
                  <a:tcPr>
                    <a:solidFill>
                      <a:srgbClr val="FFFFFF"/>
                    </a:solidFill>
                  </a:tcPr>
                </a:tc>
                <a:tc>
                  <a:txBody>
                    <a:bodyPr/>
                    <a:lstStyle/>
                    <a:p>
                      <a:pPr algn="ctr"/>
                      <a:r>
                        <a:rPr lang="en-US" sz="1000" dirty="0"/>
                        <a:t>Adopt DVC / </a:t>
                      </a:r>
                      <a:r>
                        <a:rPr lang="en-US" sz="1000" dirty="0" err="1"/>
                        <a:t>MLflow</a:t>
                      </a:r>
                      <a:r>
                        <a:rPr lang="en-US" sz="1000" dirty="0"/>
                        <a:t> / Delta Lake for reproducibility</a:t>
                      </a:r>
                      <a:endParaRPr sz="950" dirty="0">
                        <a:solidFill>
                          <a:srgbClr val="1C1C2E"/>
                        </a:solidFill>
                      </a:endParaRPr>
                    </a:p>
                  </a:txBody>
                  <a:tcP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10972800" cy="685800"/>
          </a:xfrm>
          <a:prstGeom prst="rect">
            <a:avLst/>
          </a:prstGeom>
          <a:noFill/>
        </p:spPr>
        <p:txBody>
          <a:bodyPr wrap="square">
            <a:spAutoFit/>
          </a:bodyPr>
          <a:lstStyle/>
          <a:p>
            <a:pPr algn="l"/>
            <a:r>
              <a:rPr sz="3000" b="1" i="0">
                <a:solidFill>
                  <a:srgbClr val="FFFFFF"/>
                </a:solidFill>
              </a:rPr>
              <a:t>Conclusion</a:t>
            </a:r>
          </a:p>
        </p:txBody>
      </p:sp>
      <p:sp>
        <p:nvSpPr>
          <p:cNvPr id="5" name="TextBox 4"/>
          <p:cNvSpPr txBox="1"/>
          <p:nvPr/>
        </p:nvSpPr>
        <p:spPr>
          <a:xfrm>
            <a:off x="320040" y="749808"/>
            <a:ext cx="10972800" cy="347472"/>
          </a:xfrm>
          <a:prstGeom prst="rect">
            <a:avLst/>
          </a:prstGeom>
          <a:noFill/>
        </p:spPr>
        <p:txBody>
          <a:bodyPr wrap="square">
            <a:spAutoFit/>
          </a:bodyPr>
          <a:lstStyle/>
          <a:p>
            <a:pPr algn="l"/>
            <a:r>
              <a:rPr sz="1300" b="0" i="0">
                <a:solidFill>
                  <a:srgbClr val="B0C8E0"/>
                </a:solidFill>
              </a:rPr>
              <a:t>What Was Achieved</a:t>
            </a:r>
          </a:p>
        </p:txBody>
      </p:sp>
      <p:sp>
        <p:nvSpPr>
          <p:cNvPr id="6" name="TextBox 5"/>
          <p:cNvSpPr txBox="1"/>
          <p:nvPr/>
        </p:nvSpPr>
        <p:spPr>
          <a:xfrm>
            <a:off x="11247120" y="6537960"/>
            <a:ext cx="914400" cy="274320"/>
          </a:xfrm>
          <a:prstGeom prst="rect">
            <a:avLst/>
          </a:prstGeom>
          <a:noFill/>
        </p:spPr>
        <p:txBody>
          <a:bodyPr wrap="square">
            <a:spAutoFit/>
          </a:bodyPr>
          <a:lstStyle/>
          <a:p>
            <a:pPr algn="r"/>
            <a:r>
              <a:rPr sz="900" b="0" i="0">
                <a:solidFill>
                  <a:srgbClr val="90A4AE"/>
                </a:solidFill>
              </a:rPr>
              <a:t>14 / 17</a:t>
            </a:r>
          </a:p>
        </p:txBody>
      </p:sp>
      <p:sp>
        <p:nvSpPr>
          <p:cNvPr id="7" name="Rectangle 6"/>
          <p:cNvSpPr/>
          <p:nvPr/>
        </p:nvSpPr>
        <p:spPr>
          <a:xfrm>
            <a:off x="320040" y="1261872"/>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316736"/>
            <a:ext cx="10972800" cy="365760"/>
          </a:xfrm>
          <a:prstGeom prst="rect">
            <a:avLst/>
          </a:prstGeom>
          <a:noFill/>
        </p:spPr>
        <p:txBody>
          <a:bodyPr wrap="square">
            <a:spAutoFit/>
          </a:bodyPr>
          <a:lstStyle/>
          <a:p>
            <a:pPr algn="l"/>
            <a:r>
              <a:rPr sz="1500" b="1" i="0">
                <a:solidFill>
                  <a:srgbClr val="2E86AB"/>
                </a:solidFill>
              </a:rPr>
              <a:t>Summary of Contributions</a:t>
            </a:r>
          </a:p>
        </p:txBody>
      </p:sp>
      <p:sp>
        <p:nvSpPr>
          <p:cNvPr id="9" name="Rectangle 8"/>
          <p:cNvSpPr/>
          <p:nvPr/>
        </p:nvSpPr>
        <p:spPr>
          <a:xfrm>
            <a:off x="320040" y="1664208"/>
            <a:ext cx="5486400" cy="1078992"/>
          </a:xfrm>
          <a:prstGeom prst="rect">
            <a:avLst/>
          </a:prstGeom>
          <a:solidFill>
            <a:srgbClr val="FFFFFF"/>
          </a:solidFill>
          <a:ln w="12700">
            <a:solidFill>
              <a:srgbClr val="BBDE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20040" y="1664208"/>
            <a:ext cx="5486400" cy="34747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9768" y="1709928"/>
            <a:ext cx="5303520" cy="292608"/>
          </a:xfrm>
          <a:prstGeom prst="rect">
            <a:avLst/>
          </a:prstGeom>
          <a:noFill/>
        </p:spPr>
        <p:txBody>
          <a:bodyPr wrap="square">
            <a:spAutoFit/>
          </a:bodyPr>
          <a:lstStyle/>
          <a:p>
            <a:pPr algn="l"/>
            <a:r>
              <a:rPr sz="1100" b="1" i="0">
                <a:solidFill>
                  <a:srgbClr val="2E86AB"/>
                </a:solidFill>
              </a:rPr>
              <a:t>🗃️ Data Pipeline</a:t>
            </a:r>
          </a:p>
        </p:txBody>
      </p:sp>
      <p:sp>
        <p:nvSpPr>
          <p:cNvPr id="12" name="TextBox 11"/>
          <p:cNvSpPr txBox="1"/>
          <p:nvPr/>
        </p:nvSpPr>
        <p:spPr>
          <a:xfrm>
            <a:off x="429768" y="2066544"/>
            <a:ext cx="5303520" cy="621792"/>
          </a:xfrm>
          <a:prstGeom prst="rect">
            <a:avLst/>
          </a:prstGeom>
          <a:noFill/>
        </p:spPr>
        <p:txBody>
          <a:bodyPr wrap="square">
            <a:spAutoFit/>
          </a:bodyPr>
          <a:lstStyle/>
          <a:p>
            <a:pPr algn="l"/>
            <a:r>
              <a:rPr sz="1000" b="0" i="0">
                <a:solidFill>
                  <a:srgbClr val="1C1C2E"/>
                </a:solidFill>
              </a:rPr>
              <a:t>Built a complete ETL pipeline processing 318 raw CMIE parquet files (INC + POI + CON) into a unified ~500K-row household-month dataset spanning 11 years.</a:t>
            </a:r>
          </a:p>
        </p:txBody>
      </p:sp>
      <p:sp>
        <p:nvSpPr>
          <p:cNvPr id="13" name="Rectangle 12"/>
          <p:cNvSpPr/>
          <p:nvPr/>
        </p:nvSpPr>
        <p:spPr>
          <a:xfrm>
            <a:off x="6126479" y="1664208"/>
            <a:ext cx="5486400" cy="1078992"/>
          </a:xfrm>
          <a:prstGeom prst="rect">
            <a:avLst/>
          </a:prstGeom>
          <a:solidFill>
            <a:srgbClr val="FFFFFF"/>
          </a:solidFill>
          <a:ln w="12700">
            <a:solidFill>
              <a:srgbClr val="BBDE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26479" y="1664208"/>
            <a:ext cx="5486400" cy="34747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36207" y="1709928"/>
            <a:ext cx="5303520" cy="292608"/>
          </a:xfrm>
          <a:prstGeom prst="rect">
            <a:avLst/>
          </a:prstGeom>
          <a:noFill/>
        </p:spPr>
        <p:txBody>
          <a:bodyPr wrap="square">
            <a:spAutoFit/>
          </a:bodyPr>
          <a:lstStyle/>
          <a:p>
            <a:pPr algn="l"/>
            <a:r>
              <a:rPr sz="1100" b="1" i="0">
                <a:solidFill>
                  <a:srgbClr val="2E86AB"/>
                </a:solidFill>
              </a:rPr>
              <a:t>🏷️ Label Engineering</a:t>
            </a:r>
          </a:p>
        </p:txBody>
      </p:sp>
      <p:sp>
        <p:nvSpPr>
          <p:cNvPr id="16" name="TextBox 15"/>
          <p:cNvSpPr txBox="1"/>
          <p:nvPr/>
        </p:nvSpPr>
        <p:spPr>
          <a:xfrm>
            <a:off x="6236207" y="2066544"/>
            <a:ext cx="5303520" cy="621792"/>
          </a:xfrm>
          <a:prstGeom prst="rect">
            <a:avLst/>
          </a:prstGeom>
          <a:noFill/>
        </p:spPr>
        <p:txBody>
          <a:bodyPr wrap="square">
            <a:spAutoFit/>
          </a:bodyPr>
          <a:lstStyle/>
          <a:p>
            <a:pPr algn="l"/>
            <a:r>
              <a:rPr sz="1000" b="0" i="0">
                <a:solidFill>
                  <a:srgbClr val="1C1C2E"/>
                </a:solidFill>
              </a:rPr>
              <a:t>Defined and computed four deterministic financial stress labels — financial, food, debt, health — and a composite score (0–4) without subjective annotation.</a:t>
            </a:r>
          </a:p>
        </p:txBody>
      </p:sp>
      <p:sp>
        <p:nvSpPr>
          <p:cNvPr id="17" name="Rectangle 16"/>
          <p:cNvSpPr/>
          <p:nvPr/>
        </p:nvSpPr>
        <p:spPr>
          <a:xfrm>
            <a:off x="320040" y="2852928"/>
            <a:ext cx="5486400" cy="1078992"/>
          </a:xfrm>
          <a:prstGeom prst="rect">
            <a:avLst/>
          </a:prstGeom>
          <a:solidFill>
            <a:srgbClr val="FFFFFF"/>
          </a:solidFill>
          <a:ln w="12700">
            <a:solidFill>
              <a:srgbClr val="BBDE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20040" y="2852928"/>
            <a:ext cx="5486400" cy="34747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29768" y="2898648"/>
            <a:ext cx="5303520" cy="292608"/>
          </a:xfrm>
          <a:prstGeom prst="rect">
            <a:avLst/>
          </a:prstGeom>
          <a:noFill/>
        </p:spPr>
        <p:txBody>
          <a:bodyPr wrap="square">
            <a:spAutoFit/>
          </a:bodyPr>
          <a:lstStyle/>
          <a:p>
            <a:pPr algn="l"/>
            <a:r>
              <a:rPr sz="1100" b="1" i="0">
                <a:solidFill>
                  <a:srgbClr val="2E86AB"/>
                </a:solidFill>
              </a:rPr>
              <a:t>🤖 ML Models</a:t>
            </a:r>
          </a:p>
        </p:txBody>
      </p:sp>
      <p:sp>
        <p:nvSpPr>
          <p:cNvPr id="20" name="TextBox 19"/>
          <p:cNvSpPr txBox="1"/>
          <p:nvPr/>
        </p:nvSpPr>
        <p:spPr>
          <a:xfrm>
            <a:off x="429768" y="3255264"/>
            <a:ext cx="5303520" cy="400110"/>
          </a:xfrm>
          <a:prstGeom prst="rect">
            <a:avLst/>
          </a:prstGeom>
          <a:noFill/>
        </p:spPr>
        <p:txBody>
          <a:bodyPr wrap="square">
            <a:spAutoFit/>
          </a:bodyPr>
          <a:lstStyle/>
          <a:p>
            <a:pPr algn="l"/>
            <a:r>
              <a:rPr sz="1000" b="0" i="0" dirty="0">
                <a:solidFill>
                  <a:srgbClr val="1C1C2E"/>
                </a:solidFill>
              </a:rPr>
              <a:t>Trained 5 </a:t>
            </a:r>
            <a:r>
              <a:rPr sz="1000" b="0" i="0" dirty="0" err="1">
                <a:solidFill>
                  <a:srgbClr val="1C1C2E"/>
                </a:solidFill>
              </a:rPr>
              <a:t>XGBoost</a:t>
            </a:r>
            <a:r>
              <a:rPr sz="1000" b="0" i="0" dirty="0">
                <a:solidFill>
                  <a:srgbClr val="1C1C2E"/>
                </a:solidFill>
              </a:rPr>
              <a:t> models achieving F1=0.9</a:t>
            </a:r>
            <a:r>
              <a:rPr lang="en-IN" sz="1000" b="0" i="0" dirty="0">
                <a:solidFill>
                  <a:srgbClr val="1C1C2E"/>
                </a:solidFill>
              </a:rPr>
              <a:t>0</a:t>
            </a:r>
            <a:r>
              <a:rPr sz="1000" b="0" i="0" dirty="0">
                <a:solidFill>
                  <a:srgbClr val="1C1C2E"/>
                </a:solidFill>
              </a:rPr>
              <a:t>+ on financial/food/debt stress and AUC=0.92+ on health stress. Composite regressor achieves MAE=0.24.</a:t>
            </a:r>
          </a:p>
        </p:txBody>
      </p:sp>
      <p:sp>
        <p:nvSpPr>
          <p:cNvPr id="21" name="Rectangle 20"/>
          <p:cNvSpPr/>
          <p:nvPr/>
        </p:nvSpPr>
        <p:spPr>
          <a:xfrm>
            <a:off x="6126479" y="2852928"/>
            <a:ext cx="5486400" cy="1078992"/>
          </a:xfrm>
          <a:prstGeom prst="rect">
            <a:avLst/>
          </a:prstGeom>
          <a:solidFill>
            <a:srgbClr val="FFFFFF"/>
          </a:solidFill>
          <a:ln w="12700">
            <a:solidFill>
              <a:srgbClr val="BBDE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26479" y="2852928"/>
            <a:ext cx="5486400" cy="34747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36207" y="2898648"/>
            <a:ext cx="5303520" cy="292608"/>
          </a:xfrm>
          <a:prstGeom prst="rect">
            <a:avLst/>
          </a:prstGeom>
          <a:noFill/>
        </p:spPr>
        <p:txBody>
          <a:bodyPr wrap="square">
            <a:spAutoFit/>
          </a:bodyPr>
          <a:lstStyle/>
          <a:p>
            <a:pPr algn="l"/>
            <a:r>
              <a:rPr sz="1100" b="1" i="0">
                <a:solidFill>
                  <a:srgbClr val="2E86AB"/>
                </a:solidFill>
              </a:rPr>
              <a:t>💡 Explainability</a:t>
            </a:r>
          </a:p>
        </p:txBody>
      </p:sp>
      <p:sp>
        <p:nvSpPr>
          <p:cNvPr id="24" name="TextBox 23"/>
          <p:cNvSpPr txBox="1"/>
          <p:nvPr/>
        </p:nvSpPr>
        <p:spPr>
          <a:xfrm>
            <a:off x="6236207" y="3255264"/>
            <a:ext cx="5303520" cy="621792"/>
          </a:xfrm>
          <a:prstGeom prst="rect">
            <a:avLst/>
          </a:prstGeom>
          <a:noFill/>
        </p:spPr>
        <p:txBody>
          <a:bodyPr wrap="square">
            <a:spAutoFit/>
          </a:bodyPr>
          <a:lstStyle/>
          <a:p>
            <a:pPr algn="l"/>
            <a:r>
              <a:rPr sz="1000" b="0" i="0">
                <a:solidFill>
                  <a:srgbClr val="1C1C2E"/>
                </a:solidFill>
              </a:rPr>
              <a:t>Integrated SHAP-based top-3 human-readable reasons per prediction and Bayesian state-level calibration for geographic equity.</a:t>
            </a:r>
          </a:p>
        </p:txBody>
      </p:sp>
      <p:sp>
        <p:nvSpPr>
          <p:cNvPr id="25" name="Rectangle 24"/>
          <p:cNvSpPr/>
          <p:nvPr/>
        </p:nvSpPr>
        <p:spPr>
          <a:xfrm>
            <a:off x="320040" y="4041648"/>
            <a:ext cx="5486400" cy="1078992"/>
          </a:xfrm>
          <a:prstGeom prst="rect">
            <a:avLst/>
          </a:prstGeom>
          <a:solidFill>
            <a:srgbClr val="FFFFFF"/>
          </a:solidFill>
          <a:ln w="12700">
            <a:solidFill>
              <a:srgbClr val="BBDE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20040" y="4041648"/>
            <a:ext cx="5486400" cy="34747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29768" y="4087368"/>
            <a:ext cx="5303520" cy="292608"/>
          </a:xfrm>
          <a:prstGeom prst="rect">
            <a:avLst/>
          </a:prstGeom>
          <a:noFill/>
        </p:spPr>
        <p:txBody>
          <a:bodyPr wrap="square">
            <a:spAutoFit/>
          </a:bodyPr>
          <a:lstStyle/>
          <a:p>
            <a:pPr algn="l"/>
            <a:r>
              <a:rPr sz="1100" b="1" i="0">
                <a:solidFill>
                  <a:srgbClr val="2E86AB"/>
                </a:solidFill>
              </a:rPr>
              <a:t>🌐 Web Application</a:t>
            </a:r>
          </a:p>
        </p:txBody>
      </p:sp>
      <p:sp>
        <p:nvSpPr>
          <p:cNvPr id="28" name="TextBox 27"/>
          <p:cNvSpPr txBox="1"/>
          <p:nvPr/>
        </p:nvSpPr>
        <p:spPr>
          <a:xfrm>
            <a:off x="429768" y="4443984"/>
            <a:ext cx="5303520" cy="621792"/>
          </a:xfrm>
          <a:prstGeom prst="rect">
            <a:avLst/>
          </a:prstGeom>
          <a:noFill/>
        </p:spPr>
        <p:txBody>
          <a:bodyPr wrap="square">
            <a:spAutoFit/>
          </a:bodyPr>
          <a:lstStyle/>
          <a:p>
            <a:pPr algn="l"/>
            <a:r>
              <a:rPr sz="1000" b="0" i="0">
                <a:solidFill>
                  <a:srgbClr val="1C1C2E"/>
                </a:solidFill>
              </a:rPr>
              <a:t>Deployed a 6-step conversational chatbot (React + FastAPI) that collects user data, runs ML inference, and delivers GPT-4o-mini personalised advice.</a:t>
            </a:r>
          </a:p>
        </p:txBody>
      </p:sp>
      <p:sp>
        <p:nvSpPr>
          <p:cNvPr id="29" name="Rectangle 28"/>
          <p:cNvSpPr/>
          <p:nvPr/>
        </p:nvSpPr>
        <p:spPr>
          <a:xfrm>
            <a:off x="6126479" y="4041648"/>
            <a:ext cx="5486400" cy="1078992"/>
          </a:xfrm>
          <a:prstGeom prst="rect">
            <a:avLst/>
          </a:prstGeom>
          <a:solidFill>
            <a:srgbClr val="FFFFFF"/>
          </a:solidFill>
          <a:ln w="12700">
            <a:solidFill>
              <a:srgbClr val="BBDE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126479" y="4041648"/>
            <a:ext cx="5486400" cy="34747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36207" y="4087368"/>
            <a:ext cx="5303520" cy="292608"/>
          </a:xfrm>
          <a:prstGeom prst="rect">
            <a:avLst/>
          </a:prstGeom>
          <a:noFill/>
        </p:spPr>
        <p:txBody>
          <a:bodyPr wrap="square">
            <a:spAutoFit/>
          </a:bodyPr>
          <a:lstStyle/>
          <a:p>
            <a:pPr algn="l"/>
            <a:r>
              <a:rPr sz="1100" b="1" i="0">
                <a:solidFill>
                  <a:srgbClr val="2E86AB"/>
                </a:solidFill>
              </a:rPr>
              <a:t>📈 Monitoring</a:t>
            </a:r>
          </a:p>
        </p:txBody>
      </p:sp>
      <p:sp>
        <p:nvSpPr>
          <p:cNvPr id="32" name="TextBox 31"/>
          <p:cNvSpPr txBox="1"/>
          <p:nvPr/>
        </p:nvSpPr>
        <p:spPr>
          <a:xfrm>
            <a:off x="6236207" y="4443984"/>
            <a:ext cx="5303520" cy="621792"/>
          </a:xfrm>
          <a:prstGeom prst="rect">
            <a:avLst/>
          </a:prstGeom>
          <a:noFill/>
        </p:spPr>
        <p:txBody>
          <a:bodyPr wrap="square">
            <a:spAutoFit/>
          </a:bodyPr>
          <a:lstStyle/>
          <a:p>
            <a:pPr algn="l"/>
            <a:r>
              <a:rPr sz="1000" b="0" i="0">
                <a:solidFill>
                  <a:srgbClr val="1C1C2E"/>
                </a:solidFill>
              </a:rPr>
              <a:t>Implemented Prometheus metrics, Evidently AI drift monitoring, and automated retraining triggers — enabling robust production operations.</a:t>
            </a:r>
          </a:p>
        </p:txBody>
      </p:sp>
      <p:sp>
        <p:nvSpPr>
          <p:cNvPr id="33" name="Rectangle 32"/>
          <p:cNvSpPr/>
          <p:nvPr/>
        </p:nvSpPr>
        <p:spPr>
          <a:xfrm>
            <a:off x="320040" y="6172200"/>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20040" y="6227064"/>
            <a:ext cx="10972800" cy="365760"/>
          </a:xfrm>
          <a:prstGeom prst="rect">
            <a:avLst/>
          </a:prstGeom>
          <a:noFill/>
        </p:spPr>
        <p:txBody>
          <a:bodyPr wrap="square">
            <a:spAutoFit/>
          </a:bodyPr>
          <a:lstStyle/>
          <a:p>
            <a:pPr algn="l"/>
            <a:r>
              <a:rPr sz="1500" b="1" i="0">
                <a:solidFill>
                  <a:srgbClr val="2E86AB"/>
                </a:solidFill>
              </a:rPr>
              <a:t>Overall Outcome</a:t>
            </a:r>
          </a:p>
        </p:txBody>
      </p:sp>
      <p:sp>
        <p:nvSpPr>
          <p:cNvPr id="35" name="TextBox 34"/>
          <p:cNvSpPr txBox="1"/>
          <p:nvPr/>
        </p:nvSpPr>
        <p:spPr>
          <a:xfrm>
            <a:off x="320040" y="6492240"/>
            <a:ext cx="11430000" cy="347472"/>
          </a:xfrm>
          <a:prstGeom prst="rect">
            <a:avLst/>
          </a:prstGeom>
          <a:noFill/>
        </p:spPr>
        <p:txBody>
          <a:bodyPr wrap="square">
            <a:spAutoFit/>
          </a:bodyPr>
          <a:lstStyle/>
          <a:p>
            <a:pPr algn="l"/>
            <a:r>
              <a:rPr sz="1100" b="1" i="0">
                <a:solidFill>
                  <a:srgbClr val="2E86AB"/>
                </a:solidFill>
              </a:rPr>
              <a:t>ArthSaathi demonstrates that combining longitudinal survey data with gradient boosting and LLMs can deliver scalable, interpretable, and actionable financial stress analysis for Indian households at zero marginal cost.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10972800" cy="685800"/>
          </a:xfrm>
          <a:prstGeom prst="rect">
            <a:avLst/>
          </a:prstGeom>
          <a:noFill/>
        </p:spPr>
        <p:txBody>
          <a:bodyPr wrap="square">
            <a:spAutoFit/>
          </a:bodyPr>
          <a:lstStyle/>
          <a:p>
            <a:pPr algn="l"/>
            <a:r>
              <a:rPr sz="3000" b="1" i="0">
                <a:solidFill>
                  <a:srgbClr val="FFFFFF"/>
                </a:solidFill>
              </a:rPr>
              <a:t>Future Work</a:t>
            </a:r>
          </a:p>
        </p:txBody>
      </p:sp>
      <p:sp>
        <p:nvSpPr>
          <p:cNvPr id="5" name="TextBox 4"/>
          <p:cNvSpPr txBox="1"/>
          <p:nvPr/>
        </p:nvSpPr>
        <p:spPr>
          <a:xfrm>
            <a:off x="320040" y="749808"/>
            <a:ext cx="10972800" cy="347472"/>
          </a:xfrm>
          <a:prstGeom prst="rect">
            <a:avLst/>
          </a:prstGeom>
          <a:noFill/>
        </p:spPr>
        <p:txBody>
          <a:bodyPr wrap="square">
            <a:spAutoFit/>
          </a:bodyPr>
          <a:lstStyle/>
          <a:p>
            <a:pPr algn="l"/>
            <a:r>
              <a:rPr sz="1300" b="0" i="0">
                <a:solidFill>
                  <a:srgbClr val="B0C8E0"/>
                </a:solidFill>
              </a:rPr>
              <a:t>Roadmap for v5 &amp; Beyond</a:t>
            </a:r>
          </a:p>
        </p:txBody>
      </p:sp>
      <p:sp>
        <p:nvSpPr>
          <p:cNvPr id="6" name="TextBox 5"/>
          <p:cNvSpPr txBox="1"/>
          <p:nvPr/>
        </p:nvSpPr>
        <p:spPr>
          <a:xfrm>
            <a:off x="11247120" y="6537960"/>
            <a:ext cx="914400" cy="274320"/>
          </a:xfrm>
          <a:prstGeom prst="rect">
            <a:avLst/>
          </a:prstGeom>
          <a:noFill/>
        </p:spPr>
        <p:txBody>
          <a:bodyPr wrap="square">
            <a:spAutoFit/>
          </a:bodyPr>
          <a:lstStyle/>
          <a:p>
            <a:pPr algn="r"/>
            <a:r>
              <a:rPr sz="900" b="0" i="0">
                <a:solidFill>
                  <a:srgbClr val="90A4AE"/>
                </a:solidFill>
              </a:rPr>
              <a:t>15 / 17</a:t>
            </a:r>
          </a:p>
        </p:txBody>
      </p:sp>
      <p:sp>
        <p:nvSpPr>
          <p:cNvPr id="7" name="Rectangle 6"/>
          <p:cNvSpPr/>
          <p:nvPr/>
        </p:nvSpPr>
        <p:spPr>
          <a:xfrm>
            <a:off x="320040" y="1261872"/>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316736"/>
            <a:ext cx="10972800" cy="365760"/>
          </a:xfrm>
          <a:prstGeom prst="rect">
            <a:avLst/>
          </a:prstGeom>
          <a:noFill/>
        </p:spPr>
        <p:txBody>
          <a:bodyPr wrap="square">
            <a:spAutoFit/>
          </a:bodyPr>
          <a:lstStyle/>
          <a:p>
            <a:pPr algn="l"/>
            <a:r>
              <a:rPr sz="1500" b="1" i="0">
                <a:solidFill>
                  <a:srgbClr val="2E86AB"/>
                </a:solidFill>
              </a:rPr>
              <a:t>Short-Term (v5 — In Progress)</a:t>
            </a:r>
          </a:p>
        </p:txBody>
      </p:sp>
      <p:sp>
        <p:nvSpPr>
          <p:cNvPr id="9" name="Rectangle 8"/>
          <p:cNvSpPr/>
          <p:nvPr/>
        </p:nvSpPr>
        <p:spPr>
          <a:xfrm>
            <a:off x="320040" y="1664208"/>
            <a:ext cx="3749039" cy="2377440"/>
          </a:xfrm>
          <a:prstGeom prst="rect">
            <a:avLst/>
          </a:prstGeom>
          <a:solidFill>
            <a:srgbClr val="FFFFFF"/>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20040" y="1664208"/>
            <a:ext cx="3749039" cy="3474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79" y="1691640"/>
            <a:ext cx="3566160" cy="301752"/>
          </a:xfrm>
          <a:prstGeom prst="rect">
            <a:avLst/>
          </a:prstGeom>
          <a:noFill/>
        </p:spPr>
        <p:txBody>
          <a:bodyPr wrap="square">
            <a:spAutoFit/>
          </a:bodyPr>
          <a:lstStyle/>
          <a:p>
            <a:pPr algn="l"/>
            <a:r>
              <a:rPr sz="1100" b="1" i="0">
                <a:solidFill>
                  <a:srgbClr val="FFFFFF"/>
                </a:solidFill>
              </a:rPr>
              <a:t>Model Improvements</a:t>
            </a:r>
          </a:p>
        </p:txBody>
      </p:sp>
      <p:sp>
        <p:nvSpPr>
          <p:cNvPr id="12" name="TextBox 11"/>
          <p:cNvSpPr txBox="1"/>
          <p:nvPr/>
        </p:nvSpPr>
        <p:spPr>
          <a:xfrm>
            <a:off x="411479" y="2084831"/>
            <a:ext cx="3566160" cy="594360"/>
          </a:xfrm>
          <a:prstGeom prst="rect">
            <a:avLst/>
          </a:prstGeom>
          <a:noFill/>
        </p:spPr>
        <p:txBody>
          <a:bodyPr wrap="square">
            <a:spAutoFit/>
          </a:bodyPr>
          <a:lstStyle/>
          <a:p>
            <a:pPr algn="l"/>
            <a:r>
              <a:rPr sz="1000" b="0" i="0">
                <a:solidFill>
                  <a:srgbClr val="1C1C2E"/>
                </a:solidFill>
              </a:rPr>
              <a:t>▸  Retrain health_stress with SMOTE oversampling</a:t>
            </a:r>
          </a:p>
        </p:txBody>
      </p:sp>
      <p:sp>
        <p:nvSpPr>
          <p:cNvPr id="13" name="TextBox 12"/>
          <p:cNvSpPr txBox="1"/>
          <p:nvPr/>
        </p:nvSpPr>
        <p:spPr>
          <a:xfrm>
            <a:off x="411479" y="2724911"/>
            <a:ext cx="3566160" cy="594360"/>
          </a:xfrm>
          <a:prstGeom prst="rect">
            <a:avLst/>
          </a:prstGeom>
          <a:noFill/>
        </p:spPr>
        <p:txBody>
          <a:bodyPr wrap="square">
            <a:spAutoFit/>
          </a:bodyPr>
          <a:lstStyle/>
          <a:p>
            <a:pPr algn="l"/>
            <a:r>
              <a:rPr sz="1000" b="0" i="0">
                <a:solidFill>
                  <a:srgbClr val="1C1C2E"/>
                </a:solidFill>
              </a:rPr>
              <a:t>▸  Tune financial_stress threshold to 0.35 (already in predict.py)</a:t>
            </a:r>
          </a:p>
        </p:txBody>
      </p:sp>
      <p:sp>
        <p:nvSpPr>
          <p:cNvPr id="14" name="TextBox 13"/>
          <p:cNvSpPr txBox="1"/>
          <p:nvPr/>
        </p:nvSpPr>
        <p:spPr>
          <a:xfrm>
            <a:off x="411479" y="3364991"/>
            <a:ext cx="3566160" cy="594360"/>
          </a:xfrm>
          <a:prstGeom prst="rect">
            <a:avLst/>
          </a:prstGeom>
          <a:noFill/>
        </p:spPr>
        <p:txBody>
          <a:bodyPr wrap="square">
            <a:spAutoFit/>
          </a:bodyPr>
          <a:lstStyle/>
          <a:p>
            <a:pPr algn="l"/>
            <a:r>
              <a:rPr sz="1000" b="0" i="0">
                <a:solidFill>
                  <a:srgbClr val="1C1C2E"/>
                </a:solidFill>
              </a:rPr>
              <a:t>▸  Add recency weighting: 2022–2025 data gets 2× sample weight</a:t>
            </a:r>
          </a:p>
        </p:txBody>
      </p:sp>
      <p:sp>
        <p:nvSpPr>
          <p:cNvPr id="15" name="Rectangle 14"/>
          <p:cNvSpPr/>
          <p:nvPr/>
        </p:nvSpPr>
        <p:spPr>
          <a:xfrm>
            <a:off x="4270248" y="1664208"/>
            <a:ext cx="3749039" cy="2377440"/>
          </a:xfrm>
          <a:prstGeom prst="rect">
            <a:avLst/>
          </a:prstGeom>
          <a:solidFill>
            <a:srgbClr val="FFFFFF"/>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270248" y="1664208"/>
            <a:ext cx="3749039" cy="3474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61688" y="1691640"/>
            <a:ext cx="3566160" cy="301752"/>
          </a:xfrm>
          <a:prstGeom prst="rect">
            <a:avLst/>
          </a:prstGeom>
          <a:noFill/>
        </p:spPr>
        <p:txBody>
          <a:bodyPr wrap="square">
            <a:spAutoFit/>
          </a:bodyPr>
          <a:lstStyle/>
          <a:p>
            <a:pPr algn="l"/>
            <a:r>
              <a:rPr sz="1100" b="1" i="0">
                <a:solidFill>
                  <a:srgbClr val="FFFFFF"/>
                </a:solidFill>
              </a:rPr>
              <a:t>New Models to Trial</a:t>
            </a:r>
          </a:p>
        </p:txBody>
      </p:sp>
      <p:sp>
        <p:nvSpPr>
          <p:cNvPr id="18" name="TextBox 17"/>
          <p:cNvSpPr txBox="1"/>
          <p:nvPr/>
        </p:nvSpPr>
        <p:spPr>
          <a:xfrm>
            <a:off x="4361688" y="2084831"/>
            <a:ext cx="3566160" cy="594360"/>
          </a:xfrm>
          <a:prstGeom prst="rect">
            <a:avLst/>
          </a:prstGeom>
          <a:noFill/>
        </p:spPr>
        <p:txBody>
          <a:bodyPr wrap="square">
            <a:spAutoFit/>
          </a:bodyPr>
          <a:lstStyle/>
          <a:p>
            <a:pPr algn="l"/>
            <a:r>
              <a:rPr sz="1000" b="0" i="0">
                <a:solidFill>
                  <a:srgbClr val="1C1C2E"/>
                </a:solidFill>
              </a:rPr>
              <a:t>▸  LightGBM — faster, handles NaN natively</a:t>
            </a:r>
          </a:p>
        </p:txBody>
      </p:sp>
      <p:sp>
        <p:nvSpPr>
          <p:cNvPr id="19" name="TextBox 18"/>
          <p:cNvSpPr txBox="1"/>
          <p:nvPr/>
        </p:nvSpPr>
        <p:spPr>
          <a:xfrm>
            <a:off x="4361688" y="2724911"/>
            <a:ext cx="3566160" cy="594360"/>
          </a:xfrm>
          <a:prstGeom prst="rect">
            <a:avLst/>
          </a:prstGeom>
          <a:noFill/>
        </p:spPr>
        <p:txBody>
          <a:bodyPr wrap="square">
            <a:spAutoFit/>
          </a:bodyPr>
          <a:lstStyle/>
          <a:p>
            <a:pPr algn="l"/>
            <a:r>
              <a:rPr sz="1000" b="0" i="0">
                <a:solidFill>
                  <a:srgbClr val="1C1C2E"/>
                </a:solidFill>
              </a:rPr>
              <a:t>▸  CatBoost — no OrdinalEncoder needed for 28 states</a:t>
            </a:r>
          </a:p>
        </p:txBody>
      </p:sp>
      <p:sp>
        <p:nvSpPr>
          <p:cNvPr id="20" name="TextBox 19"/>
          <p:cNvSpPr txBox="1"/>
          <p:nvPr/>
        </p:nvSpPr>
        <p:spPr>
          <a:xfrm>
            <a:off x="4361688" y="3364991"/>
            <a:ext cx="3566160" cy="594360"/>
          </a:xfrm>
          <a:prstGeom prst="rect">
            <a:avLst/>
          </a:prstGeom>
          <a:noFill/>
        </p:spPr>
        <p:txBody>
          <a:bodyPr wrap="square">
            <a:spAutoFit/>
          </a:bodyPr>
          <a:lstStyle/>
          <a:p>
            <a:pPr algn="l"/>
            <a:r>
              <a:rPr sz="1000" b="0" i="0">
                <a:solidFill>
                  <a:srgbClr val="1C1C2E"/>
                </a:solidFill>
              </a:rPr>
              <a:t>▸  Stacking Ensemble (XGB + LGBM + CAT → LogReg) +2–5% F1</a:t>
            </a:r>
          </a:p>
        </p:txBody>
      </p:sp>
      <p:sp>
        <p:nvSpPr>
          <p:cNvPr id="21" name="Rectangle 20"/>
          <p:cNvSpPr/>
          <p:nvPr/>
        </p:nvSpPr>
        <p:spPr>
          <a:xfrm>
            <a:off x="8220456" y="1664208"/>
            <a:ext cx="3749039" cy="2377440"/>
          </a:xfrm>
          <a:prstGeom prst="rect">
            <a:avLst/>
          </a:prstGeom>
          <a:solidFill>
            <a:srgbClr val="FFFFFF"/>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220456" y="1664208"/>
            <a:ext cx="3749039" cy="347472"/>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311896" y="1691640"/>
            <a:ext cx="3566160" cy="301752"/>
          </a:xfrm>
          <a:prstGeom prst="rect">
            <a:avLst/>
          </a:prstGeom>
          <a:noFill/>
        </p:spPr>
        <p:txBody>
          <a:bodyPr wrap="square">
            <a:spAutoFit/>
          </a:bodyPr>
          <a:lstStyle/>
          <a:p>
            <a:pPr algn="l"/>
            <a:r>
              <a:rPr sz="1100" b="1" i="0">
                <a:solidFill>
                  <a:srgbClr val="FFFFFF"/>
                </a:solidFill>
              </a:rPr>
              <a:t>5 New Engineered Features</a:t>
            </a:r>
          </a:p>
        </p:txBody>
      </p:sp>
      <p:sp>
        <p:nvSpPr>
          <p:cNvPr id="24" name="TextBox 23"/>
          <p:cNvSpPr txBox="1"/>
          <p:nvPr/>
        </p:nvSpPr>
        <p:spPr>
          <a:xfrm>
            <a:off x="8311896" y="2084831"/>
            <a:ext cx="3566160" cy="594360"/>
          </a:xfrm>
          <a:prstGeom prst="rect">
            <a:avLst/>
          </a:prstGeom>
          <a:noFill/>
        </p:spPr>
        <p:txBody>
          <a:bodyPr wrap="square">
            <a:spAutoFit/>
          </a:bodyPr>
          <a:lstStyle/>
          <a:p>
            <a:pPr algn="l"/>
            <a:r>
              <a:rPr sz="1000" b="0" i="0">
                <a:solidFill>
                  <a:srgbClr val="1C1C2E"/>
                </a:solidFill>
              </a:rPr>
              <a:t>▸  dependents_ratio, savings_buffer_months</a:t>
            </a:r>
          </a:p>
        </p:txBody>
      </p:sp>
      <p:sp>
        <p:nvSpPr>
          <p:cNvPr id="25" name="TextBox 24"/>
          <p:cNvSpPr txBox="1"/>
          <p:nvPr/>
        </p:nvSpPr>
        <p:spPr>
          <a:xfrm>
            <a:off x="8311896" y="2724911"/>
            <a:ext cx="3566160" cy="594360"/>
          </a:xfrm>
          <a:prstGeom prst="rect">
            <a:avLst/>
          </a:prstGeom>
          <a:noFill/>
        </p:spPr>
        <p:txBody>
          <a:bodyPr wrap="square">
            <a:spAutoFit/>
          </a:bodyPr>
          <a:lstStyle/>
          <a:p>
            <a:pPr algn="l"/>
            <a:r>
              <a:rPr sz="1000" b="0" i="0">
                <a:solidFill>
                  <a:srgbClr val="1C1C2E"/>
                </a:solidFill>
              </a:rPr>
              <a:t>▸  no_insurance_vulnerability, rural_low_income_flag</a:t>
            </a:r>
          </a:p>
        </p:txBody>
      </p:sp>
      <p:sp>
        <p:nvSpPr>
          <p:cNvPr id="26" name="TextBox 25"/>
          <p:cNvSpPr txBox="1"/>
          <p:nvPr/>
        </p:nvSpPr>
        <p:spPr>
          <a:xfrm>
            <a:off x="8311896" y="3364991"/>
            <a:ext cx="3566160" cy="594360"/>
          </a:xfrm>
          <a:prstGeom prst="rect">
            <a:avLst/>
          </a:prstGeom>
          <a:noFill/>
        </p:spPr>
        <p:txBody>
          <a:bodyPr wrap="square">
            <a:spAutoFit/>
          </a:bodyPr>
          <a:lstStyle/>
          <a:p>
            <a:pPr algn="l"/>
            <a:r>
              <a:rPr sz="1000" b="0" i="0">
                <a:solidFill>
                  <a:srgbClr val="1C1C2E"/>
                </a:solidFill>
              </a:rPr>
              <a:t>▸  emi_health_interaction (compound debt + health burden)</a:t>
            </a:r>
          </a:p>
        </p:txBody>
      </p:sp>
      <p:sp>
        <p:nvSpPr>
          <p:cNvPr id="27" name="Rectangle 26"/>
          <p:cNvSpPr/>
          <p:nvPr/>
        </p:nvSpPr>
        <p:spPr>
          <a:xfrm>
            <a:off x="320040" y="4187952"/>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20040" y="4242816"/>
            <a:ext cx="10972800" cy="365760"/>
          </a:xfrm>
          <a:prstGeom prst="rect">
            <a:avLst/>
          </a:prstGeom>
          <a:noFill/>
        </p:spPr>
        <p:txBody>
          <a:bodyPr wrap="square">
            <a:spAutoFit/>
          </a:bodyPr>
          <a:lstStyle/>
          <a:p>
            <a:pPr algn="l"/>
            <a:r>
              <a:rPr sz="1500" b="1" i="0">
                <a:solidFill>
                  <a:srgbClr val="2E86AB"/>
                </a:solidFill>
              </a:rPr>
              <a:t>Medium-Term (Production Readiness)</a:t>
            </a:r>
          </a:p>
        </p:txBody>
      </p:sp>
      <p:sp>
        <p:nvSpPr>
          <p:cNvPr id="29" name="Rectangle 28"/>
          <p:cNvSpPr/>
          <p:nvPr/>
        </p:nvSpPr>
        <p:spPr>
          <a:xfrm>
            <a:off x="320040" y="4553712"/>
            <a:ext cx="5486400" cy="841248"/>
          </a:xfrm>
          <a:prstGeom prst="rect">
            <a:avLst/>
          </a:prstGeom>
          <a:solidFill>
            <a:srgbClr val="E3F2FD"/>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29768" y="4608576"/>
            <a:ext cx="5303520" cy="292608"/>
          </a:xfrm>
          <a:prstGeom prst="rect">
            <a:avLst/>
          </a:prstGeom>
          <a:noFill/>
        </p:spPr>
        <p:txBody>
          <a:bodyPr wrap="square">
            <a:spAutoFit/>
          </a:bodyPr>
          <a:lstStyle/>
          <a:p>
            <a:pPr algn="l"/>
            <a:r>
              <a:rPr sz="1050" b="1" i="0">
                <a:solidFill>
                  <a:srgbClr val="2E86AB"/>
                </a:solidFill>
              </a:rPr>
              <a:t>MLflow Experiment Tracking</a:t>
            </a:r>
          </a:p>
        </p:txBody>
      </p:sp>
      <p:sp>
        <p:nvSpPr>
          <p:cNvPr id="31" name="TextBox 30"/>
          <p:cNvSpPr txBox="1"/>
          <p:nvPr/>
        </p:nvSpPr>
        <p:spPr>
          <a:xfrm>
            <a:off x="429768" y="4937760"/>
            <a:ext cx="5303520" cy="411480"/>
          </a:xfrm>
          <a:prstGeom prst="rect">
            <a:avLst/>
          </a:prstGeom>
          <a:noFill/>
        </p:spPr>
        <p:txBody>
          <a:bodyPr wrap="square">
            <a:spAutoFit/>
          </a:bodyPr>
          <a:lstStyle/>
          <a:p>
            <a:pPr algn="l"/>
            <a:r>
              <a:rPr sz="950" b="0" i="0">
                <a:solidFill>
                  <a:srgbClr val="1C1C2E"/>
                </a:solidFill>
              </a:rPr>
              <a:t>Log F1, AUC-ROC, thresholds per run; reject retrains where F1 drops &gt;2%.</a:t>
            </a:r>
          </a:p>
        </p:txBody>
      </p:sp>
      <p:sp>
        <p:nvSpPr>
          <p:cNvPr id="32" name="Rectangle 31"/>
          <p:cNvSpPr/>
          <p:nvPr/>
        </p:nvSpPr>
        <p:spPr>
          <a:xfrm>
            <a:off x="6126479" y="4553712"/>
            <a:ext cx="5486400" cy="841248"/>
          </a:xfrm>
          <a:prstGeom prst="rect">
            <a:avLst/>
          </a:prstGeom>
          <a:solidFill>
            <a:srgbClr val="E3F2FD"/>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36207" y="4608576"/>
            <a:ext cx="5303520" cy="292608"/>
          </a:xfrm>
          <a:prstGeom prst="rect">
            <a:avLst/>
          </a:prstGeom>
          <a:noFill/>
        </p:spPr>
        <p:txBody>
          <a:bodyPr wrap="square">
            <a:spAutoFit/>
          </a:bodyPr>
          <a:lstStyle/>
          <a:p>
            <a:pPr algn="l"/>
            <a:r>
              <a:rPr sz="1050" b="1" i="0">
                <a:solidFill>
                  <a:srgbClr val="2E86AB"/>
                </a:solidFill>
              </a:rPr>
              <a:t>A/B Testing Framework</a:t>
            </a:r>
          </a:p>
        </p:txBody>
      </p:sp>
      <p:sp>
        <p:nvSpPr>
          <p:cNvPr id="34" name="TextBox 33"/>
          <p:cNvSpPr txBox="1"/>
          <p:nvPr/>
        </p:nvSpPr>
        <p:spPr>
          <a:xfrm>
            <a:off x="6236207" y="4937760"/>
            <a:ext cx="5303520" cy="411480"/>
          </a:xfrm>
          <a:prstGeom prst="rect">
            <a:avLst/>
          </a:prstGeom>
          <a:noFill/>
        </p:spPr>
        <p:txBody>
          <a:bodyPr wrap="square">
            <a:spAutoFit/>
          </a:bodyPr>
          <a:lstStyle/>
          <a:p>
            <a:pPr algn="l"/>
            <a:r>
              <a:rPr sz="950" b="0" i="0">
                <a:solidFill>
                  <a:srgbClr val="1C1C2E"/>
                </a:solidFill>
              </a:rPr>
              <a:t>Split 10% traffic to v5 models; compare real-world accuracy vs v4.</a:t>
            </a:r>
          </a:p>
        </p:txBody>
      </p:sp>
      <p:sp>
        <p:nvSpPr>
          <p:cNvPr id="35" name="Rectangle 34"/>
          <p:cNvSpPr/>
          <p:nvPr/>
        </p:nvSpPr>
        <p:spPr>
          <a:xfrm>
            <a:off x="320040" y="5513832"/>
            <a:ext cx="5486400" cy="841248"/>
          </a:xfrm>
          <a:prstGeom prst="rect">
            <a:avLst/>
          </a:prstGeom>
          <a:solidFill>
            <a:srgbClr val="E3F2FD"/>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29768" y="5568696"/>
            <a:ext cx="5303520" cy="292608"/>
          </a:xfrm>
          <a:prstGeom prst="rect">
            <a:avLst/>
          </a:prstGeom>
          <a:noFill/>
        </p:spPr>
        <p:txBody>
          <a:bodyPr wrap="square">
            <a:spAutoFit/>
          </a:bodyPr>
          <a:lstStyle/>
          <a:p>
            <a:pPr algn="l"/>
            <a:r>
              <a:rPr sz="1050" b="1" i="0">
                <a:solidFill>
                  <a:srgbClr val="2E86AB"/>
                </a:solidFill>
              </a:rPr>
              <a:t>Weekly Drift Monitoring</a:t>
            </a:r>
          </a:p>
        </p:txBody>
      </p:sp>
      <p:sp>
        <p:nvSpPr>
          <p:cNvPr id="37" name="TextBox 36"/>
          <p:cNvSpPr txBox="1"/>
          <p:nvPr/>
        </p:nvSpPr>
        <p:spPr>
          <a:xfrm>
            <a:off x="429768" y="5897880"/>
            <a:ext cx="5303520" cy="411480"/>
          </a:xfrm>
          <a:prstGeom prst="rect">
            <a:avLst/>
          </a:prstGeom>
          <a:noFill/>
        </p:spPr>
        <p:txBody>
          <a:bodyPr wrap="square">
            <a:spAutoFit/>
          </a:bodyPr>
          <a:lstStyle/>
          <a:p>
            <a:pPr algn="l"/>
            <a:r>
              <a:rPr sz="950" b="0" i="0">
                <a:solidFill>
                  <a:srgbClr val="1C1C2E"/>
                </a:solidFill>
              </a:rPr>
              <a:t>Evidently AI scheduled every Monday; alert if &gt;30% features drift.</a:t>
            </a:r>
          </a:p>
        </p:txBody>
      </p:sp>
      <p:sp>
        <p:nvSpPr>
          <p:cNvPr id="38" name="Rectangle 37"/>
          <p:cNvSpPr/>
          <p:nvPr/>
        </p:nvSpPr>
        <p:spPr>
          <a:xfrm>
            <a:off x="6126479" y="5513832"/>
            <a:ext cx="5486400" cy="841248"/>
          </a:xfrm>
          <a:prstGeom prst="rect">
            <a:avLst/>
          </a:prstGeom>
          <a:solidFill>
            <a:srgbClr val="E3F2FD"/>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36207" y="5568696"/>
            <a:ext cx="5303520" cy="292608"/>
          </a:xfrm>
          <a:prstGeom prst="rect">
            <a:avLst/>
          </a:prstGeom>
          <a:noFill/>
        </p:spPr>
        <p:txBody>
          <a:bodyPr wrap="square">
            <a:spAutoFit/>
          </a:bodyPr>
          <a:lstStyle/>
          <a:p>
            <a:pPr algn="l"/>
            <a:r>
              <a:rPr sz="1050" b="1" i="0">
                <a:solidFill>
                  <a:srgbClr val="2E86AB"/>
                </a:solidFill>
              </a:rPr>
              <a:t>CI/CD Pipeline</a:t>
            </a:r>
          </a:p>
        </p:txBody>
      </p:sp>
      <p:sp>
        <p:nvSpPr>
          <p:cNvPr id="40" name="TextBox 39"/>
          <p:cNvSpPr txBox="1"/>
          <p:nvPr/>
        </p:nvSpPr>
        <p:spPr>
          <a:xfrm>
            <a:off x="6236207" y="5897880"/>
            <a:ext cx="5303520" cy="411480"/>
          </a:xfrm>
          <a:prstGeom prst="rect">
            <a:avLst/>
          </a:prstGeom>
          <a:noFill/>
        </p:spPr>
        <p:txBody>
          <a:bodyPr wrap="square">
            <a:spAutoFit/>
          </a:bodyPr>
          <a:lstStyle/>
          <a:p>
            <a:pPr algn="l"/>
            <a:r>
              <a:rPr sz="950" b="0" i="0">
                <a:solidFill>
                  <a:srgbClr val="1C1C2E"/>
                </a:solidFill>
              </a:rPr>
              <a:t>GitHub Actions: lint → test → retrain → deploy on every main branch push.</a:t>
            </a:r>
          </a:p>
        </p:txBody>
      </p:sp>
      <p:sp>
        <p:nvSpPr>
          <p:cNvPr id="41" name="Rectangle 40"/>
          <p:cNvSpPr/>
          <p:nvPr/>
        </p:nvSpPr>
        <p:spPr>
          <a:xfrm>
            <a:off x="320040" y="6473952"/>
            <a:ext cx="123444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20040" y="6528816"/>
            <a:ext cx="10972800" cy="365760"/>
          </a:xfrm>
          <a:prstGeom prst="rect">
            <a:avLst/>
          </a:prstGeom>
          <a:noFill/>
        </p:spPr>
        <p:txBody>
          <a:bodyPr wrap="square">
            <a:spAutoFit/>
          </a:bodyPr>
          <a:lstStyle/>
          <a:p>
            <a:pPr algn="l"/>
            <a:r>
              <a:rPr sz="1500" b="1" i="0">
                <a:solidFill>
                  <a:srgbClr val="2E86AB"/>
                </a:solidFill>
              </a:rPr>
              <a:t>Long-Term Vision</a:t>
            </a:r>
          </a:p>
        </p:txBody>
      </p:sp>
      <p:sp>
        <p:nvSpPr>
          <p:cNvPr id="43" name="TextBox 42"/>
          <p:cNvSpPr txBox="1"/>
          <p:nvPr/>
        </p:nvSpPr>
        <p:spPr>
          <a:xfrm>
            <a:off x="320040" y="6656832"/>
            <a:ext cx="11430000" cy="164592"/>
          </a:xfrm>
          <a:prstGeom prst="rect">
            <a:avLst/>
          </a:prstGeom>
          <a:noFill/>
        </p:spPr>
        <p:txBody>
          <a:bodyPr wrap="square">
            <a:spAutoFit/>
          </a:bodyPr>
          <a:lstStyle/>
          <a:p>
            <a:pPr algn="l"/>
            <a:r>
              <a:rPr sz="1000" b="0" i="1">
                <a:solidFill>
                  <a:srgbClr val="5A6A7A"/>
                </a:solidFill>
              </a:rPr>
              <a:t>Mobile app with regional language support (Hindi, Tamil, Bengali)  |  Integration with Aadhaar / Jan Dhan financial records  |  Real-time CMIE data streaming  |  Government partnership for policy analysis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10972800" cy="685800"/>
          </a:xfrm>
          <a:prstGeom prst="rect">
            <a:avLst/>
          </a:prstGeom>
          <a:noFill/>
        </p:spPr>
        <p:txBody>
          <a:bodyPr wrap="square">
            <a:spAutoFit/>
          </a:bodyPr>
          <a:lstStyle/>
          <a:p>
            <a:pPr algn="l"/>
            <a:r>
              <a:rPr sz="3000" b="1" i="0">
                <a:solidFill>
                  <a:srgbClr val="FFFFFF"/>
                </a:solidFill>
              </a:rPr>
              <a:t>References</a:t>
            </a:r>
          </a:p>
        </p:txBody>
      </p:sp>
      <p:sp>
        <p:nvSpPr>
          <p:cNvPr id="5" name="TextBox 4"/>
          <p:cNvSpPr txBox="1"/>
          <p:nvPr/>
        </p:nvSpPr>
        <p:spPr>
          <a:xfrm>
            <a:off x="320040" y="749808"/>
            <a:ext cx="10972800" cy="347472"/>
          </a:xfrm>
          <a:prstGeom prst="rect">
            <a:avLst/>
          </a:prstGeom>
          <a:noFill/>
        </p:spPr>
        <p:txBody>
          <a:bodyPr wrap="square">
            <a:spAutoFit/>
          </a:bodyPr>
          <a:lstStyle/>
          <a:p>
            <a:pPr algn="l"/>
            <a:r>
              <a:rPr sz="1300" b="0" i="0">
                <a:solidFill>
                  <a:srgbClr val="B0C8E0"/>
                </a:solidFill>
              </a:rPr>
              <a:t>Key Sources &amp; Citations</a:t>
            </a:r>
          </a:p>
        </p:txBody>
      </p:sp>
      <p:sp>
        <p:nvSpPr>
          <p:cNvPr id="6" name="TextBox 5"/>
          <p:cNvSpPr txBox="1"/>
          <p:nvPr/>
        </p:nvSpPr>
        <p:spPr>
          <a:xfrm>
            <a:off x="11247120" y="6537960"/>
            <a:ext cx="914400" cy="274320"/>
          </a:xfrm>
          <a:prstGeom prst="rect">
            <a:avLst/>
          </a:prstGeom>
          <a:noFill/>
        </p:spPr>
        <p:txBody>
          <a:bodyPr wrap="square">
            <a:spAutoFit/>
          </a:bodyPr>
          <a:lstStyle/>
          <a:p>
            <a:pPr algn="r"/>
            <a:r>
              <a:rPr sz="900" b="0" i="0">
                <a:solidFill>
                  <a:srgbClr val="90A4AE"/>
                </a:solidFill>
              </a:rPr>
              <a:t>16 / 17</a:t>
            </a:r>
          </a:p>
        </p:txBody>
      </p:sp>
      <p:sp>
        <p:nvSpPr>
          <p:cNvPr id="7" name="TextBox 6"/>
          <p:cNvSpPr txBox="1"/>
          <p:nvPr/>
        </p:nvSpPr>
        <p:spPr>
          <a:xfrm>
            <a:off x="320040" y="1417320"/>
            <a:ext cx="5486400" cy="640080"/>
          </a:xfrm>
          <a:prstGeom prst="rect">
            <a:avLst/>
          </a:prstGeom>
          <a:noFill/>
        </p:spPr>
        <p:txBody>
          <a:bodyPr wrap="square">
            <a:spAutoFit/>
          </a:bodyPr>
          <a:lstStyle/>
          <a:p>
            <a:pPr algn="l"/>
            <a:r>
              <a:rPr sz="900" b="0" i="0">
                <a:solidFill>
                  <a:srgbClr val="1C1C2E"/>
                </a:solidFill>
              </a:rPr>
              <a:t>[1]  Chen, T. &amp; Guestrin, C. (2016). XGBoost: A Scalable Tree Boosting System.
       KDD '16. ACM. doi:10.1145/2939672.2939785</a:t>
            </a:r>
          </a:p>
        </p:txBody>
      </p:sp>
      <p:sp>
        <p:nvSpPr>
          <p:cNvPr id="8" name="TextBox 7"/>
          <p:cNvSpPr txBox="1"/>
          <p:nvPr/>
        </p:nvSpPr>
        <p:spPr>
          <a:xfrm>
            <a:off x="320040" y="2075688"/>
            <a:ext cx="5486400" cy="640080"/>
          </a:xfrm>
          <a:prstGeom prst="rect">
            <a:avLst/>
          </a:prstGeom>
          <a:noFill/>
        </p:spPr>
        <p:txBody>
          <a:bodyPr wrap="square">
            <a:spAutoFit/>
          </a:bodyPr>
          <a:lstStyle/>
          <a:p>
            <a:pPr algn="l"/>
            <a:r>
              <a:rPr sz="900" b="0" i="0">
                <a:solidFill>
                  <a:srgbClr val="1C1C2E"/>
                </a:solidFill>
              </a:rPr>
              <a:t>[2]  Khandani, A. E., Kim, A. J., &amp; Lo, A. W. (2010). Consumer credit-risk
       models via machine-learning algorithms. JBankFin 34(11), 2767–2787.</a:t>
            </a:r>
          </a:p>
        </p:txBody>
      </p:sp>
      <p:sp>
        <p:nvSpPr>
          <p:cNvPr id="9" name="TextBox 8"/>
          <p:cNvSpPr txBox="1"/>
          <p:nvPr/>
        </p:nvSpPr>
        <p:spPr>
          <a:xfrm>
            <a:off x="320040" y="2734056"/>
            <a:ext cx="5486400" cy="640080"/>
          </a:xfrm>
          <a:prstGeom prst="rect">
            <a:avLst/>
          </a:prstGeom>
          <a:noFill/>
        </p:spPr>
        <p:txBody>
          <a:bodyPr wrap="square">
            <a:spAutoFit/>
          </a:bodyPr>
          <a:lstStyle/>
          <a:p>
            <a:pPr algn="l"/>
            <a:r>
              <a:rPr sz="900" b="0" i="0">
                <a:solidFill>
                  <a:srgbClr val="1C1C2E"/>
                </a:solidFill>
              </a:rPr>
              <a:t>[3]  Jean, N., et al. (2016). Combining satellite imagery and machine learning
       to predict poverty. Science, 353(6301), 790–794.</a:t>
            </a:r>
          </a:p>
        </p:txBody>
      </p:sp>
      <p:sp>
        <p:nvSpPr>
          <p:cNvPr id="10" name="TextBox 9"/>
          <p:cNvSpPr txBox="1"/>
          <p:nvPr/>
        </p:nvSpPr>
        <p:spPr>
          <a:xfrm>
            <a:off x="320040" y="3392424"/>
            <a:ext cx="5486400" cy="640080"/>
          </a:xfrm>
          <a:prstGeom prst="rect">
            <a:avLst/>
          </a:prstGeom>
          <a:noFill/>
        </p:spPr>
        <p:txBody>
          <a:bodyPr wrap="square">
            <a:spAutoFit/>
          </a:bodyPr>
          <a:lstStyle/>
          <a:p>
            <a:pPr algn="l"/>
            <a:r>
              <a:rPr sz="900" b="0" i="0">
                <a:solidFill>
                  <a:srgbClr val="1C1C2E"/>
                </a:solidFill>
              </a:rPr>
              <a:t>[4]  Chawla, N. V., et al. (2002). SMOTE: Synthetic Minority Over-sampling
       Technique. JAIR, 16, 321–357.</a:t>
            </a:r>
          </a:p>
        </p:txBody>
      </p:sp>
      <p:sp>
        <p:nvSpPr>
          <p:cNvPr id="11" name="TextBox 10"/>
          <p:cNvSpPr txBox="1"/>
          <p:nvPr/>
        </p:nvSpPr>
        <p:spPr>
          <a:xfrm>
            <a:off x="320040" y="4050791"/>
            <a:ext cx="5486400" cy="640080"/>
          </a:xfrm>
          <a:prstGeom prst="rect">
            <a:avLst/>
          </a:prstGeom>
          <a:noFill/>
        </p:spPr>
        <p:txBody>
          <a:bodyPr wrap="square">
            <a:spAutoFit/>
          </a:bodyPr>
          <a:lstStyle/>
          <a:p>
            <a:pPr algn="l"/>
            <a:r>
              <a:rPr sz="900" b="0" i="0">
                <a:solidFill>
                  <a:srgbClr val="1C1C2E"/>
                </a:solidFill>
              </a:rPr>
              <a:t>[5]  Lundberg, S. M. &amp; Lee, S.-I. (2017). A Unified Approach to Interpreting
       Model Predictions. NeurIPS 2017.</a:t>
            </a:r>
          </a:p>
        </p:txBody>
      </p:sp>
      <p:sp>
        <p:nvSpPr>
          <p:cNvPr id="12" name="TextBox 11"/>
          <p:cNvSpPr txBox="1"/>
          <p:nvPr/>
        </p:nvSpPr>
        <p:spPr>
          <a:xfrm>
            <a:off x="320040" y="4709159"/>
            <a:ext cx="5486400" cy="640080"/>
          </a:xfrm>
          <a:prstGeom prst="rect">
            <a:avLst/>
          </a:prstGeom>
          <a:noFill/>
        </p:spPr>
        <p:txBody>
          <a:bodyPr wrap="square">
            <a:spAutoFit/>
          </a:bodyPr>
          <a:lstStyle/>
          <a:p>
            <a:pPr algn="l"/>
            <a:r>
              <a:rPr sz="900" b="0" i="0">
                <a:solidFill>
                  <a:srgbClr val="1C1C2E"/>
                </a:solidFill>
              </a:rPr>
              <a:t>[6]  OpenAI. (2023). GPT-4 Technical Report. arXiv:2303.08774.</a:t>
            </a:r>
          </a:p>
        </p:txBody>
      </p:sp>
      <p:sp>
        <p:nvSpPr>
          <p:cNvPr id="13" name="TextBox 12"/>
          <p:cNvSpPr txBox="1"/>
          <p:nvPr/>
        </p:nvSpPr>
        <p:spPr>
          <a:xfrm>
            <a:off x="320040" y="5367528"/>
            <a:ext cx="5486400" cy="640080"/>
          </a:xfrm>
          <a:prstGeom prst="rect">
            <a:avLst/>
          </a:prstGeom>
          <a:noFill/>
        </p:spPr>
        <p:txBody>
          <a:bodyPr wrap="square">
            <a:spAutoFit/>
          </a:bodyPr>
          <a:lstStyle/>
          <a:p>
            <a:pPr algn="l"/>
            <a:r>
              <a:rPr sz="900" b="0" i="0">
                <a:solidFill>
                  <a:srgbClr val="1C1C2E"/>
                </a:solidFill>
              </a:rPr>
              <a:t>[7]  CMIE. (2024). Consumer Pyramids Household Survey.
       Centre for Monitoring Indian Economy. www.cmie.com</a:t>
            </a:r>
          </a:p>
        </p:txBody>
      </p:sp>
      <p:sp>
        <p:nvSpPr>
          <p:cNvPr id="14" name="TextBox 13"/>
          <p:cNvSpPr txBox="1"/>
          <p:nvPr/>
        </p:nvSpPr>
        <p:spPr>
          <a:xfrm>
            <a:off x="320040" y="6025896"/>
            <a:ext cx="5486400" cy="640080"/>
          </a:xfrm>
          <a:prstGeom prst="rect">
            <a:avLst/>
          </a:prstGeom>
          <a:noFill/>
        </p:spPr>
        <p:txBody>
          <a:bodyPr wrap="square">
            <a:spAutoFit/>
          </a:bodyPr>
          <a:lstStyle/>
          <a:p>
            <a:pPr algn="l"/>
            <a:r>
              <a:rPr sz="900" b="0" i="0">
                <a:solidFill>
                  <a:srgbClr val="1C1C2E"/>
                </a:solidFill>
              </a:rPr>
              <a:t>[8]  NFHS-5. (2021). National Family Health Survey — India.
       Ministry of Health &amp; Family Welfare.</a:t>
            </a:r>
          </a:p>
        </p:txBody>
      </p:sp>
      <p:sp>
        <p:nvSpPr>
          <p:cNvPr id="15" name="TextBox 14"/>
          <p:cNvSpPr txBox="1"/>
          <p:nvPr/>
        </p:nvSpPr>
        <p:spPr>
          <a:xfrm>
            <a:off x="6126480" y="1417320"/>
            <a:ext cx="5715000" cy="640080"/>
          </a:xfrm>
          <a:prstGeom prst="rect">
            <a:avLst/>
          </a:prstGeom>
          <a:noFill/>
        </p:spPr>
        <p:txBody>
          <a:bodyPr wrap="square">
            <a:spAutoFit/>
          </a:bodyPr>
          <a:lstStyle/>
          <a:p>
            <a:pPr algn="l"/>
            <a:r>
              <a:rPr sz="900" b="0" i="0">
                <a:solidFill>
                  <a:srgbClr val="1C1C2E"/>
                </a:solidFill>
              </a:rPr>
              <a:t>[9]  Evidently AI. (2023). Open-Source ML Monitoring.
       evidently.ai</a:t>
            </a:r>
          </a:p>
        </p:txBody>
      </p:sp>
      <p:sp>
        <p:nvSpPr>
          <p:cNvPr id="16" name="TextBox 15"/>
          <p:cNvSpPr txBox="1"/>
          <p:nvPr/>
        </p:nvSpPr>
        <p:spPr>
          <a:xfrm>
            <a:off x="6126480" y="2075688"/>
            <a:ext cx="5715000" cy="640080"/>
          </a:xfrm>
          <a:prstGeom prst="rect">
            <a:avLst/>
          </a:prstGeom>
          <a:noFill/>
        </p:spPr>
        <p:txBody>
          <a:bodyPr wrap="square">
            <a:spAutoFit/>
          </a:bodyPr>
          <a:lstStyle/>
          <a:p>
            <a:pPr algn="l"/>
            <a:r>
              <a:rPr sz="900" b="0" i="0">
                <a:solidFill>
                  <a:srgbClr val="1C1C2E"/>
                </a:solidFill>
              </a:rPr>
              <a:t>[10] Pedregosa, F., et al. (2011). Scikit-learn: Machine Learning in Python.
        JMLR, 12, 2825–2830.</a:t>
            </a:r>
          </a:p>
        </p:txBody>
      </p:sp>
      <p:sp>
        <p:nvSpPr>
          <p:cNvPr id="17" name="TextBox 16"/>
          <p:cNvSpPr txBox="1"/>
          <p:nvPr/>
        </p:nvSpPr>
        <p:spPr>
          <a:xfrm>
            <a:off x="6126480" y="2734056"/>
            <a:ext cx="5715000" cy="640080"/>
          </a:xfrm>
          <a:prstGeom prst="rect">
            <a:avLst/>
          </a:prstGeom>
          <a:noFill/>
        </p:spPr>
        <p:txBody>
          <a:bodyPr wrap="square">
            <a:spAutoFit/>
          </a:bodyPr>
          <a:lstStyle/>
          <a:p>
            <a:pPr algn="l"/>
            <a:r>
              <a:rPr sz="900" b="0" i="0">
                <a:solidFill>
                  <a:srgbClr val="1C1C2E"/>
                </a:solidFill>
              </a:rPr>
              <a:t>[11] McKinney, W. (2010). Data Structures for Statistical Computing in Python.
        Proc. SciPy 2010.</a:t>
            </a:r>
          </a:p>
        </p:txBody>
      </p:sp>
      <p:sp>
        <p:nvSpPr>
          <p:cNvPr id="18" name="TextBox 17"/>
          <p:cNvSpPr txBox="1"/>
          <p:nvPr/>
        </p:nvSpPr>
        <p:spPr>
          <a:xfrm>
            <a:off x="6126480" y="3392424"/>
            <a:ext cx="5715000" cy="640080"/>
          </a:xfrm>
          <a:prstGeom prst="rect">
            <a:avLst/>
          </a:prstGeom>
          <a:noFill/>
        </p:spPr>
        <p:txBody>
          <a:bodyPr wrap="square">
            <a:spAutoFit/>
          </a:bodyPr>
          <a:lstStyle/>
          <a:p>
            <a:pPr algn="l"/>
            <a:r>
              <a:rPr sz="900" b="0" i="0">
                <a:solidFill>
                  <a:srgbClr val="1C1C2E"/>
                </a:solidFill>
              </a:rPr>
              <a:t>[12] FastAPI. (2023). FastAPI Framework. fastapi.tiangolo.com</a:t>
            </a:r>
          </a:p>
        </p:txBody>
      </p:sp>
      <p:sp>
        <p:nvSpPr>
          <p:cNvPr id="19" name="TextBox 18"/>
          <p:cNvSpPr txBox="1"/>
          <p:nvPr/>
        </p:nvSpPr>
        <p:spPr>
          <a:xfrm>
            <a:off x="6126480" y="4050791"/>
            <a:ext cx="5715000" cy="640080"/>
          </a:xfrm>
          <a:prstGeom prst="rect">
            <a:avLst/>
          </a:prstGeom>
          <a:noFill/>
        </p:spPr>
        <p:txBody>
          <a:bodyPr wrap="square">
            <a:spAutoFit/>
          </a:bodyPr>
          <a:lstStyle/>
          <a:p>
            <a:pPr algn="l"/>
            <a:r>
              <a:rPr sz="900" b="0" i="0">
                <a:solidFill>
                  <a:srgbClr val="1C1C2E"/>
                </a:solidFill>
              </a:rPr>
              <a:t>[13] Prokhorenkova, L., et al. (2018). CatBoost: unbiased boosting with
        categorical features. NeurIPS 2018.</a:t>
            </a:r>
          </a:p>
        </p:txBody>
      </p:sp>
      <p:sp>
        <p:nvSpPr>
          <p:cNvPr id="20" name="TextBox 19"/>
          <p:cNvSpPr txBox="1"/>
          <p:nvPr/>
        </p:nvSpPr>
        <p:spPr>
          <a:xfrm>
            <a:off x="6126480" y="4709159"/>
            <a:ext cx="5715000" cy="640080"/>
          </a:xfrm>
          <a:prstGeom prst="rect">
            <a:avLst/>
          </a:prstGeom>
          <a:noFill/>
        </p:spPr>
        <p:txBody>
          <a:bodyPr wrap="square">
            <a:spAutoFit/>
          </a:bodyPr>
          <a:lstStyle/>
          <a:p>
            <a:pPr algn="l"/>
            <a:r>
              <a:rPr sz="900" b="0" i="0">
                <a:solidFill>
                  <a:srgbClr val="1C1C2E"/>
                </a:solidFill>
              </a:rPr>
              <a:t>[14] Ke, G., et al. (2017). LightGBM: A Highly Efficient Gradient Boosting
        Decision Tree. NeurIPS 2017.</a:t>
            </a:r>
          </a:p>
        </p:txBody>
      </p:sp>
      <p:sp>
        <p:nvSpPr>
          <p:cNvPr id="21" name="TextBox 20"/>
          <p:cNvSpPr txBox="1"/>
          <p:nvPr/>
        </p:nvSpPr>
        <p:spPr>
          <a:xfrm>
            <a:off x="6126480" y="5367528"/>
            <a:ext cx="5715000" cy="640080"/>
          </a:xfrm>
          <a:prstGeom prst="rect">
            <a:avLst/>
          </a:prstGeom>
          <a:noFill/>
        </p:spPr>
        <p:txBody>
          <a:bodyPr wrap="square">
            <a:spAutoFit/>
          </a:bodyPr>
          <a:lstStyle/>
          <a:p>
            <a:pPr algn="l"/>
            <a:r>
              <a:rPr sz="900" b="0" i="0">
                <a:solidFill>
                  <a:srgbClr val="1C1C2E"/>
                </a:solidFill>
              </a:rPr>
              <a:t>[15] RBI. (2023). Report on Trend and Progress of Banking in India.
        Reserve Bank of India.</a:t>
            </a:r>
          </a:p>
        </p:txBody>
      </p:sp>
      <p:sp>
        <p:nvSpPr>
          <p:cNvPr id="22" name="TextBox 21"/>
          <p:cNvSpPr txBox="1"/>
          <p:nvPr/>
        </p:nvSpPr>
        <p:spPr>
          <a:xfrm>
            <a:off x="6126480" y="6025896"/>
            <a:ext cx="5715000" cy="640080"/>
          </a:xfrm>
          <a:prstGeom prst="rect">
            <a:avLst/>
          </a:prstGeom>
          <a:noFill/>
        </p:spPr>
        <p:txBody>
          <a:bodyPr wrap="square">
            <a:spAutoFit/>
          </a:bodyPr>
          <a:lstStyle/>
          <a:p>
            <a:pPr algn="l"/>
            <a:r>
              <a:rPr sz="900" b="0" i="0">
                <a:solidFill>
                  <a:srgbClr val="1C1C2E"/>
                </a:solidFill>
              </a:rPr>
              <a:t>[16] World Bank. (2022). Findex Database — India Financial Inclusion.
        World Bank Group.</a:t>
            </a:r>
          </a:p>
        </p:txBody>
      </p:sp>
      <p:sp>
        <p:nvSpPr>
          <p:cNvPr id="23" name="Rectangle 22"/>
          <p:cNvSpPr/>
          <p:nvPr/>
        </p:nvSpPr>
        <p:spPr>
          <a:xfrm>
            <a:off x="5989320" y="1325880"/>
            <a:ext cx="45720" cy="5303520"/>
          </a:xfrm>
          <a:prstGeom prst="rect">
            <a:avLst/>
          </a:prstGeom>
          <a:solidFill>
            <a:srgbClr val="BBDE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201168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011680"/>
            <a:ext cx="12188952" cy="54864"/>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2066543"/>
            <a:ext cx="12188952" cy="36576"/>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320040"/>
            <a:ext cx="10360152" cy="1234440"/>
          </a:xfrm>
          <a:prstGeom prst="rect">
            <a:avLst/>
          </a:prstGeom>
          <a:noFill/>
        </p:spPr>
        <p:txBody>
          <a:bodyPr wrap="square">
            <a:spAutoFit/>
          </a:bodyPr>
          <a:lstStyle/>
          <a:p>
            <a:pPr algn="ctr"/>
            <a:r>
              <a:rPr sz="7200" b="1" i="0">
                <a:solidFill>
                  <a:srgbClr val="FFFFFF"/>
                </a:solidFill>
              </a:rPr>
              <a:t>Q &amp; A</a:t>
            </a:r>
          </a:p>
        </p:txBody>
      </p:sp>
      <p:sp>
        <p:nvSpPr>
          <p:cNvPr id="7" name="TextBox 6"/>
          <p:cNvSpPr txBox="1"/>
          <p:nvPr/>
        </p:nvSpPr>
        <p:spPr>
          <a:xfrm>
            <a:off x="914400" y="1508760"/>
            <a:ext cx="10360152" cy="457200"/>
          </a:xfrm>
          <a:prstGeom prst="rect">
            <a:avLst/>
          </a:prstGeom>
          <a:noFill/>
        </p:spPr>
        <p:txBody>
          <a:bodyPr wrap="square">
            <a:spAutoFit/>
          </a:bodyPr>
          <a:lstStyle/>
          <a:p>
            <a:pPr algn="ctr"/>
            <a:r>
              <a:rPr sz="1800" b="0" i="0">
                <a:solidFill>
                  <a:srgbClr val="B0C8E0"/>
                </a:solidFill>
              </a:rPr>
              <a:t>Questions &amp; Discussion</a:t>
            </a:r>
          </a:p>
        </p:txBody>
      </p:sp>
      <p:sp>
        <p:nvSpPr>
          <p:cNvPr id="8" name="TextBox 7"/>
          <p:cNvSpPr txBox="1"/>
          <p:nvPr/>
        </p:nvSpPr>
        <p:spPr>
          <a:xfrm>
            <a:off x="914400" y="2331720"/>
            <a:ext cx="10360152" cy="777240"/>
          </a:xfrm>
          <a:prstGeom prst="rect">
            <a:avLst/>
          </a:prstGeom>
          <a:noFill/>
        </p:spPr>
        <p:txBody>
          <a:bodyPr wrap="square">
            <a:spAutoFit/>
          </a:bodyPr>
          <a:lstStyle/>
          <a:p>
            <a:pPr algn="ctr"/>
            <a:r>
              <a:rPr sz="3800" b="1" i="0">
                <a:solidFill>
                  <a:srgbClr val="2E86AB"/>
                </a:solidFill>
              </a:rPr>
              <a:t>Thank You!</a:t>
            </a:r>
          </a:p>
        </p:txBody>
      </p:sp>
      <p:sp>
        <p:nvSpPr>
          <p:cNvPr id="10" name="Rectangle 9"/>
          <p:cNvSpPr/>
          <p:nvPr/>
        </p:nvSpPr>
        <p:spPr>
          <a:xfrm>
            <a:off x="1371600" y="3538351"/>
            <a:ext cx="2926080" cy="960120"/>
          </a:xfrm>
          <a:prstGeom prst="rect">
            <a:avLst/>
          </a:prstGeom>
          <a:solidFill>
            <a:srgbClr val="FFFFFF"/>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63040" y="3602359"/>
            <a:ext cx="2743200" cy="320040"/>
          </a:xfrm>
          <a:prstGeom prst="rect">
            <a:avLst/>
          </a:prstGeom>
          <a:noFill/>
        </p:spPr>
        <p:txBody>
          <a:bodyPr wrap="square">
            <a:spAutoFit/>
          </a:bodyPr>
          <a:lstStyle/>
          <a:p>
            <a:pPr algn="ctr"/>
            <a:r>
              <a:rPr sz="1100" b="1" i="0">
                <a:solidFill>
                  <a:srgbClr val="2E86AB"/>
                </a:solidFill>
              </a:rPr>
              <a:t>📧 Email</a:t>
            </a:r>
          </a:p>
        </p:txBody>
      </p:sp>
      <p:sp>
        <p:nvSpPr>
          <p:cNvPr id="12" name="TextBox 11"/>
          <p:cNvSpPr txBox="1"/>
          <p:nvPr/>
        </p:nvSpPr>
        <p:spPr>
          <a:xfrm>
            <a:off x="1463040" y="3949831"/>
            <a:ext cx="2743200" cy="400110"/>
          </a:xfrm>
          <a:prstGeom prst="rect">
            <a:avLst/>
          </a:prstGeom>
          <a:noFill/>
        </p:spPr>
        <p:txBody>
          <a:bodyPr wrap="square">
            <a:spAutoFit/>
          </a:bodyPr>
          <a:lstStyle/>
          <a:p>
            <a:pPr algn="ctr"/>
            <a:r>
              <a:rPr lang="en-IN" sz="1000" b="0" i="0" dirty="0">
                <a:solidFill>
                  <a:srgbClr val="1C1C2E"/>
                </a:solidFill>
              </a:rPr>
              <a:t>Krina.k@ahduni.edu.in</a:t>
            </a:r>
          </a:p>
          <a:p>
            <a:pPr algn="ctr"/>
            <a:r>
              <a:rPr lang="en-IN" sz="1000" b="0" i="0" dirty="0">
                <a:solidFill>
                  <a:srgbClr val="1C1C2E"/>
                </a:solidFill>
              </a:rPr>
              <a:t>brijesh.m@ahduni.edu.in</a:t>
            </a:r>
            <a:endParaRPr sz="1000" b="0" i="0" dirty="0">
              <a:solidFill>
                <a:srgbClr val="1C1C2E"/>
              </a:solidFill>
            </a:endParaRPr>
          </a:p>
        </p:txBody>
      </p:sp>
      <p:sp>
        <p:nvSpPr>
          <p:cNvPr id="13" name="Rectangle 12"/>
          <p:cNvSpPr/>
          <p:nvPr/>
        </p:nvSpPr>
        <p:spPr>
          <a:xfrm>
            <a:off x="4663440" y="3538351"/>
            <a:ext cx="2926080" cy="960120"/>
          </a:xfrm>
          <a:prstGeom prst="rect">
            <a:avLst/>
          </a:prstGeom>
          <a:solidFill>
            <a:srgbClr val="FFFFFF"/>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54879" y="3602359"/>
            <a:ext cx="2743200" cy="320040"/>
          </a:xfrm>
          <a:prstGeom prst="rect">
            <a:avLst/>
          </a:prstGeom>
          <a:noFill/>
        </p:spPr>
        <p:txBody>
          <a:bodyPr wrap="square">
            <a:spAutoFit/>
          </a:bodyPr>
          <a:lstStyle/>
          <a:p>
            <a:pPr algn="ctr"/>
            <a:r>
              <a:rPr sz="1100" b="1" i="0">
                <a:solidFill>
                  <a:srgbClr val="2E86AB"/>
                </a:solidFill>
              </a:rPr>
              <a:t>🔗 GitHub</a:t>
            </a:r>
          </a:p>
        </p:txBody>
      </p:sp>
      <p:sp>
        <p:nvSpPr>
          <p:cNvPr id="15" name="TextBox 14"/>
          <p:cNvSpPr txBox="1"/>
          <p:nvPr/>
        </p:nvSpPr>
        <p:spPr>
          <a:xfrm>
            <a:off x="4754879" y="3949831"/>
            <a:ext cx="2743200" cy="400110"/>
          </a:xfrm>
          <a:prstGeom prst="rect">
            <a:avLst/>
          </a:prstGeom>
          <a:noFill/>
        </p:spPr>
        <p:txBody>
          <a:bodyPr wrap="square">
            <a:spAutoFit/>
          </a:bodyPr>
          <a:lstStyle/>
          <a:p>
            <a:pPr algn="ctr"/>
            <a:r>
              <a:rPr lang="en-IN" sz="1000" dirty="0">
                <a:solidFill>
                  <a:srgbClr val="1C1C2E"/>
                </a:solidFill>
              </a:rPr>
              <a:t>https://github.com/brijeshmunjiyasara9-dev/ArthSaathi</a:t>
            </a:r>
            <a:endParaRPr sz="1000" b="0" i="0" dirty="0">
              <a:solidFill>
                <a:srgbClr val="1C1C2E"/>
              </a:solidFill>
            </a:endParaRPr>
          </a:p>
        </p:txBody>
      </p:sp>
      <p:sp>
        <p:nvSpPr>
          <p:cNvPr id="16" name="Rectangle 15"/>
          <p:cNvSpPr/>
          <p:nvPr/>
        </p:nvSpPr>
        <p:spPr>
          <a:xfrm>
            <a:off x="7955279" y="3538351"/>
            <a:ext cx="2926080" cy="960120"/>
          </a:xfrm>
          <a:prstGeom prst="rect">
            <a:avLst/>
          </a:prstGeom>
          <a:solidFill>
            <a:srgbClr val="FFFFFF"/>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46719" y="3602359"/>
            <a:ext cx="2743200" cy="320040"/>
          </a:xfrm>
          <a:prstGeom prst="rect">
            <a:avLst/>
          </a:prstGeom>
          <a:noFill/>
        </p:spPr>
        <p:txBody>
          <a:bodyPr wrap="square">
            <a:spAutoFit/>
          </a:bodyPr>
          <a:lstStyle/>
          <a:p>
            <a:pPr algn="ctr"/>
            <a:r>
              <a:rPr sz="1100" b="1" i="0">
                <a:solidFill>
                  <a:srgbClr val="2E86AB"/>
                </a:solidFill>
              </a:rPr>
              <a:t>📊 CMIE Data</a:t>
            </a:r>
          </a:p>
        </p:txBody>
      </p:sp>
      <p:sp>
        <p:nvSpPr>
          <p:cNvPr id="18" name="TextBox 17"/>
          <p:cNvSpPr txBox="1"/>
          <p:nvPr/>
        </p:nvSpPr>
        <p:spPr>
          <a:xfrm>
            <a:off x="8046719" y="3949831"/>
            <a:ext cx="2743200" cy="475488"/>
          </a:xfrm>
          <a:prstGeom prst="rect">
            <a:avLst/>
          </a:prstGeom>
          <a:noFill/>
        </p:spPr>
        <p:txBody>
          <a:bodyPr wrap="square">
            <a:spAutoFit/>
          </a:bodyPr>
          <a:lstStyle/>
          <a:p>
            <a:pPr algn="ctr"/>
            <a:r>
              <a:rPr sz="1000" b="0" i="0">
                <a:solidFill>
                  <a:srgbClr val="1C1C2E"/>
                </a:solidFill>
              </a:rPr>
              <a:t>www.cmie.com</a:t>
            </a:r>
          </a:p>
        </p:txBody>
      </p:sp>
      <p:sp>
        <p:nvSpPr>
          <p:cNvPr id="19" name="TextBox 18"/>
          <p:cNvSpPr txBox="1"/>
          <p:nvPr/>
        </p:nvSpPr>
        <p:spPr>
          <a:xfrm>
            <a:off x="914400" y="4727071"/>
            <a:ext cx="10360152" cy="475488"/>
          </a:xfrm>
          <a:prstGeom prst="rect">
            <a:avLst/>
          </a:prstGeom>
          <a:noFill/>
        </p:spPr>
        <p:txBody>
          <a:bodyPr wrap="square">
            <a:spAutoFit/>
          </a:bodyPr>
          <a:lstStyle/>
          <a:p>
            <a:pPr algn="ctr"/>
            <a:r>
              <a:rPr sz="1400" b="0" i="1">
                <a:solidFill>
                  <a:srgbClr val="2E86AB"/>
                </a:solidFill>
              </a:rPr>
              <a:t>"Empowering every Indian household with AI-driven financial clarity"</a:t>
            </a:r>
          </a:p>
        </p:txBody>
      </p:sp>
      <p:sp>
        <p:nvSpPr>
          <p:cNvPr id="20" name="TextBox 19"/>
          <p:cNvSpPr txBox="1"/>
          <p:nvPr/>
        </p:nvSpPr>
        <p:spPr>
          <a:xfrm>
            <a:off x="11247120" y="6537960"/>
            <a:ext cx="914400" cy="274320"/>
          </a:xfrm>
          <a:prstGeom prst="rect">
            <a:avLst/>
          </a:prstGeom>
          <a:noFill/>
        </p:spPr>
        <p:txBody>
          <a:bodyPr wrap="square">
            <a:spAutoFit/>
          </a:bodyPr>
          <a:lstStyle/>
          <a:p>
            <a:pPr algn="r"/>
            <a:r>
              <a:rPr sz="900" b="0" i="0">
                <a:solidFill>
                  <a:srgbClr val="90A4AE"/>
                </a:solidFill>
              </a:rPr>
              <a:t>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27</TotalTime>
  <Words>3302</Words>
  <Application>Microsoft Office PowerPoint</Application>
  <PresentationFormat>Custom</PresentationFormat>
  <Paragraphs>469</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BRIJESH MUNJIYASRA</cp:lastModifiedBy>
  <cp:revision>6</cp:revision>
  <dcterms:created xsi:type="dcterms:W3CDTF">2013-01-27T09:14:16Z</dcterms:created>
  <dcterms:modified xsi:type="dcterms:W3CDTF">2026-04-17T03:16:44Z</dcterms:modified>
  <cp:category/>
</cp:coreProperties>
</file>